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627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640080" y="1508760"/>
            <a:ext cx="7863840" cy="274320"/>
          </a:xfrm>
          <a:prstGeom prst="rect">
            <a:avLst/>
          </a:prstGeom>
          <a:noFill/>
          <a:ln/>
        </p:spPr>
        <p:txBody>
          <a:bodyPr wrap="square" rtlCol="0" anchor="ctr"/>
          <a:lstStyle/>
          <a:p>
            <a:pPr marL="0" indent="0">
              <a:buNone/>
            </a:pPr>
            <a:r>
              <a:rPr lang="en-US" sz="1150" b="1" kern="0" spc="220" dirty="0">
                <a:solidFill>
                  <a:srgbClr val="C2410C"/>
                </a:solidFill>
                <a:latin typeface="Calibri" pitchFamily="34" charset="0"/>
                <a:ea typeface="Calibri" pitchFamily="34" charset="-122"/>
                <a:cs typeface="Calibri" pitchFamily="34" charset="-120"/>
              </a:rPr>
              <a:t>A DATA ANALYTICS PROJECT</a:t>
            </a:r>
            <a:endParaRPr lang="en-US" sz="1150" dirty="0"/>
          </a:p>
        </p:txBody>
      </p:sp>
      <p:sp>
        <p:nvSpPr>
          <p:cNvPr id="3" name="Text 1"/>
          <p:cNvSpPr/>
          <p:nvPr/>
        </p:nvSpPr>
        <p:spPr>
          <a:xfrm>
            <a:off x="621792" y="1810512"/>
            <a:ext cx="7955280" cy="1051560"/>
          </a:xfrm>
          <a:prstGeom prst="rect">
            <a:avLst/>
          </a:prstGeom>
          <a:noFill/>
          <a:ln/>
        </p:spPr>
        <p:txBody>
          <a:bodyPr wrap="square" rtlCol="0" anchor="ctr"/>
          <a:lstStyle/>
          <a:p>
            <a:pPr marL="0" indent="0">
              <a:buNone/>
            </a:pPr>
            <a:r>
              <a:rPr lang="en-US" sz="5000" dirty="0">
                <a:solidFill>
                  <a:srgbClr val="0E1B2C"/>
                </a:solidFill>
                <a:latin typeface="Cambria" pitchFamily="34" charset="0"/>
                <a:ea typeface="Cambria" pitchFamily="34" charset="-122"/>
                <a:cs typeface="Cambria" pitchFamily="34" charset="-120"/>
              </a:rPr>
              <a:t>Budget vs Success</a:t>
            </a:r>
            <a:endParaRPr lang="en-US" sz="5000" dirty="0"/>
          </a:p>
        </p:txBody>
      </p:sp>
      <p:sp>
        <p:nvSpPr>
          <p:cNvPr id="4" name="Text 2"/>
          <p:cNvSpPr/>
          <p:nvPr/>
        </p:nvSpPr>
        <p:spPr>
          <a:xfrm>
            <a:off x="640080" y="2816352"/>
            <a:ext cx="7498080" cy="457200"/>
          </a:xfrm>
          <a:prstGeom prst="rect">
            <a:avLst/>
          </a:prstGeom>
          <a:noFill/>
          <a:ln/>
        </p:spPr>
        <p:txBody>
          <a:bodyPr wrap="square" rtlCol="0" anchor="ctr"/>
          <a:lstStyle/>
          <a:p>
            <a:pPr marL="0" indent="0">
              <a:buNone/>
            </a:pPr>
            <a:r>
              <a:rPr lang="en-US" sz="1600" i="1" dirty="0">
                <a:solidFill>
                  <a:srgbClr val="5A6472"/>
                </a:solidFill>
                <a:latin typeface="Calibri" pitchFamily="34" charset="0"/>
                <a:ea typeface="Calibri" pitchFamily="34" charset="-122"/>
                <a:cs typeface="Calibri" pitchFamily="34" charset="-120"/>
              </a:rPr>
              <a:t>Does spending more on a movie actually buy a better one?</a:t>
            </a:r>
            <a:endParaRPr lang="en-US" sz="1600" dirty="0"/>
          </a:p>
        </p:txBody>
      </p:sp>
      <p:sp>
        <p:nvSpPr>
          <p:cNvPr id="5" name="Shape 3"/>
          <p:cNvSpPr/>
          <p:nvPr/>
        </p:nvSpPr>
        <p:spPr>
          <a:xfrm>
            <a:off x="640080" y="3456432"/>
            <a:ext cx="7863840" cy="0"/>
          </a:xfrm>
          <a:prstGeom prst="line">
            <a:avLst/>
          </a:prstGeom>
          <a:noFill/>
          <a:ln w="12700">
            <a:solidFill>
              <a:srgbClr val="DCD8CC"/>
            </a:solidFill>
            <a:prstDash val="solid"/>
          </a:ln>
        </p:spPr>
      </p:sp>
      <p:sp>
        <p:nvSpPr>
          <p:cNvPr id="6" name="Text 4"/>
          <p:cNvSpPr/>
          <p:nvPr/>
        </p:nvSpPr>
        <p:spPr>
          <a:xfrm>
            <a:off x="640080" y="3611880"/>
            <a:ext cx="1874520" cy="274320"/>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Abdulhadi Kirkici</a:t>
            </a:r>
            <a:endParaRPr lang="en-US" sz="1050" dirty="0"/>
          </a:p>
        </p:txBody>
      </p:sp>
      <p:sp>
        <p:nvSpPr>
          <p:cNvPr id="7" name="Text 5"/>
          <p:cNvSpPr/>
          <p:nvPr/>
        </p:nvSpPr>
        <p:spPr>
          <a:xfrm>
            <a:off x="2633472" y="3611880"/>
            <a:ext cx="1874520" cy="274320"/>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Fatih Ridvan Kizik</a:t>
            </a:r>
            <a:endParaRPr lang="en-US" sz="1050" dirty="0"/>
          </a:p>
        </p:txBody>
      </p:sp>
      <p:sp>
        <p:nvSpPr>
          <p:cNvPr id="8" name="Text 6"/>
          <p:cNvSpPr/>
          <p:nvPr/>
        </p:nvSpPr>
        <p:spPr>
          <a:xfrm>
            <a:off x="4626864" y="3611880"/>
            <a:ext cx="1874520" cy="274320"/>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Numrah Khan</a:t>
            </a:r>
            <a:endParaRPr lang="en-US" sz="1050" dirty="0"/>
          </a:p>
        </p:txBody>
      </p:sp>
      <p:sp>
        <p:nvSpPr>
          <p:cNvPr id="9" name="Text 7"/>
          <p:cNvSpPr/>
          <p:nvPr/>
        </p:nvSpPr>
        <p:spPr>
          <a:xfrm>
            <a:off x="6620256" y="3611880"/>
            <a:ext cx="1874520" cy="274320"/>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Yash Tiwari</a:t>
            </a:r>
            <a:endParaRPr lang="en-US" sz="1050" dirty="0"/>
          </a:p>
        </p:txBody>
      </p:sp>
      <p:sp>
        <p:nvSpPr>
          <p:cNvPr id="10" name="Text 8"/>
          <p:cNvSpPr/>
          <p:nvPr/>
        </p:nvSpPr>
        <p:spPr>
          <a:xfrm>
            <a:off x="640080" y="4434840"/>
            <a:ext cx="7863840" cy="274320"/>
          </a:xfrm>
          <a:prstGeom prst="rect">
            <a:avLst/>
          </a:prstGeom>
          <a:noFill/>
          <a:ln/>
        </p:spPr>
        <p:txBody>
          <a:bodyPr wrap="square" rtlCol="0" anchor="ctr"/>
          <a:lstStyle/>
          <a:p>
            <a:pPr marL="0" indent="0">
              <a:buNone/>
            </a:pPr>
            <a:r>
              <a:rPr lang="en-US" sz="1000" b="1" kern="0" spc="200" dirty="0">
                <a:solidFill>
                  <a:srgbClr val="5A6472"/>
                </a:solidFill>
                <a:latin typeface="Calibri" pitchFamily="34" charset="0"/>
                <a:ea typeface="Calibri" pitchFamily="34" charset="-122"/>
                <a:cs typeface="Calibri" pitchFamily="34" charset="-120"/>
              </a:rPr>
              <a:t>DATA AVENGERS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ORIGIN</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800" dirty="0">
                <a:solidFill>
                  <a:srgbClr val="0E1B2C"/>
                </a:solidFill>
                <a:latin typeface="Cambria" pitchFamily="34" charset="0"/>
                <a:ea typeface="Cambria" pitchFamily="34" charset="-122"/>
                <a:cs typeface="Cambria" pitchFamily="34" charset="-120"/>
              </a:rPr>
              <a:t>Why we picked this topic</a:t>
            </a:r>
            <a:endParaRPr lang="en-US" sz="28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548640" y="1380744"/>
            <a:ext cx="8046720" cy="914400"/>
          </a:xfrm>
          <a:prstGeom prst="rect">
            <a:avLst/>
          </a:prstGeom>
          <a:noFill/>
          <a:ln/>
        </p:spPr>
        <p:txBody>
          <a:bodyPr wrap="square" rtlCol="0" anchor="ctr"/>
          <a:lstStyle/>
          <a:p>
            <a:pPr marL="0" indent="0">
              <a:lnSpc>
                <a:spcPct val="125000"/>
              </a:lnSpc>
              <a:buNone/>
            </a:pPr>
            <a:r>
              <a:rPr lang="en-US" sz="1400" dirty="0">
                <a:solidFill>
                  <a:srgbClr val="0E1B2C"/>
                </a:solidFill>
                <a:latin typeface="Calibri" pitchFamily="34" charset="0"/>
                <a:ea typeface="Calibri" pitchFamily="34" charset="-122"/>
                <a:cs typeface="Calibri" pitchFamily="34" charset="-120"/>
              </a:rPr>
              <a:t>We looked at a few ideas first: global job market trends, a comparison of LLM tools. Budget vs success kept winning the argument, because it's one of the few questions where everyone already has a take, but almost nobody has checked it against real numbers.</a:t>
            </a:r>
            <a:endParaRPr lang="en-US" sz="1400" dirty="0"/>
          </a:p>
        </p:txBody>
      </p:sp>
      <p:sp>
        <p:nvSpPr>
          <p:cNvPr id="6" name="Shape 4"/>
          <p:cNvSpPr/>
          <p:nvPr/>
        </p:nvSpPr>
        <p:spPr>
          <a:xfrm>
            <a:off x="548640" y="2331720"/>
            <a:ext cx="54864" cy="1417320"/>
          </a:xfrm>
          <a:prstGeom prst="rect">
            <a:avLst/>
          </a:prstGeom>
          <a:solidFill>
            <a:srgbClr val="C2410C"/>
          </a:solidFill>
          <a:ln/>
        </p:spPr>
      </p:sp>
      <p:sp>
        <p:nvSpPr>
          <p:cNvPr id="7" name="Text 5"/>
          <p:cNvSpPr/>
          <p:nvPr/>
        </p:nvSpPr>
        <p:spPr>
          <a:xfrm>
            <a:off x="777240" y="2496312"/>
            <a:ext cx="7680960" cy="1417320"/>
          </a:xfrm>
          <a:prstGeom prst="rect">
            <a:avLst/>
          </a:prstGeom>
          <a:noFill/>
          <a:ln/>
        </p:spPr>
        <p:txBody>
          <a:bodyPr wrap="square" rtlCol="0" anchor="t"/>
          <a:lstStyle/>
          <a:p>
            <a:pPr marL="0" indent="0">
              <a:lnSpc>
                <a:spcPct val="130000"/>
              </a:lnSpc>
              <a:buNone/>
            </a:pPr>
            <a:r>
              <a:rPr lang="en-US" sz="1600" b="1" dirty="0">
                <a:solidFill>
                  <a:srgbClr val="0E1B2C"/>
                </a:solidFill>
                <a:latin typeface="Cambria" pitchFamily="34" charset="0"/>
                <a:ea typeface="Cambria" pitchFamily="34" charset="-122"/>
                <a:cs typeface="Cambria" pitchFamily="34" charset="-120"/>
              </a:rPr>
              <a:t>The assumption everyone makes: </a:t>
            </a:r>
            <a:r>
              <a:rPr lang="en-US" sz="1600" dirty="0">
                <a:solidFill>
                  <a:srgbClr val="0E1B2C"/>
                </a:solidFill>
                <a:latin typeface="Cambria" pitchFamily="34" charset="0"/>
                <a:ea typeface="Cambria" pitchFamily="34" charset="-122"/>
                <a:cs typeface="Cambria" pitchFamily="34" charset="-120"/>
              </a:rPr>
              <a:t>spend more on cast, effects, and marketing, and you get a bigger hit and a better movie. We wanted to find out whether that's actually true, or just something the industry tells itself.</a:t>
            </a:r>
            <a:endParaRPr lang="en-US" sz="1600" dirty="0"/>
          </a:p>
        </p:txBody>
      </p:sp>
      <p:sp>
        <p:nvSpPr>
          <p:cNvPr id="8" name="Text 6"/>
          <p:cNvSpPr/>
          <p:nvPr/>
        </p:nvSpPr>
        <p:spPr>
          <a:xfrm>
            <a:off x="548640" y="3931920"/>
            <a:ext cx="8046720" cy="274320"/>
          </a:xfrm>
          <a:prstGeom prst="rect">
            <a:avLst/>
          </a:prstGeom>
          <a:noFill/>
          <a:ln/>
        </p:spPr>
        <p:txBody>
          <a:bodyPr wrap="square" rtlCol="0" anchor="ctr"/>
          <a:lstStyle/>
          <a:p>
            <a:pPr marL="0" indent="0">
              <a:buNone/>
            </a:pPr>
            <a:r>
              <a:rPr lang="en-US" sz="1050" b="1" kern="0" spc="150" dirty="0">
                <a:solidFill>
                  <a:srgbClr val="5A6472"/>
                </a:solidFill>
                <a:latin typeface="Calibri" pitchFamily="34" charset="0"/>
                <a:ea typeface="Calibri" pitchFamily="34" charset="-122"/>
                <a:cs typeface="Calibri" pitchFamily="34" charset="-120"/>
              </a:rPr>
              <a:t>WHY IT FITS THIS COURSE</a:t>
            </a:r>
            <a:endParaRPr lang="en-US" sz="1050" dirty="0"/>
          </a:p>
        </p:txBody>
      </p:sp>
      <p:sp>
        <p:nvSpPr>
          <p:cNvPr id="9" name="Text 7"/>
          <p:cNvSpPr/>
          <p:nvPr/>
        </p:nvSpPr>
        <p:spPr>
          <a:xfrm>
            <a:off x="548640" y="4224528"/>
            <a:ext cx="228600" cy="256032"/>
          </a:xfrm>
          <a:prstGeom prst="rect">
            <a:avLst/>
          </a:prstGeom>
          <a:noFill/>
          <a:ln/>
        </p:spPr>
        <p:txBody>
          <a:bodyPr wrap="square"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822960" y="4224528"/>
            <a:ext cx="7772400" cy="256032"/>
          </a:xfrm>
          <a:prstGeom prst="rect">
            <a:avLst/>
          </a:prstGeom>
          <a:noFill/>
          <a:ln/>
        </p:spPr>
        <p:txBody>
          <a:bodyPr wrap="square" rtlCol="0" anchor="ctr"/>
          <a:lstStyle/>
          <a:p>
            <a:pPr marL="0" indent="0">
              <a:buNone/>
            </a:pPr>
            <a:r>
              <a:rPr lang="en-US" sz="1200" dirty="0">
                <a:solidFill>
                  <a:srgbClr val="0E1B2C"/>
                </a:solidFill>
                <a:latin typeface="Calibri" pitchFamily="34" charset="0"/>
                <a:ea typeface="Calibri" pitchFamily="34" charset="-122"/>
                <a:cs typeface="Calibri" pitchFamily="34" charset="-120"/>
              </a:rPr>
              <a:t>Four real public datasets, a genuine ingestion and merge problem</a:t>
            </a:r>
            <a:endParaRPr lang="en-US" sz="1200" dirty="0"/>
          </a:p>
        </p:txBody>
      </p:sp>
      <p:sp>
        <p:nvSpPr>
          <p:cNvPr id="11" name="Text 9"/>
          <p:cNvSpPr/>
          <p:nvPr/>
        </p:nvSpPr>
        <p:spPr>
          <a:xfrm>
            <a:off x="548640" y="4517136"/>
            <a:ext cx="228600" cy="256032"/>
          </a:xfrm>
          <a:prstGeom prst="rect">
            <a:avLst/>
          </a:prstGeom>
          <a:noFill/>
          <a:ln/>
        </p:spPr>
        <p:txBody>
          <a:bodyPr wrap="square"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822960" y="4517136"/>
            <a:ext cx="7772400" cy="256032"/>
          </a:xfrm>
          <a:prstGeom prst="rect">
            <a:avLst/>
          </a:prstGeom>
          <a:noFill/>
          <a:ln/>
        </p:spPr>
        <p:txBody>
          <a:bodyPr wrap="square" rtlCol="0" anchor="ctr"/>
          <a:lstStyle/>
          <a:p>
            <a:pPr marL="0" indent="0">
              <a:buNone/>
            </a:pPr>
            <a:r>
              <a:rPr lang="en-US" sz="1200" dirty="0">
                <a:solidFill>
                  <a:srgbClr val="0E1B2C"/>
                </a:solidFill>
                <a:latin typeface="Calibri" pitchFamily="34" charset="0"/>
                <a:ea typeface="Calibri" pitchFamily="34" charset="-122"/>
                <a:cs typeface="Calibri" pitchFamily="34" charset="-120"/>
              </a:rPr>
              <a:t>Numeric and categorical fields together, so correlation, EDA, and feature engineering all apply</a:t>
            </a:r>
            <a:endParaRPr lang="en-US" sz="1200" dirty="0"/>
          </a:p>
        </p:txBody>
      </p:sp>
      <p:sp>
        <p:nvSpPr>
          <p:cNvPr id="13" name="Text 11"/>
          <p:cNvSpPr/>
          <p:nvPr/>
        </p:nvSpPr>
        <p:spPr>
          <a:xfrm>
            <a:off x="548640" y="4809744"/>
            <a:ext cx="228600" cy="256032"/>
          </a:xfrm>
          <a:prstGeom prst="rect">
            <a:avLst/>
          </a:prstGeom>
          <a:noFill/>
          <a:ln/>
        </p:spPr>
        <p:txBody>
          <a:bodyPr wrap="square"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822960" y="4809744"/>
            <a:ext cx="7772400" cy="256032"/>
          </a:xfrm>
          <a:prstGeom prst="rect">
            <a:avLst/>
          </a:prstGeom>
          <a:noFill/>
          <a:ln/>
        </p:spPr>
        <p:txBody>
          <a:bodyPr wrap="square" rtlCol="0" anchor="ctr"/>
          <a:lstStyle/>
          <a:p>
            <a:pPr marL="0" indent="0">
              <a:buNone/>
            </a:pPr>
            <a:r>
              <a:rPr lang="en-US" sz="1200" dirty="0">
                <a:solidFill>
                  <a:srgbClr val="0E1B2C"/>
                </a:solidFill>
                <a:latin typeface="Calibri" pitchFamily="34" charset="0"/>
                <a:ea typeface="Calibri" pitchFamily="34" charset="-122"/>
                <a:cs typeface="Calibri" pitchFamily="34" charset="-120"/>
              </a:rPr>
              <a:t>A clean regression target (revenue) and a clean classification target (hit or flop)</a:t>
            </a:r>
            <a:endParaRPr lang="en-US" sz="1200" dirty="0"/>
          </a:p>
        </p:txBody>
      </p:sp>
      <p:sp>
        <p:nvSpPr>
          <p:cNvPr id="15" name="Text 13"/>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THE QUESTION</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800" dirty="0">
                <a:solidFill>
                  <a:srgbClr val="0E1B2C"/>
                </a:solidFill>
                <a:latin typeface="Cambria" pitchFamily="34" charset="0"/>
                <a:ea typeface="Cambria" pitchFamily="34" charset="-122"/>
                <a:cs typeface="Cambria" pitchFamily="34" charset="-120"/>
              </a:rPr>
              <a:t>Problem statement</a:t>
            </a:r>
            <a:endParaRPr lang="en-US" sz="28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548640" y="1513333"/>
            <a:ext cx="8046720" cy="1051560"/>
          </a:xfrm>
          <a:prstGeom prst="rect">
            <a:avLst/>
          </a:prstGeom>
          <a:noFill/>
          <a:ln/>
        </p:spPr>
        <p:txBody>
          <a:bodyPr wrap="square" rtlCol="0" anchor="ctr"/>
          <a:lstStyle/>
          <a:p>
            <a:pPr marL="0" indent="0">
              <a:lnSpc>
                <a:spcPct val="128000"/>
              </a:lnSpc>
              <a:buNone/>
            </a:pPr>
            <a:r>
              <a:rPr lang="en-US" sz="1350" dirty="0">
                <a:solidFill>
                  <a:srgbClr val="0E1B2C"/>
                </a:solidFill>
                <a:latin typeface="Calibri" pitchFamily="34" charset="0"/>
                <a:ea typeface="Calibri" pitchFamily="34" charset="-122"/>
                <a:cs typeface="Calibri" pitchFamily="34" charset="-120"/>
              </a:rPr>
              <a:t>Every year, studios put heavy money into productions, betting that a bigger budget means a bigger audience and better reviews. That's not always what happens. Some of the most expensive films ever made have flopped, and some films made on a shoestring budget have gone on to become genuine cultural moments.</a:t>
            </a:r>
            <a:endParaRPr lang="en-US" sz="1350" dirty="0"/>
          </a:p>
        </p:txBody>
      </p:sp>
      <p:sp>
        <p:nvSpPr>
          <p:cNvPr id="6" name="Text 4"/>
          <p:cNvSpPr/>
          <p:nvPr/>
        </p:nvSpPr>
        <p:spPr>
          <a:xfrm>
            <a:off x="548640" y="2450592"/>
            <a:ext cx="8046720" cy="1051560"/>
          </a:xfrm>
          <a:prstGeom prst="rect">
            <a:avLst/>
          </a:prstGeom>
          <a:noFill/>
          <a:ln/>
        </p:spPr>
        <p:txBody>
          <a:bodyPr wrap="square" rtlCol="0" anchor="ctr"/>
          <a:lstStyle/>
          <a:p>
            <a:pPr marL="0" indent="0">
              <a:lnSpc>
                <a:spcPct val="128000"/>
              </a:lnSpc>
              <a:buNone/>
            </a:pPr>
            <a:r>
              <a:rPr lang="en-US" sz="1350" dirty="0">
                <a:solidFill>
                  <a:srgbClr val="0E1B2C"/>
                </a:solidFill>
                <a:latin typeface="Calibri" pitchFamily="34" charset="0"/>
                <a:ea typeface="Calibri" pitchFamily="34" charset="-122"/>
                <a:cs typeface="Calibri" pitchFamily="34" charset="-120"/>
              </a:rPr>
              <a:t>So the question is straightforward. Does spending more actually lead to better outcomes? We looked at this through real data: how production budgets relate to box office earnings, audience ratings, and critic scores across thousands of films, and whether the answer changes by genre or by era.</a:t>
            </a:r>
            <a:endParaRPr lang="en-US" sz="1350" dirty="0"/>
          </a:p>
        </p:txBody>
      </p:sp>
      <p:sp>
        <p:nvSpPr>
          <p:cNvPr id="7" name="Shape 5"/>
          <p:cNvSpPr/>
          <p:nvPr/>
        </p:nvSpPr>
        <p:spPr>
          <a:xfrm>
            <a:off x="548640" y="3639312"/>
            <a:ext cx="8046720" cy="0"/>
          </a:xfrm>
          <a:prstGeom prst="line">
            <a:avLst/>
          </a:prstGeom>
          <a:noFill/>
          <a:ln w="12700">
            <a:solidFill>
              <a:srgbClr val="DCD8CC"/>
            </a:solidFill>
            <a:prstDash val="solid"/>
          </a:ln>
        </p:spPr>
      </p:sp>
      <p:sp>
        <p:nvSpPr>
          <p:cNvPr id="8" name="Text 6"/>
          <p:cNvSpPr/>
          <p:nvPr/>
        </p:nvSpPr>
        <p:spPr>
          <a:xfrm>
            <a:off x="548640" y="3803904"/>
            <a:ext cx="8046720" cy="960120"/>
          </a:xfrm>
          <a:prstGeom prst="rect">
            <a:avLst/>
          </a:prstGeom>
          <a:noFill/>
          <a:ln/>
        </p:spPr>
        <p:txBody>
          <a:bodyPr wrap="square" rtlCol="0" anchor="t"/>
          <a:lstStyle/>
          <a:p>
            <a:pPr marL="0" indent="0">
              <a:lnSpc>
                <a:spcPct val="128000"/>
              </a:lnSpc>
              <a:buNone/>
            </a:pPr>
            <a:r>
              <a:rPr lang="en-US" sz="1350" b="1" dirty="0">
                <a:solidFill>
                  <a:srgbClr val="C2410C"/>
                </a:solidFill>
                <a:latin typeface="Calibri" pitchFamily="34" charset="0"/>
                <a:ea typeface="Calibri" pitchFamily="34" charset="-122"/>
                <a:cs typeface="Calibri" pitchFamily="34" charset="-120"/>
              </a:rPr>
              <a:t>Four datasets, one merge. </a:t>
            </a:r>
            <a:r>
              <a:rPr lang="en-US" sz="1350" dirty="0">
                <a:solidFill>
                  <a:srgbClr val="0E1B2C"/>
                </a:solidFill>
                <a:latin typeface="Calibri" pitchFamily="34" charset="0"/>
                <a:ea typeface="Calibri" pitchFamily="34" charset="-122"/>
                <a:cs typeface="Calibri" pitchFamily="34" charset="-120"/>
              </a:rPr>
              <a:t>We pulled The Movies Dataset, TMDB 5000, Rotten Tomatoes, and IMDb from Kaggle and merged them into one working file. Beyond correlation, we trained regression and classification models to see whether revenue or a hit/flop outcome can be predicted before a film is even released.</a:t>
            </a:r>
            <a:endParaRPr lang="en-US" sz="1350" dirty="0"/>
          </a:p>
        </p:txBody>
      </p:sp>
      <p:sp>
        <p:nvSpPr>
          <p:cNvPr id="9" name="Text 7"/>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WHO DID WHAT</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800" dirty="0">
                <a:solidFill>
                  <a:srgbClr val="0E1B2C"/>
                </a:solidFill>
                <a:latin typeface="Cambria" pitchFamily="34" charset="0"/>
                <a:ea typeface="Cambria" pitchFamily="34" charset="-122"/>
                <a:cs typeface="Cambria" pitchFamily="34" charset="-120"/>
              </a:rPr>
              <a:t>The team</a:t>
            </a:r>
            <a:endParaRPr lang="en-US" sz="28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Shape 3"/>
          <p:cNvSpPr/>
          <p:nvPr/>
        </p:nvSpPr>
        <p:spPr>
          <a:xfrm>
            <a:off x="548640" y="1298448"/>
            <a:ext cx="1920240" cy="0"/>
          </a:xfrm>
          <a:prstGeom prst="line">
            <a:avLst/>
          </a:prstGeom>
          <a:noFill/>
          <a:ln w="28575">
            <a:solidFill>
              <a:srgbClr val="C2410C"/>
            </a:solidFill>
            <a:prstDash val="solid"/>
          </a:ln>
        </p:spPr>
      </p:sp>
      <p:sp>
        <p:nvSpPr>
          <p:cNvPr id="6" name="Text 4"/>
          <p:cNvSpPr/>
          <p:nvPr/>
        </p:nvSpPr>
        <p:spPr>
          <a:xfrm>
            <a:off x="548640" y="1417320"/>
            <a:ext cx="1920240" cy="320040"/>
          </a:xfrm>
          <a:prstGeom prst="rect">
            <a:avLst/>
          </a:prstGeom>
          <a:noFill/>
          <a:ln/>
        </p:spPr>
        <p:txBody>
          <a:bodyPr wrap="square" rtlCol="0" anchor="ctr"/>
          <a:lstStyle/>
          <a:p>
            <a:pPr marL="0" indent="0">
              <a:buNone/>
            </a:pPr>
            <a:r>
              <a:rPr lang="en-US" sz="1800" dirty="0">
                <a:solidFill>
                  <a:srgbClr val="C2410C"/>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548640" y="1783080"/>
            <a:ext cx="1920240" cy="502920"/>
          </a:xfrm>
          <a:prstGeom prst="rect">
            <a:avLst/>
          </a:prstGeom>
          <a:noFill/>
          <a:ln/>
        </p:spPr>
        <p:txBody>
          <a:bodyPr wrap="square" rtlCol="0" anchor="ctr"/>
          <a:lstStyle/>
          <a:p>
            <a:pPr marL="0" indent="0">
              <a:buNone/>
            </a:pPr>
            <a:r>
              <a:rPr lang="en-US" sz="1500" dirty="0">
                <a:solidFill>
                  <a:srgbClr val="0E1B2C"/>
                </a:solidFill>
                <a:latin typeface="Cambria" pitchFamily="34" charset="0"/>
                <a:ea typeface="Cambria" pitchFamily="34" charset="-122"/>
                <a:cs typeface="Cambria" pitchFamily="34" charset="-120"/>
              </a:rPr>
              <a:t>Abdulhadi Kirkici</a:t>
            </a:r>
            <a:endParaRPr lang="en-US" sz="1500" dirty="0"/>
          </a:p>
        </p:txBody>
      </p:sp>
      <p:sp>
        <p:nvSpPr>
          <p:cNvPr id="8" name="Text 6"/>
          <p:cNvSpPr/>
          <p:nvPr/>
        </p:nvSpPr>
        <p:spPr>
          <a:xfrm>
            <a:off x="548640" y="2286000"/>
            <a:ext cx="1920240" cy="274320"/>
          </a:xfrm>
          <a:prstGeom prst="rect">
            <a:avLst/>
          </a:prstGeom>
          <a:noFill/>
          <a:ln/>
        </p:spPr>
        <p:txBody>
          <a:bodyPr wrap="square" rtlCol="0" anchor="ctr"/>
          <a:lstStyle/>
          <a:p>
            <a:pPr marL="0" indent="0">
              <a:buNone/>
            </a:pPr>
            <a:r>
              <a:rPr lang="en-US" sz="950" b="1" kern="0" spc="100" dirty="0">
                <a:solidFill>
                  <a:srgbClr val="5A6472"/>
                </a:solidFill>
                <a:latin typeface="Calibri" pitchFamily="34" charset="0"/>
                <a:ea typeface="Calibri" pitchFamily="34" charset="-122"/>
                <a:cs typeface="Calibri" pitchFamily="34" charset="-120"/>
              </a:rPr>
              <a:t>DATA ENGINEERING</a:t>
            </a:r>
            <a:endParaRPr lang="en-US" sz="950" dirty="0"/>
          </a:p>
        </p:txBody>
      </p:sp>
      <p:sp>
        <p:nvSpPr>
          <p:cNvPr id="9" name="Text 7"/>
          <p:cNvSpPr/>
          <p:nvPr/>
        </p:nvSpPr>
        <p:spPr>
          <a:xfrm>
            <a:off x="548640" y="2606040"/>
            <a:ext cx="1920240" cy="1645920"/>
          </a:xfrm>
          <a:prstGeom prst="rect">
            <a:avLst/>
          </a:prstGeom>
          <a:noFill/>
          <a:ln/>
        </p:spPr>
        <p:txBody>
          <a:bodyPr wrap="square" rtlCol="0" anchor="t"/>
          <a:lstStyle/>
          <a:p>
            <a:pPr marL="0" indent="0">
              <a:lnSpc>
                <a:spcPct val="125000"/>
              </a:lnSpc>
              <a:buNone/>
            </a:pPr>
            <a:r>
              <a:rPr lang="en-US" sz="1050" dirty="0">
                <a:solidFill>
                  <a:srgbClr val="0E1B2C"/>
                </a:solidFill>
                <a:latin typeface="Calibri" pitchFamily="34" charset="0"/>
                <a:ea typeface="Calibri" pitchFamily="34" charset="-122"/>
                <a:cs typeface="Calibri" pitchFamily="34" charset="-120"/>
              </a:rPr>
              <a:t>Set up the repository, pulled and merged the datasets, built the cleaning pipeline.</a:t>
            </a:r>
            <a:endParaRPr lang="en-US" sz="1050" dirty="0"/>
          </a:p>
        </p:txBody>
      </p:sp>
      <p:sp>
        <p:nvSpPr>
          <p:cNvPr id="10" name="Shape 8"/>
          <p:cNvSpPr/>
          <p:nvPr/>
        </p:nvSpPr>
        <p:spPr>
          <a:xfrm>
            <a:off x="2633472" y="1298448"/>
            <a:ext cx="1920240" cy="0"/>
          </a:xfrm>
          <a:prstGeom prst="line">
            <a:avLst/>
          </a:prstGeom>
          <a:noFill/>
          <a:ln w="28575">
            <a:solidFill>
              <a:srgbClr val="C2410C"/>
            </a:solidFill>
            <a:prstDash val="solid"/>
          </a:ln>
        </p:spPr>
      </p:sp>
      <p:sp>
        <p:nvSpPr>
          <p:cNvPr id="11" name="Text 9"/>
          <p:cNvSpPr/>
          <p:nvPr/>
        </p:nvSpPr>
        <p:spPr>
          <a:xfrm>
            <a:off x="2633472" y="1417320"/>
            <a:ext cx="1920240" cy="320040"/>
          </a:xfrm>
          <a:prstGeom prst="rect">
            <a:avLst/>
          </a:prstGeom>
          <a:noFill/>
          <a:ln/>
        </p:spPr>
        <p:txBody>
          <a:bodyPr wrap="square" rtlCol="0" anchor="ctr"/>
          <a:lstStyle/>
          <a:p>
            <a:pPr marL="0" indent="0">
              <a:buNone/>
            </a:pPr>
            <a:r>
              <a:rPr lang="en-US" sz="1800" dirty="0">
                <a:solidFill>
                  <a:srgbClr val="C2410C"/>
                </a:solidFill>
                <a:latin typeface="Cambria" pitchFamily="34" charset="0"/>
                <a:ea typeface="Cambria" pitchFamily="34" charset="-122"/>
                <a:cs typeface="Cambria" pitchFamily="34" charset="-120"/>
              </a:rPr>
              <a:t>02</a:t>
            </a:r>
            <a:endParaRPr lang="en-US" sz="1800" dirty="0"/>
          </a:p>
        </p:txBody>
      </p:sp>
      <p:sp>
        <p:nvSpPr>
          <p:cNvPr id="12" name="Text 10"/>
          <p:cNvSpPr/>
          <p:nvPr/>
        </p:nvSpPr>
        <p:spPr>
          <a:xfrm>
            <a:off x="2633472" y="1783080"/>
            <a:ext cx="1920240" cy="502920"/>
          </a:xfrm>
          <a:prstGeom prst="rect">
            <a:avLst/>
          </a:prstGeom>
          <a:noFill/>
          <a:ln/>
        </p:spPr>
        <p:txBody>
          <a:bodyPr wrap="square" rtlCol="0" anchor="ctr"/>
          <a:lstStyle/>
          <a:p>
            <a:pPr marL="0" indent="0">
              <a:buNone/>
            </a:pPr>
            <a:r>
              <a:rPr lang="en-US" sz="1500" dirty="0">
                <a:solidFill>
                  <a:srgbClr val="0E1B2C"/>
                </a:solidFill>
                <a:latin typeface="Cambria" pitchFamily="34" charset="0"/>
                <a:ea typeface="Cambria" pitchFamily="34" charset="-122"/>
                <a:cs typeface="Cambria" pitchFamily="34" charset="-120"/>
              </a:rPr>
              <a:t>Fatih Ridvan Kizik</a:t>
            </a:r>
            <a:endParaRPr lang="en-US" sz="1500" dirty="0"/>
          </a:p>
        </p:txBody>
      </p:sp>
      <p:sp>
        <p:nvSpPr>
          <p:cNvPr id="13" name="Text 11"/>
          <p:cNvSpPr/>
          <p:nvPr/>
        </p:nvSpPr>
        <p:spPr>
          <a:xfrm>
            <a:off x="2633472" y="2286000"/>
            <a:ext cx="1920240" cy="274320"/>
          </a:xfrm>
          <a:prstGeom prst="rect">
            <a:avLst/>
          </a:prstGeom>
          <a:noFill/>
          <a:ln/>
        </p:spPr>
        <p:txBody>
          <a:bodyPr wrap="square" rtlCol="0" anchor="ctr"/>
          <a:lstStyle/>
          <a:p>
            <a:pPr marL="0" indent="0">
              <a:buNone/>
            </a:pPr>
            <a:r>
              <a:rPr lang="en-US" sz="950" b="1" kern="0" spc="100" dirty="0">
                <a:solidFill>
                  <a:srgbClr val="5A6472"/>
                </a:solidFill>
                <a:latin typeface="Calibri" pitchFamily="34" charset="0"/>
                <a:ea typeface="Calibri" pitchFamily="34" charset="-122"/>
                <a:cs typeface="Calibri" pitchFamily="34" charset="-120"/>
              </a:rPr>
              <a:t>ANALYSIS &amp; MODELING</a:t>
            </a:r>
            <a:endParaRPr lang="en-US" sz="950" dirty="0"/>
          </a:p>
        </p:txBody>
      </p:sp>
      <p:sp>
        <p:nvSpPr>
          <p:cNvPr id="14" name="Text 12"/>
          <p:cNvSpPr/>
          <p:nvPr/>
        </p:nvSpPr>
        <p:spPr>
          <a:xfrm>
            <a:off x="2633472" y="2606040"/>
            <a:ext cx="1920240" cy="1645920"/>
          </a:xfrm>
          <a:prstGeom prst="rect">
            <a:avLst/>
          </a:prstGeom>
          <a:noFill/>
          <a:ln/>
        </p:spPr>
        <p:txBody>
          <a:bodyPr wrap="square" rtlCol="0" anchor="t"/>
          <a:lstStyle/>
          <a:p>
            <a:pPr marL="0" indent="0">
              <a:lnSpc>
                <a:spcPct val="125000"/>
              </a:lnSpc>
              <a:buNone/>
            </a:pPr>
            <a:r>
              <a:rPr lang="en-US" sz="1050" dirty="0">
                <a:solidFill>
                  <a:srgbClr val="0E1B2C"/>
                </a:solidFill>
                <a:latin typeface="Calibri" pitchFamily="34" charset="0"/>
                <a:ea typeface="Calibri" pitchFamily="34" charset="-122"/>
                <a:cs typeface="Calibri" pitchFamily="34" charset="-120"/>
              </a:rPr>
              <a:t>Ran the exploratory analysis, trained the regression and classification models.</a:t>
            </a:r>
            <a:endParaRPr lang="en-US" sz="1050" dirty="0"/>
          </a:p>
        </p:txBody>
      </p:sp>
      <p:sp>
        <p:nvSpPr>
          <p:cNvPr id="15" name="Shape 13"/>
          <p:cNvSpPr/>
          <p:nvPr/>
        </p:nvSpPr>
        <p:spPr>
          <a:xfrm>
            <a:off x="4718304" y="1298448"/>
            <a:ext cx="1920240" cy="0"/>
          </a:xfrm>
          <a:prstGeom prst="line">
            <a:avLst/>
          </a:prstGeom>
          <a:noFill/>
          <a:ln w="28575">
            <a:solidFill>
              <a:srgbClr val="C2410C"/>
            </a:solidFill>
            <a:prstDash val="solid"/>
          </a:ln>
        </p:spPr>
      </p:sp>
      <p:sp>
        <p:nvSpPr>
          <p:cNvPr id="16" name="Text 14"/>
          <p:cNvSpPr/>
          <p:nvPr/>
        </p:nvSpPr>
        <p:spPr>
          <a:xfrm>
            <a:off x="4718304" y="1417320"/>
            <a:ext cx="1920240" cy="320040"/>
          </a:xfrm>
          <a:prstGeom prst="rect">
            <a:avLst/>
          </a:prstGeom>
          <a:noFill/>
          <a:ln/>
        </p:spPr>
        <p:txBody>
          <a:bodyPr wrap="square" rtlCol="0" anchor="ctr"/>
          <a:lstStyle/>
          <a:p>
            <a:pPr marL="0" indent="0">
              <a:buNone/>
            </a:pPr>
            <a:r>
              <a:rPr lang="en-US" sz="1800" dirty="0">
                <a:solidFill>
                  <a:srgbClr val="C2410C"/>
                </a:solidFill>
                <a:latin typeface="Cambria" pitchFamily="34" charset="0"/>
                <a:ea typeface="Cambria" pitchFamily="34" charset="-122"/>
                <a:cs typeface="Cambria" pitchFamily="34" charset="-120"/>
              </a:rPr>
              <a:t>03</a:t>
            </a:r>
            <a:endParaRPr lang="en-US" sz="1800" dirty="0"/>
          </a:p>
        </p:txBody>
      </p:sp>
      <p:sp>
        <p:nvSpPr>
          <p:cNvPr id="17" name="Text 15"/>
          <p:cNvSpPr/>
          <p:nvPr/>
        </p:nvSpPr>
        <p:spPr>
          <a:xfrm>
            <a:off x="4718304" y="1783080"/>
            <a:ext cx="1920240" cy="502920"/>
          </a:xfrm>
          <a:prstGeom prst="rect">
            <a:avLst/>
          </a:prstGeom>
          <a:noFill/>
          <a:ln/>
        </p:spPr>
        <p:txBody>
          <a:bodyPr wrap="square" rtlCol="0" anchor="ctr"/>
          <a:lstStyle/>
          <a:p>
            <a:pPr marL="0" indent="0">
              <a:buNone/>
            </a:pPr>
            <a:r>
              <a:rPr lang="en-US" sz="1500" dirty="0">
                <a:solidFill>
                  <a:srgbClr val="0E1B2C"/>
                </a:solidFill>
                <a:latin typeface="Cambria" pitchFamily="34" charset="0"/>
                <a:ea typeface="Cambria" pitchFamily="34" charset="-122"/>
                <a:cs typeface="Cambria" pitchFamily="34" charset="-120"/>
              </a:rPr>
              <a:t>Numrah Khan</a:t>
            </a:r>
            <a:endParaRPr lang="en-US" sz="1500" dirty="0"/>
          </a:p>
        </p:txBody>
      </p:sp>
      <p:sp>
        <p:nvSpPr>
          <p:cNvPr id="18" name="Text 16"/>
          <p:cNvSpPr/>
          <p:nvPr/>
        </p:nvSpPr>
        <p:spPr>
          <a:xfrm>
            <a:off x="4718304" y="2286000"/>
            <a:ext cx="1920240" cy="274320"/>
          </a:xfrm>
          <a:prstGeom prst="rect">
            <a:avLst/>
          </a:prstGeom>
          <a:noFill/>
          <a:ln/>
        </p:spPr>
        <p:txBody>
          <a:bodyPr wrap="square" rtlCol="0" anchor="ctr"/>
          <a:lstStyle/>
          <a:p>
            <a:pPr marL="0" indent="0">
              <a:buNone/>
            </a:pPr>
            <a:r>
              <a:rPr lang="en-US" sz="950" b="1" kern="0" spc="100" dirty="0">
                <a:solidFill>
                  <a:srgbClr val="5A6472"/>
                </a:solidFill>
                <a:latin typeface="Calibri" pitchFamily="34" charset="0"/>
                <a:ea typeface="Calibri" pitchFamily="34" charset="-122"/>
                <a:cs typeface="Calibri" pitchFamily="34" charset="-120"/>
              </a:rPr>
              <a:t>PLANNING &amp; SCRUM</a:t>
            </a:r>
            <a:endParaRPr lang="en-US" sz="950" dirty="0"/>
          </a:p>
        </p:txBody>
      </p:sp>
      <p:sp>
        <p:nvSpPr>
          <p:cNvPr id="19" name="Text 17"/>
          <p:cNvSpPr/>
          <p:nvPr/>
        </p:nvSpPr>
        <p:spPr>
          <a:xfrm>
            <a:off x="4718304" y="2606040"/>
            <a:ext cx="1920240" cy="1645920"/>
          </a:xfrm>
          <a:prstGeom prst="rect">
            <a:avLst/>
          </a:prstGeom>
          <a:noFill/>
          <a:ln/>
        </p:spPr>
        <p:txBody>
          <a:bodyPr wrap="square" rtlCol="0" anchor="t"/>
          <a:lstStyle/>
          <a:p>
            <a:pPr marL="0" indent="0">
              <a:lnSpc>
                <a:spcPct val="125000"/>
              </a:lnSpc>
              <a:buNone/>
            </a:pPr>
            <a:r>
              <a:rPr lang="en-US" sz="1050" dirty="0">
                <a:solidFill>
                  <a:srgbClr val="0E1B2C"/>
                </a:solidFill>
                <a:latin typeface="Calibri" pitchFamily="34" charset="0"/>
                <a:ea typeface="Calibri" pitchFamily="34" charset="-122"/>
                <a:cs typeface="Calibri" pitchFamily="34" charset="-120"/>
              </a:rPr>
              <a:t>Managed the timeline, wrote the problem analysis and system design.</a:t>
            </a:r>
            <a:endParaRPr lang="en-US" sz="1050" dirty="0"/>
          </a:p>
        </p:txBody>
      </p:sp>
      <p:sp>
        <p:nvSpPr>
          <p:cNvPr id="20" name="Shape 18"/>
          <p:cNvSpPr/>
          <p:nvPr/>
        </p:nvSpPr>
        <p:spPr>
          <a:xfrm>
            <a:off x="6803136" y="1298448"/>
            <a:ext cx="1920240" cy="0"/>
          </a:xfrm>
          <a:prstGeom prst="line">
            <a:avLst/>
          </a:prstGeom>
          <a:noFill/>
          <a:ln w="28575">
            <a:solidFill>
              <a:srgbClr val="C2410C"/>
            </a:solidFill>
            <a:prstDash val="solid"/>
          </a:ln>
        </p:spPr>
      </p:sp>
      <p:sp>
        <p:nvSpPr>
          <p:cNvPr id="21" name="Text 19"/>
          <p:cNvSpPr/>
          <p:nvPr/>
        </p:nvSpPr>
        <p:spPr>
          <a:xfrm>
            <a:off x="6803136" y="1417320"/>
            <a:ext cx="1920240" cy="320040"/>
          </a:xfrm>
          <a:prstGeom prst="rect">
            <a:avLst/>
          </a:prstGeom>
          <a:noFill/>
          <a:ln/>
        </p:spPr>
        <p:txBody>
          <a:bodyPr wrap="square" rtlCol="0" anchor="ctr"/>
          <a:lstStyle/>
          <a:p>
            <a:pPr marL="0" indent="0">
              <a:buNone/>
            </a:pPr>
            <a:r>
              <a:rPr lang="en-US" sz="1800" dirty="0">
                <a:solidFill>
                  <a:srgbClr val="C2410C"/>
                </a:solidFill>
                <a:latin typeface="Cambria" pitchFamily="34" charset="0"/>
                <a:ea typeface="Cambria" pitchFamily="34" charset="-122"/>
                <a:cs typeface="Cambria" pitchFamily="34" charset="-120"/>
              </a:rPr>
              <a:t>04</a:t>
            </a:r>
            <a:endParaRPr lang="en-US" sz="1800" dirty="0"/>
          </a:p>
        </p:txBody>
      </p:sp>
      <p:sp>
        <p:nvSpPr>
          <p:cNvPr id="22" name="Text 20"/>
          <p:cNvSpPr/>
          <p:nvPr/>
        </p:nvSpPr>
        <p:spPr>
          <a:xfrm>
            <a:off x="6803136" y="1783080"/>
            <a:ext cx="1920240" cy="502920"/>
          </a:xfrm>
          <a:prstGeom prst="rect">
            <a:avLst/>
          </a:prstGeom>
          <a:noFill/>
          <a:ln/>
        </p:spPr>
        <p:txBody>
          <a:bodyPr wrap="square" rtlCol="0" anchor="ctr"/>
          <a:lstStyle/>
          <a:p>
            <a:pPr marL="0" indent="0">
              <a:buNone/>
            </a:pPr>
            <a:r>
              <a:rPr lang="en-US" sz="1500" dirty="0">
                <a:solidFill>
                  <a:srgbClr val="0E1B2C"/>
                </a:solidFill>
                <a:latin typeface="Cambria" pitchFamily="34" charset="0"/>
                <a:ea typeface="Cambria" pitchFamily="34" charset="-122"/>
                <a:cs typeface="Cambria" pitchFamily="34" charset="-120"/>
              </a:rPr>
              <a:t>Yash Tiwari</a:t>
            </a:r>
            <a:endParaRPr lang="en-US" sz="1500" dirty="0"/>
          </a:p>
        </p:txBody>
      </p:sp>
      <p:sp>
        <p:nvSpPr>
          <p:cNvPr id="23" name="Text 21"/>
          <p:cNvSpPr/>
          <p:nvPr/>
        </p:nvSpPr>
        <p:spPr>
          <a:xfrm>
            <a:off x="6803136" y="2286000"/>
            <a:ext cx="1920240" cy="274320"/>
          </a:xfrm>
          <a:prstGeom prst="rect">
            <a:avLst/>
          </a:prstGeom>
          <a:noFill/>
          <a:ln/>
        </p:spPr>
        <p:txBody>
          <a:bodyPr wrap="square" rtlCol="0" anchor="ctr"/>
          <a:lstStyle/>
          <a:p>
            <a:pPr marL="0" indent="0">
              <a:buNone/>
            </a:pPr>
            <a:r>
              <a:rPr lang="en-US" sz="950" b="1" kern="0" spc="100" dirty="0">
                <a:solidFill>
                  <a:srgbClr val="5A6472"/>
                </a:solidFill>
                <a:latin typeface="Calibri" pitchFamily="34" charset="0"/>
                <a:ea typeface="Calibri" pitchFamily="34" charset="-122"/>
                <a:cs typeface="Calibri" pitchFamily="34" charset="-120"/>
              </a:rPr>
              <a:t>DATA SOURCING &amp; DOCUMENTATION</a:t>
            </a:r>
            <a:endParaRPr lang="en-US" sz="950" dirty="0"/>
          </a:p>
        </p:txBody>
      </p:sp>
      <p:sp>
        <p:nvSpPr>
          <p:cNvPr id="24" name="Text 22"/>
          <p:cNvSpPr/>
          <p:nvPr/>
        </p:nvSpPr>
        <p:spPr>
          <a:xfrm>
            <a:off x="6803136" y="2606040"/>
            <a:ext cx="1920240" cy="1645920"/>
          </a:xfrm>
          <a:prstGeom prst="rect">
            <a:avLst/>
          </a:prstGeom>
          <a:noFill/>
          <a:ln/>
        </p:spPr>
        <p:txBody>
          <a:bodyPr wrap="square" rtlCol="0" anchor="t"/>
          <a:lstStyle/>
          <a:p>
            <a:pPr marL="0" indent="0">
              <a:lnSpc>
                <a:spcPct val="125000"/>
              </a:lnSpc>
              <a:buNone/>
            </a:pPr>
            <a:r>
              <a:rPr lang="en-US" sz="1050" dirty="0">
                <a:solidFill>
                  <a:srgbClr val="0E1B2C"/>
                </a:solidFill>
                <a:latin typeface="Calibri" pitchFamily="34" charset="0"/>
                <a:ea typeface="Calibri" pitchFamily="34" charset="-122"/>
                <a:cs typeface="Calibri" pitchFamily="34" charset="-120"/>
              </a:rPr>
              <a:t>Sourced and checked the data, wrote the final report, built this deck.</a:t>
            </a:r>
            <a:endParaRPr lang="en-US" sz="1050" dirty="0"/>
          </a:p>
        </p:txBody>
      </p:sp>
      <p:sp>
        <p:nvSpPr>
          <p:cNvPr id="25" name="Text 23"/>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800" dirty="0">
                <a:solidFill>
                  <a:srgbClr val="0E1B2C"/>
                </a:solidFill>
                <a:latin typeface="Cambria" pitchFamily="34" charset="0"/>
                <a:ea typeface="Cambria" pitchFamily="34" charset="-122"/>
                <a:cs typeface="Cambria" pitchFamily="34" charset="-120"/>
              </a:rPr>
              <a:t>How we built it</a:t>
            </a:r>
            <a:endParaRPr lang="en-US" sz="28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Shape 3"/>
          <p:cNvSpPr/>
          <p:nvPr/>
        </p:nvSpPr>
        <p:spPr>
          <a:xfrm>
            <a:off x="548640" y="2331720"/>
            <a:ext cx="8046720" cy="0"/>
          </a:xfrm>
          <a:prstGeom prst="line">
            <a:avLst/>
          </a:prstGeom>
          <a:noFill/>
          <a:ln w="15875">
            <a:solidFill>
              <a:srgbClr val="DCD8CC"/>
            </a:solidFill>
            <a:prstDash val="solid"/>
          </a:ln>
        </p:spPr>
      </p:sp>
      <p:sp>
        <p:nvSpPr>
          <p:cNvPr id="6" name="Shape 4"/>
          <p:cNvSpPr/>
          <p:nvPr/>
        </p:nvSpPr>
        <p:spPr>
          <a:xfrm>
            <a:off x="1155192" y="2267712"/>
            <a:ext cx="128016" cy="128016"/>
          </a:xfrm>
          <a:prstGeom prst="ellipse">
            <a:avLst/>
          </a:prstGeom>
          <a:solidFill>
            <a:srgbClr val="C2410C"/>
          </a:solidFill>
          <a:ln w="22225">
            <a:solidFill>
              <a:srgbClr val="C2410C"/>
            </a:solidFill>
            <a:prstDash val="solid"/>
          </a:ln>
        </p:spPr>
      </p:sp>
      <p:sp>
        <p:nvSpPr>
          <p:cNvPr id="7" name="Text 5"/>
          <p:cNvSpPr/>
          <p:nvPr/>
        </p:nvSpPr>
        <p:spPr>
          <a:xfrm>
            <a:off x="54864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1</a:t>
            </a:r>
            <a:endParaRPr lang="en-US" sz="1900" dirty="0"/>
          </a:p>
        </p:txBody>
      </p:sp>
      <p:sp>
        <p:nvSpPr>
          <p:cNvPr id="8" name="Text 6"/>
          <p:cNvSpPr/>
          <p:nvPr/>
        </p:nvSpPr>
        <p:spPr>
          <a:xfrm>
            <a:off x="41148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Collect</a:t>
            </a:r>
            <a:endParaRPr lang="en-US" sz="1250" dirty="0"/>
          </a:p>
        </p:txBody>
      </p:sp>
      <p:sp>
        <p:nvSpPr>
          <p:cNvPr id="9" name="Text 7"/>
          <p:cNvSpPr/>
          <p:nvPr/>
        </p:nvSpPr>
        <p:spPr>
          <a:xfrm>
            <a:off x="41148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4 Kaggle datasets</a:t>
            </a:r>
            <a:endParaRPr lang="en-US" sz="950" dirty="0"/>
          </a:p>
        </p:txBody>
      </p:sp>
      <p:sp>
        <p:nvSpPr>
          <p:cNvPr id="10" name="Shape 8"/>
          <p:cNvSpPr/>
          <p:nvPr/>
        </p:nvSpPr>
        <p:spPr>
          <a:xfrm>
            <a:off x="2496312" y="2267712"/>
            <a:ext cx="128016" cy="128016"/>
          </a:xfrm>
          <a:prstGeom prst="ellipse">
            <a:avLst/>
          </a:prstGeom>
          <a:solidFill>
            <a:srgbClr val="FAFAF8"/>
          </a:solidFill>
          <a:ln w="22225">
            <a:solidFill>
              <a:srgbClr val="C2410C"/>
            </a:solidFill>
            <a:prstDash val="solid"/>
          </a:ln>
        </p:spPr>
      </p:sp>
      <p:sp>
        <p:nvSpPr>
          <p:cNvPr id="11" name="Text 9"/>
          <p:cNvSpPr/>
          <p:nvPr/>
        </p:nvSpPr>
        <p:spPr>
          <a:xfrm>
            <a:off x="188976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2</a:t>
            </a:r>
            <a:endParaRPr lang="en-US" sz="1900" dirty="0"/>
          </a:p>
        </p:txBody>
      </p:sp>
      <p:sp>
        <p:nvSpPr>
          <p:cNvPr id="12" name="Text 10"/>
          <p:cNvSpPr/>
          <p:nvPr/>
        </p:nvSpPr>
        <p:spPr>
          <a:xfrm>
            <a:off x="175260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Clean &amp; merge</a:t>
            </a:r>
            <a:endParaRPr lang="en-US" sz="1250" dirty="0"/>
          </a:p>
        </p:txBody>
      </p:sp>
      <p:sp>
        <p:nvSpPr>
          <p:cNvPr id="13" name="Text 11"/>
          <p:cNvSpPr/>
          <p:nvPr/>
        </p:nvSpPr>
        <p:spPr>
          <a:xfrm>
            <a:off x="175260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Joined on IMDb ID</a:t>
            </a:r>
            <a:endParaRPr lang="en-US" sz="950" dirty="0"/>
          </a:p>
        </p:txBody>
      </p:sp>
      <p:sp>
        <p:nvSpPr>
          <p:cNvPr id="14" name="Shape 12"/>
          <p:cNvSpPr/>
          <p:nvPr/>
        </p:nvSpPr>
        <p:spPr>
          <a:xfrm>
            <a:off x="3837432" y="2267712"/>
            <a:ext cx="128016" cy="128016"/>
          </a:xfrm>
          <a:prstGeom prst="ellipse">
            <a:avLst/>
          </a:prstGeom>
          <a:solidFill>
            <a:srgbClr val="FAFAF8"/>
          </a:solidFill>
          <a:ln w="22225">
            <a:solidFill>
              <a:srgbClr val="C2410C"/>
            </a:solidFill>
            <a:prstDash val="solid"/>
          </a:ln>
        </p:spPr>
      </p:sp>
      <p:sp>
        <p:nvSpPr>
          <p:cNvPr id="15" name="Text 13"/>
          <p:cNvSpPr/>
          <p:nvPr/>
        </p:nvSpPr>
        <p:spPr>
          <a:xfrm>
            <a:off x="323088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3</a:t>
            </a:r>
            <a:endParaRPr lang="en-US" sz="1900" dirty="0"/>
          </a:p>
        </p:txBody>
      </p:sp>
      <p:sp>
        <p:nvSpPr>
          <p:cNvPr id="16" name="Text 14"/>
          <p:cNvSpPr/>
          <p:nvPr/>
        </p:nvSpPr>
        <p:spPr>
          <a:xfrm>
            <a:off x="309372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Explore</a:t>
            </a:r>
            <a:endParaRPr lang="en-US" sz="1250" dirty="0"/>
          </a:p>
        </p:txBody>
      </p:sp>
      <p:sp>
        <p:nvSpPr>
          <p:cNvPr id="17" name="Text 15"/>
          <p:cNvSpPr/>
          <p:nvPr/>
        </p:nvSpPr>
        <p:spPr>
          <a:xfrm>
            <a:off x="309372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Correlations, ROI, trends</a:t>
            </a:r>
            <a:endParaRPr lang="en-US" sz="950" dirty="0"/>
          </a:p>
        </p:txBody>
      </p:sp>
      <p:sp>
        <p:nvSpPr>
          <p:cNvPr id="18" name="Shape 16"/>
          <p:cNvSpPr/>
          <p:nvPr/>
        </p:nvSpPr>
        <p:spPr>
          <a:xfrm>
            <a:off x="5178552" y="2267712"/>
            <a:ext cx="128016" cy="128016"/>
          </a:xfrm>
          <a:prstGeom prst="ellipse">
            <a:avLst/>
          </a:prstGeom>
          <a:solidFill>
            <a:srgbClr val="FAFAF8"/>
          </a:solidFill>
          <a:ln w="22225">
            <a:solidFill>
              <a:srgbClr val="C2410C"/>
            </a:solidFill>
            <a:prstDash val="solid"/>
          </a:ln>
        </p:spPr>
      </p:sp>
      <p:sp>
        <p:nvSpPr>
          <p:cNvPr id="19" name="Text 17"/>
          <p:cNvSpPr/>
          <p:nvPr/>
        </p:nvSpPr>
        <p:spPr>
          <a:xfrm>
            <a:off x="457200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4</a:t>
            </a:r>
            <a:endParaRPr lang="en-US" sz="1900" dirty="0"/>
          </a:p>
        </p:txBody>
      </p:sp>
      <p:sp>
        <p:nvSpPr>
          <p:cNvPr id="20" name="Text 18"/>
          <p:cNvSpPr/>
          <p:nvPr/>
        </p:nvSpPr>
        <p:spPr>
          <a:xfrm>
            <a:off x="443484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Engineer</a:t>
            </a:r>
            <a:endParaRPr lang="en-US" sz="1250" dirty="0"/>
          </a:p>
        </p:txBody>
      </p:sp>
      <p:sp>
        <p:nvSpPr>
          <p:cNvPr id="21" name="Text 19"/>
          <p:cNvSpPr/>
          <p:nvPr/>
        </p:nvSpPr>
        <p:spPr>
          <a:xfrm>
            <a:off x="443484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Genre, tier, decade</a:t>
            </a:r>
            <a:endParaRPr lang="en-US" sz="950" dirty="0"/>
          </a:p>
        </p:txBody>
      </p:sp>
      <p:sp>
        <p:nvSpPr>
          <p:cNvPr id="22" name="Shape 20"/>
          <p:cNvSpPr/>
          <p:nvPr/>
        </p:nvSpPr>
        <p:spPr>
          <a:xfrm>
            <a:off x="6519672" y="2267712"/>
            <a:ext cx="128016" cy="128016"/>
          </a:xfrm>
          <a:prstGeom prst="ellipse">
            <a:avLst/>
          </a:prstGeom>
          <a:solidFill>
            <a:srgbClr val="FAFAF8"/>
          </a:solidFill>
          <a:ln w="22225">
            <a:solidFill>
              <a:srgbClr val="C2410C"/>
            </a:solidFill>
            <a:prstDash val="solid"/>
          </a:ln>
        </p:spPr>
      </p:sp>
      <p:sp>
        <p:nvSpPr>
          <p:cNvPr id="23" name="Text 21"/>
          <p:cNvSpPr/>
          <p:nvPr/>
        </p:nvSpPr>
        <p:spPr>
          <a:xfrm>
            <a:off x="591312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5</a:t>
            </a:r>
            <a:endParaRPr lang="en-US" sz="1900" dirty="0"/>
          </a:p>
        </p:txBody>
      </p:sp>
      <p:sp>
        <p:nvSpPr>
          <p:cNvPr id="24" name="Text 22"/>
          <p:cNvSpPr/>
          <p:nvPr/>
        </p:nvSpPr>
        <p:spPr>
          <a:xfrm>
            <a:off x="577596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Model</a:t>
            </a:r>
            <a:endParaRPr lang="en-US" sz="1250" dirty="0"/>
          </a:p>
        </p:txBody>
      </p:sp>
      <p:sp>
        <p:nvSpPr>
          <p:cNvPr id="25" name="Text 23"/>
          <p:cNvSpPr/>
          <p:nvPr/>
        </p:nvSpPr>
        <p:spPr>
          <a:xfrm>
            <a:off x="577596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Regression + classification</a:t>
            </a:r>
            <a:endParaRPr lang="en-US" sz="950" dirty="0"/>
          </a:p>
        </p:txBody>
      </p:sp>
      <p:sp>
        <p:nvSpPr>
          <p:cNvPr id="26" name="Shape 24"/>
          <p:cNvSpPr/>
          <p:nvPr/>
        </p:nvSpPr>
        <p:spPr>
          <a:xfrm>
            <a:off x="7860792" y="2267712"/>
            <a:ext cx="128016" cy="128016"/>
          </a:xfrm>
          <a:prstGeom prst="ellipse">
            <a:avLst/>
          </a:prstGeom>
          <a:solidFill>
            <a:srgbClr val="FAFAF8"/>
          </a:solidFill>
          <a:ln w="22225">
            <a:solidFill>
              <a:srgbClr val="C2410C"/>
            </a:solidFill>
            <a:prstDash val="solid"/>
          </a:ln>
        </p:spPr>
      </p:sp>
      <p:sp>
        <p:nvSpPr>
          <p:cNvPr id="27" name="Text 25"/>
          <p:cNvSpPr/>
          <p:nvPr/>
        </p:nvSpPr>
        <p:spPr>
          <a:xfrm>
            <a:off x="7254240" y="1554480"/>
            <a:ext cx="1341120" cy="365760"/>
          </a:xfrm>
          <a:prstGeom prst="rect">
            <a:avLst/>
          </a:prstGeom>
          <a:noFill/>
          <a:ln/>
        </p:spPr>
        <p:txBody>
          <a:bodyPr wrap="square" rtlCol="0" anchor="ctr"/>
          <a:lstStyle/>
          <a:p>
            <a:pPr marL="0" indent="0" algn="ctr">
              <a:buNone/>
            </a:pPr>
            <a:r>
              <a:rPr lang="en-US" sz="1900" dirty="0">
                <a:solidFill>
                  <a:srgbClr val="C2410C"/>
                </a:solidFill>
                <a:latin typeface="Cambria" pitchFamily="34" charset="0"/>
                <a:ea typeface="Cambria" pitchFamily="34" charset="-122"/>
                <a:cs typeface="Cambria" pitchFamily="34" charset="-120"/>
              </a:rPr>
              <a:t>6</a:t>
            </a:r>
            <a:endParaRPr lang="en-US" sz="1900" dirty="0"/>
          </a:p>
        </p:txBody>
      </p:sp>
      <p:sp>
        <p:nvSpPr>
          <p:cNvPr id="28" name="Text 26"/>
          <p:cNvSpPr/>
          <p:nvPr/>
        </p:nvSpPr>
        <p:spPr>
          <a:xfrm>
            <a:off x="7117080" y="2532888"/>
            <a:ext cx="1615440" cy="365760"/>
          </a:xfrm>
          <a:prstGeom prst="rect">
            <a:avLst/>
          </a:prstGeom>
          <a:noFill/>
          <a:ln/>
        </p:spPr>
        <p:txBody>
          <a:bodyPr wrap="square" rtlCol="0" anchor="ctr"/>
          <a:lstStyle/>
          <a:p>
            <a:pPr marL="0" indent="0" algn="ctr">
              <a:buNone/>
            </a:pPr>
            <a:r>
              <a:rPr lang="en-US" sz="1250" b="1" dirty="0">
                <a:solidFill>
                  <a:srgbClr val="0E1B2C"/>
                </a:solidFill>
                <a:latin typeface="Calibri" pitchFamily="34" charset="0"/>
                <a:ea typeface="Calibri" pitchFamily="34" charset="-122"/>
                <a:cs typeface="Calibri" pitchFamily="34" charset="-120"/>
              </a:rPr>
              <a:t>Report</a:t>
            </a:r>
            <a:endParaRPr lang="en-US" sz="1250" dirty="0"/>
          </a:p>
        </p:txBody>
      </p:sp>
      <p:sp>
        <p:nvSpPr>
          <p:cNvPr id="29" name="Text 27"/>
          <p:cNvSpPr/>
          <p:nvPr/>
        </p:nvSpPr>
        <p:spPr>
          <a:xfrm>
            <a:off x="7117080" y="2898648"/>
            <a:ext cx="1615440" cy="685800"/>
          </a:xfrm>
          <a:prstGeom prst="rect">
            <a:avLst/>
          </a:prstGeom>
          <a:noFill/>
          <a:ln/>
        </p:spPr>
        <p:txBody>
          <a:bodyPr wrap="square" rtlCol="0" anchor="ctr"/>
          <a:lstStyle/>
          <a:p>
            <a:pPr marL="0" indent="0" algn="ctr">
              <a:lnSpc>
                <a:spcPct val="115000"/>
              </a:lnSpc>
              <a:buNone/>
            </a:pPr>
            <a:r>
              <a:rPr lang="en-US" sz="950" dirty="0">
                <a:solidFill>
                  <a:srgbClr val="5A6472"/>
                </a:solidFill>
                <a:latin typeface="Calibri" pitchFamily="34" charset="0"/>
                <a:ea typeface="Calibri" pitchFamily="34" charset="-122"/>
                <a:cs typeface="Calibri" pitchFamily="34" charset="-120"/>
              </a:rPr>
              <a:t>Dashboard + write-up</a:t>
            </a:r>
            <a:endParaRPr lang="en-US" sz="950" dirty="0"/>
          </a:p>
        </p:txBody>
      </p:sp>
      <p:sp>
        <p:nvSpPr>
          <p:cNvPr id="30" name="Text 28"/>
          <p:cNvSpPr/>
          <p:nvPr/>
        </p:nvSpPr>
        <p:spPr>
          <a:xfrm>
            <a:off x="548640" y="4343400"/>
            <a:ext cx="8046720" cy="274320"/>
          </a:xfrm>
          <a:prstGeom prst="rect">
            <a:avLst/>
          </a:prstGeom>
          <a:noFill/>
          <a:ln/>
        </p:spPr>
        <p:txBody>
          <a:bodyPr wrap="square"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Built with Python, scikit-learn, Streamlit, and tracked end to end on GitHub.</a:t>
            </a:r>
            <a:endParaRPr lang="en-US" sz="1100" dirty="0"/>
          </a:p>
        </p:txBody>
      </p:sp>
      <p:sp>
        <p:nvSpPr>
          <p:cNvPr id="31" name="Text 29"/>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METHOD, IN FULL</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700" dirty="0">
                <a:solidFill>
                  <a:srgbClr val="0E1B2C"/>
                </a:solidFill>
                <a:latin typeface="Cambria" pitchFamily="34" charset="0"/>
                <a:ea typeface="Cambria" pitchFamily="34" charset="-122"/>
                <a:cs typeface="Cambria" pitchFamily="34" charset="-120"/>
              </a:rPr>
              <a:t>System workflow</a:t>
            </a:r>
            <a:endParaRPr lang="en-US" sz="27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Shape 3"/>
          <p:cNvSpPr/>
          <p:nvPr/>
        </p:nvSpPr>
        <p:spPr>
          <a:xfrm>
            <a:off x="548640" y="1417320"/>
            <a:ext cx="1444752" cy="1124712"/>
          </a:xfrm>
          <a:prstGeom prst="rect">
            <a:avLst/>
          </a:prstGeom>
          <a:solidFill>
            <a:srgbClr val="F1EEE6"/>
          </a:solidFill>
          <a:ln/>
        </p:spPr>
      </p:sp>
      <p:sp>
        <p:nvSpPr>
          <p:cNvPr id="6" name="Shape 4"/>
          <p:cNvSpPr/>
          <p:nvPr/>
        </p:nvSpPr>
        <p:spPr>
          <a:xfrm>
            <a:off x="548640" y="1417320"/>
            <a:ext cx="45720" cy="1124712"/>
          </a:xfrm>
          <a:prstGeom prst="rect">
            <a:avLst/>
          </a:prstGeom>
          <a:solidFill>
            <a:srgbClr val="C2410C"/>
          </a:solidFill>
          <a:ln/>
        </p:spPr>
      </p:sp>
      <p:sp>
        <p:nvSpPr>
          <p:cNvPr id="7" name="Text 5"/>
          <p:cNvSpPr/>
          <p:nvPr/>
        </p:nvSpPr>
        <p:spPr>
          <a:xfrm>
            <a:off x="676656" y="149047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676656" y="178308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Data collection</a:t>
            </a:r>
            <a:endParaRPr lang="en-US" sz="1050" dirty="0"/>
          </a:p>
        </p:txBody>
      </p:sp>
      <p:sp>
        <p:nvSpPr>
          <p:cNvPr id="9" name="Text 7"/>
          <p:cNvSpPr/>
          <p:nvPr/>
        </p:nvSpPr>
        <p:spPr>
          <a:xfrm>
            <a:off x="676656" y="216712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Kaggle CSV / TSV downloads</a:t>
            </a:r>
            <a:endParaRPr lang="en-US" sz="850" dirty="0"/>
          </a:p>
        </p:txBody>
      </p:sp>
      <p:sp>
        <p:nvSpPr>
          <p:cNvPr id="10" name="Text 8"/>
          <p:cNvSpPr/>
          <p:nvPr/>
        </p:nvSpPr>
        <p:spPr>
          <a:xfrm>
            <a:off x="1993392" y="185166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157984" y="1417320"/>
            <a:ext cx="1444752" cy="1124712"/>
          </a:xfrm>
          <a:prstGeom prst="rect">
            <a:avLst/>
          </a:prstGeom>
          <a:solidFill>
            <a:srgbClr val="F1EEE6"/>
          </a:solidFill>
          <a:ln/>
        </p:spPr>
      </p:sp>
      <p:sp>
        <p:nvSpPr>
          <p:cNvPr id="12" name="Shape 10"/>
          <p:cNvSpPr/>
          <p:nvPr/>
        </p:nvSpPr>
        <p:spPr>
          <a:xfrm>
            <a:off x="2157984" y="1417320"/>
            <a:ext cx="45720" cy="1124712"/>
          </a:xfrm>
          <a:prstGeom prst="rect">
            <a:avLst/>
          </a:prstGeom>
          <a:solidFill>
            <a:srgbClr val="C2410C"/>
          </a:solidFill>
          <a:ln/>
        </p:spPr>
      </p:sp>
      <p:sp>
        <p:nvSpPr>
          <p:cNvPr id="13" name="Text 11"/>
          <p:cNvSpPr/>
          <p:nvPr/>
        </p:nvSpPr>
        <p:spPr>
          <a:xfrm>
            <a:off x="2286000" y="149047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2286000" y="178308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Raw storage</a:t>
            </a:r>
            <a:endParaRPr lang="en-US" sz="1050" dirty="0"/>
          </a:p>
        </p:txBody>
      </p:sp>
      <p:sp>
        <p:nvSpPr>
          <p:cNvPr id="15" name="Text 13"/>
          <p:cNvSpPr/>
          <p:nvPr/>
        </p:nvSpPr>
        <p:spPr>
          <a:xfrm>
            <a:off x="2286000" y="216712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Kept in Data/raw</a:t>
            </a:r>
            <a:endParaRPr lang="en-US" sz="850" dirty="0"/>
          </a:p>
        </p:txBody>
      </p:sp>
      <p:sp>
        <p:nvSpPr>
          <p:cNvPr id="16" name="Text 14"/>
          <p:cNvSpPr/>
          <p:nvPr/>
        </p:nvSpPr>
        <p:spPr>
          <a:xfrm>
            <a:off x="3602736" y="185166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3767328" y="1417320"/>
            <a:ext cx="1444752" cy="1124712"/>
          </a:xfrm>
          <a:prstGeom prst="rect">
            <a:avLst/>
          </a:prstGeom>
          <a:solidFill>
            <a:srgbClr val="F1EEE6"/>
          </a:solidFill>
          <a:ln/>
        </p:spPr>
      </p:sp>
      <p:sp>
        <p:nvSpPr>
          <p:cNvPr id="18" name="Shape 16"/>
          <p:cNvSpPr/>
          <p:nvPr/>
        </p:nvSpPr>
        <p:spPr>
          <a:xfrm>
            <a:off x="3767328" y="1417320"/>
            <a:ext cx="45720" cy="1124712"/>
          </a:xfrm>
          <a:prstGeom prst="rect">
            <a:avLst/>
          </a:prstGeom>
          <a:solidFill>
            <a:srgbClr val="C2410C"/>
          </a:solidFill>
          <a:ln/>
        </p:spPr>
      </p:sp>
      <p:sp>
        <p:nvSpPr>
          <p:cNvPr id="19" name="Text 17"/>
          <p:cNvSpPr/>
          <p:nvPr/>
        </p:nvSpPr>
        <p:spPr>
          <a:xfrm>
            <a:off x="3895344" y="149047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3895344" y="178308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Cleaning &amp; merging</a:t>
            </a:r>
            <a:endParaRPr lang="en-US" sz="1050" dirty="0"/>
          </a:p>
        </p:txBody>
      </p:sp>
      <p:sp>
        <p:nvSpPr>
          <p:cNvPr id="21" name="Text 19"/>
          <p:cNvSpPr/>
          <p:nvPr/>
        </p:nvSpPr>
        <p:spPr>
          <a:xfrm>
            <a:off x="3895344" y="216712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Handle missing values, merge on IMDb ID</a:t>
            </a:r>
            <a:endParaRPr lang="en-US" sz="850" dirty="0"/>
          </a:p>
        </p:txBody>
      </p:sp>
      <p:sp>
        <p:nvSpPr>
          <p:cNvPr id="22" name="Text 20"/>
          <p:cNvSpPr/>
          <p:nvPr/>
        </p:nvSpPr>
        <p:spPr>
          <a:xfrm>
            <a:off x="5212080" y="185166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5376672" y="1417320"/>
            <a:ext cx="1444752" cy="1124712"/>
          </a:xfrm>
          <a:prstGeom prst="rect">
            <a:avLst/>
          </a:prstGeom>
          <a:solidFill>
            <a:srgbClr val="F1EEE6"/>
          </a:solidFill>
          <a:ln/>
        </p:spPr>
      </p:sp>
      <p:sp>
        <p:nvSpPr>
          <p:cNvPr id="24" name="Shape 22"/>
          <p:cNvSpPr/>
          <p:nvPr/>
        </p:nvSpPr>
        <p:spPr>
          <a:xfrm>
            <a:off x="5376672" y="1417320"/>
            <a:ext cx="45720" cy="1124712"/>
          </a:xfrm>
          <a:prstGeom prst="rect">
            <a:avLst/>
          </a:prstGeom>
          <a:solidFill>
            <a:srgbClr val="C2410C"/>
          </a:solidFill>
          <a:ln/>
        </p:spPr>
      </p:sp>
      <p:sp>
        <p:nvSpPr>
          <p:cNvPr id="25" name="Text 23"/>
          <p:cNvSpPr/>
          <p:nvPr/>
        </p:nvSpPr>
        <p:spPr>
          <a:xfrm>
            <a:off x="5504688" y="149047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4</a:t>
            </a:r>
            <a:endParaRPr lang="en-US" sz="1500" dirty="0"/>
          </a:p>
        </p:txBody>
      </p:sp>
      <p:sp>
        <p:nvSpPr>
          <p:cNvPr id="26" name="Text 24"/>
          <p:cNvSpPr/>
          <p:nvPr/>
        </p:nvSpPr>
        <p:spPr>
          <a:xfrm>
            <a:off x="5504688" y="178308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Processed dataset</a:t>
            </a:r>
            <a:endParaRPr lang="en-US" sz="1050" dirty="0"/>
          </a:p>
        </p:txBody>
      </p:sp>
      <p:sp>
        <p:nvSpPr>
          <p:cNvPr id="27" name="Text 25"/>
          <p:cNvSpPr/>
          <p:nvPr/>
        </p:nvSpPr>
        <p:spPr>
          <a:xfrm>
            <a:off x="5504688" y="216712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5,381 films, ready for analysis</a:t>
            </a:r>
            <a:endParaRPr lang="en-US" sz="850" dirty="0"/>
          </a:p>
        </p:txBody>
      </p:sp>
      <p:sp>
        <p:nvSpPr>
          <p:cNvPr id="28" name="Text 26"/>
          <p:cNvSpPr/>
          <p:nvPr/>
        </p:nvSpPr>
        <p:spPr>
          <a:xfrm>
            <a:off x="6821424" y="185166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6986016" y="1417320"/>
            <a:ext cx="1444752" cy="1124712"/>
          </a:xfrm>
          <a:prstGeom prst="rect">
            <a:avLst/>
          </a:prstGeom>
          <a:solidFill>
            <a:srgbClr val="F1EEE6"/>
          </a:solidFill>
          <a:ln/>
        </p:spPr>
      </p:sp>
      <p:sp>
        <p:nvSpPr>
          <p:cNvPr id="30" name="Shape 28"/>
          <p:cNvSpPr/>
          <p:nvPr/>
        </p:nvSpPr>
        <p:spPr>
          <a:xfrm>
            <a:off x="6986016" y="1417320"/>
            <a:ext cx="45720" cy="1124712"/>
          </a:xfrm>
          <a:prstGeom prst="rect">
            <a:avLst/>
          </a:prstGeom>
          <a:solidFill>
            <a:srgbClr val="C2410C"/>
          </a:solidFill>
          <a:ln/>
        </p:spPr>
      </p:sp>
      <p:sp>
        <p:nvSpPr>
          <p:cNvPr id="31" name="Text 29"/>
          <p:cNvSpPr/>
          <p:nvPr/>
        </p:nvSpPr>
        <p:spPr>
          <a:xfrm>
            <a:off x="7114032" y="149047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5</a:t>
            </a:r>
            <a:endParaRPr lang="en-US" sz="1500" dirty="0"/>
          </a:p>
        </p:txBody>
      </p:sp>
      <p:sp>
        <p:nvSpPr>
          <p:cNvPr id="32" name="Text 30"/>
          <p:cNvSpPr/>
          <p:nvPr/>
        </p:nvSpPr>
        <p:spPr>
          <a:xfrm>
            <a:off x="7114032" y="178308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Exploratory analysis</a:t>
            </a:r>
            <a:endParaRPr lang="en-US" sz="1050" dirty="0"/>
          </a:p>
        </p:txBody>
      </p:sp>
      <p:sp>
        <p:nvSpPr>
          <p:cNvPr id="33" name="Text 31"/>
          <p:cNvSpPr/>
          <p:nvPr/>
        </p:nvSpPr>
        <p:spPr>
          <a:xfrm>
            <a:off x="7114032" y="216712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Budget, revenue, ratings, ROI, trends</a:t>
            </a:r>
            <a:endParaRPr lang="en-US" sz="850" dirty="0"/>
          </a:p>
        </p:txBody>
      </p:sp>
      <p:sp>
        <p:nvSpPr>
          <p:cNvPr id="34" name="Shape 32"/>
          <p:cNvSpPr/>
          <p:nvPr/>
        </p:nvSpPr>
        <p:spPr>
          <a:xfrm>
            <a:off x="548640" y="2743200"/>
            <a:ext cx="1444752" cy="1124712"/>
          </a:xfrm>
          <a:prstGeom prst="rect">
            <a:avLst/>
          </a:prstGeom>
          <a:solidFill>
            <a:srgbClr val="F1EEE6"/>
          </a:solidFill>
          <a:ln/>
        </p:spPr>
      </p:sp>
      <p:sp>
        <p:nvSpPr>
          <p:cNvPr id="35" name="Shape 33"/>
          <p:cNvSpPr/>
          <p:nvPr/>
        </p:nvSpPr>
        <p:spPr>
          <a:xfrm>
            <a:off x="548640" y="2743200"/>
            <a:ext cx="45720" cy="1124712"/>
          </a:xfrm>
          <a:prstGeom prst="rect">
            <a:avLst/>
          </a:prstGeom>
          <a:solidFill>
            <a:srgbClr val="C2410C"/>
          </a:solidFill>
          <a:ln/>
        </p:spPr>
      </p:sp>
      <p:sp>
        <p:nvSpPr>
          <p:cNvPr id="36" name="Text 34"/>
          <p:cNvSpPr/>
          <p:nvPr/>
        </p:nvSpPr>
        <p:spPr>
          <a:xfrm>
            <a:off x="676656" y="281635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6</a:t>
            </a:r>
            <a:endParaRPr lang="en-US" sz="1500" dirty="0"/>
          </a:p>
        </p:txBody>
      </p:sp>
      <p:sp>
        <p:nvSpPr>
          <p:cNvPr id="37" name="Text 35"/>
          <p:cNvSpPr/>
          <p:nvPr/>
        </p:nvSpPr>
        <p:spPr>
          <a:xfrm>
            <a:off x="676656" y="310896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Feature engineering</a:t>
            </a:r>
            <a:endParaRPr lang="en-US" sz="1050" dirty="0"/>
          </a:p>
        </p:txBody>
      </p:sp>
      <p:sp>
        <p:nvSpPr>
          <p:cNvPr id="38" name="Text 36"/>
          <p:cNvSpPr/>
          <p:nvPr/>
        </p:nvSpPr>
        <p:spPr>
          <a:xfrm>
            <a:off x="676656" y="349300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Genre, budget tier, decade, encodings</a:t>
            </a:r>
            <a:endParaRPr lang="en-US" sz="850" dirty="0"/>
          </a:p>
        </p:txBody>
      </p:sp>
      <p:sp>
        <p:nvSpPr>
          <p:cNvPr id="39" name="Text 37"/>
          <p:cNvSpPr/>
          <p:nvPr/>
        </p:nvSpPr>
        <p:spPr>
          <a:xfrm>
            <a:off x="1993392" y="317754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2157984" y="2743200"/>
            <a:ext cx="1444752" cy="1124712"/>
          </a:xfrm>
          <a:prstGeom prst="rect">
            <a:avLst/>
          </a:prstGeom>
          <a:solidFill>
            <a:srgbClr val="F1EEE6"/>
          </a:solidFill>
          <a:ln/>
        </p:spPr>
      </p:sp>
      <p:sp>
        <p:nvSpPr>
          <p:cNvPr id="41" name="Shape 39"/>
          <p:cNvSpPr/>
          <p:nvPr/>
        </p:nvSpPr>
        <p:spPr>
          <a:xfrm>
            <a:off x="2157984" y="2743200"/>
            <a:ext cx="45720" cy="1124712"/>
          </a:xfrm>
          <a:prstGeom prst="rect">
            <a:avLst/>
          </a:prstGeom>
          <a:solidFill>
            <a:srgbClr val="C2410C"/>
          </a:solidFill>
          <a:ln/>
        </p:spPr>
      </p:sp>
      <p:sp>
        <p:nvSpPr>
          <p:cNvPr id="42" name="Text 40"/>
          <p:cNvSpPr/>
          <p:nvPr/>
        </p:nvSpPr>
        <p:spPr>
          <a:xfrm>
            <a:off x="2286000" y="281635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7</a:t>
            </a:r>
            <a:endParaRPr lang="en-US" sz="1500" dirty="0"/>
          </a:p>
        </p:txBody>
      </p:sp>
      <p:sp>
        <p:nvSpPr>
          <p:cNvPr id="43" name="Text 41"/>
          <p:cNvSpPr/>
          <p:nvPr/>
        </p:nvSpPr>
        <p:spPr>
          <a:xfrm>
            <a:off x="2286000" y="310896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ML modeling</a:t>
            </a:r>
            <a:endParaRPr lang="en-US" sz="1050" dirty="0"/>
          </a:p>
        </p:txBody>
      </p:sp>
      <p:sp>
        <p:nvSpPr>
          <p:cNvPr id="44" name="Text 42"/>
          <p:cNvSpPr/>
          <p:nvPr/>
        </p:nvSpPr>
        <p:spPr>
          <a:xfrm>
            <a:off x="2286000" y="349300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Regression and classification</a:t>
            </a:r>
            <a:endParaRPr lang="en-US" sz="850" dirty="0"/>
          </a:p>
        </p:txBody>
      </p:sp>
      <p:sp>
        <p:nvSpPr>
          <p:cNvPr id="45" name="Text 43"/>
          <p:cNvSpPr/>
          <p:nvPr/>
        </p:nvSpPr>
        <p:spPr>
          <a:xfrm>
            <a:off x="3602736" y="317754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46" name="Shape 44"/>
          <p:cNvSpPr/>
          <p:nvPr/>
        </p:nvSpPr>
        <p:spPr>
          <a:xfrm>
            <a:off x="3767328" y="2743200"/>
            <a:ext cx="1444752" cy="1124712"/>
          </a:xfrm>
          <a:prstGeom prst="rect">
            <a:avLst/>
          </a:prstGeom>
          <a:solidFill>
            <a:srgbClr val="F1EEE6"/>
          </a:solidFill>
          <a:ln/>
        </p:spPr>
      </p:sp>
      <p:sp>
        <p:nvSpPr>
          <p:cNvPr id="47" name="Shape 45"/>
          <p:cNvSpPr/>
          <p:nvPr/>
        </p:nvSpPr>
        <p:spPr>
          <a:xfrm>
            <a:off x="3767328" y="2743200"/>
            <a:ext cx="45720" cy="1124712"/>
          </a:xfrm>
          <a:prstGeom prst="rect">
            <a:avLst/>
          </a:prstGeom>
          <a:solidFill>
            <a:srgbClr val="C2410C"/>
          </a:solidFill>
          <a:ln/>
        </p:spPr>
      </p:sp>
      <p:sp>
        <p:nvSpPr>
          <p:cNvPr id="48" name="Text 46"/>
          <p:cNvSpPr/>
          <p:nvPr/>
        </p:nvSpPr>
        <p:spPr>
          <a:xfrm>
            <a:off x="3895344" y="281635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8</a:t>
            </a:r>
            <a:endParaRPr lang="en-US" sz="1500" dirty="0"/>
          </a:p>
        </p:txBody>
      </p:sp>
      <p:sp>
        <p:nvSpPr>
          <p:cNvPr id="49" name="Text 47"/>
          <p:cNvSpPr/>
          <p:nvPr/>
        </p:nvSpPr>
        <p:spPr>
          <a:xfrm>
            <a:off x="3895344" y="310896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Model evaluation</a:t>
            </a:r>
            <a:endParaRPr lang="en-US" sz="1050" dirty="0"/>
          </a:p>
        </p:txBody>
      </p:sp>
      <p:sp>
        <p:nvSpPr>
          <p:cNvPr id="50" name="Text 48"/>
          <p:cNvSpPr/>
          <p:nvPr/>
        </p:nvSpPr>
        <p:spPr>
          <a:xfrm>
            <a:off x="3895344" y="349300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R-squared, MAE, accuracy, AUC-ROC</a:t>
            </a:r>
            <a:endParaRPr lang="en-US" sz="850" dirty="0"/>
          </a:p>
        </p:txBody>
      </p:sp>
      <p:sp>
        <p:nvSpPr>
          <p:cNvPr id="51" name="Text 49"/>
          <p:cNvSpPr/>
          <p:nvPr/>
        </p:nvSpPr>
        <p:spPr>
          <a:xfrm>
            <a:off x="5212080" y="317754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52" name="Shape 50"/>
          <p:cNvSpPr/>
          <p:nvPr/>
        </p:nvSpPr>
        <p:spPr>
          <a:xfrm>
            <a:off x="5376672" y="2743200"/>
            <a:ext cx="1444752" cy="1124712"/>
          </a:xfrm>
          <a:prstGeom prst="rect">
            <a:avLst/>
          </a:prstGeom>
          <a:solidFill>
            <a:srgbClr val="F1EEE6"/>
          </a:solidFill>
          <a:ln/>
        </p:spPr>
      </p:sp>
      <p:sp>
        <p:nvSpPr>
          <p:cNvPr id="53" name="Shape 51"/>
          <p:cNvSpPr/>
          <p:nvPr/>
        </p:nvSpPr>
        <p:spPr>
          <a:xfrm>
            <a:off x="5376672" y="2743200"/>
            <a:ext cx="45720" cy="1124712"/>
          </a:xfrm>
          <a:prstGeom prst="rect">
            <a:avLst/>
          </a:prstGeom>
          <a:solidFill>
            <a:srgbClr val="C2410C"/>
          </a:solidFill>
          <a:ln/>
        </p:spPr>
      </p:sp>
      <p:sp>
        <p:nvSpPr>
          <p:cNvPr id="54" name="Text 52"/>
          <p:cNvSpPr/>
          <p:nvPr/>
        </p:nvSpPr>
        <p:spPr>
          <a:xfrm>
            <a:off x="5504688" y="281635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9</a:t>
            </a:r>
            <a:endParaRPr lang="en-US" sz="1500" dirty="0"/>
          </a:p>
        </p:txBody>
      </p:sp>
      <p:sp>
        <p:nvSpPr>
          <p:cNvPr id="55" name="Text 53"/>
          <p:cNvSpPr/>
          <p:nvPr/>
        </p:nvSpPr>
        <p:spPr>
          <a:xfrm>
            <a:off x="5504688" y="310896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Dashboard &amp; visualization</a:t>
            </a:r>
            <a:endParaRPr lang="en-US" sz="1050" dirty="0"/>
          </a:p>
        </p:txBody>
      </p:sp>
      <p:sp>
        <p:nvSpPr>
          <p:cNvPr id="56" name="Text 54"/>
          <p:cNvSpPr/>
          <p:nvPr/>
        </p:nvSpPr>
        <p:spPr>
          <a:xfrm>
            <a:off x="5504688" y="349300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Streamlit app and exported charts</a:t>
            </a:r>
            <a:endParaRPr lang="en-US" sz="850" dirty="0"/>
          </a:p>
        </p:txBody>
      </p:sp>
      <p:sp>
        <p:nvSpPr>
          <p:cNvPr id="57" name="Text 55"/>
          <p:cNvSpPr/>
          <p:nvPr/>
        </p:nvSpPr>
        <p:spPr>
          <a:xfrm>
            <a:off x="6821424" y="3177540"/>
            <a:ext cx="164592" cy="256032"/>
          </a:xfrm>
          <a:prstGeom prst="rect">
            <a:avLst/>
          </a:prstGeom>
          <a:noFill/>
          <a:ln/>
        </p:spPr>
        <p:txBody>
          <a:bodyPr wrap="square" rtlCol="0" anchor="ctr"/>
          <a:lstStyle/>
          <a:p>
            <a:pPr marL="0" indent="0" algn="ctr">
              <a:buNone/>
            </a:pPr>
            <a:r>
              <a:rPr lang="en-US" sz="1200" dirty="0">
                <a:solidFill>
                  <a:srgbClr val="DCD8CC"/>
                </a:solidFill>
                <a:latin typeface="Calibri" pitchFamily="34" charset="0"/>
                <a:ea typeface="Calibri" pitchFamily="34" charset="-122"/>
                <a:cs typeface="Calibri" pitchFamily="34" charset="-120"/>
              </a:rPr>
              <a:t>→</a:t>
            </a:r>
            <a:endParaRPr lang="en-US" sz="1200" dirty="0"/>
          </a:p>
        </p:txBody>
      </p:sp>
      <p:sp>
        <p:nvSpPr>
          <p:cNvPr id="58" name="Shape 56"/>
          <p:cNvSpPr/>
          <p:nvPr/>
        </p:nvSpPr>
        <p:spPr>
          <a:xfrm>
            <a:off x="6986016" y="2743200"/>
            <a:ext cx="1444752" cy="1124712"/>
          </a:xfrm>
          <a:prstGeom prst="rect">
            <a:avLst/>
          </a:prstGeom>
          <a:solidFill>
            <a:srgbClr val="F1EEE6"/>
          </a:solidFill>
          <a:ln/>
        </p:spPr>
      </p:sp>
      <p:sp>
        <p:nvSpPr>
          <p:cNvPr id="59" name="Shape 57"/>
          <p:cNvSpPr/>
          <p:nvPr/>
        </p:nvSpPr>
        <p:spPr>
          <a:xfrm>
            <a:off x="6986016" y="2743200"/>
            <a:ext cx="45720" cy="1124712"/>
          </a:xfrm>
          <a:prstGeom prst="rect">
            <a:avLst/>
          </a:prstGeom>
          <a:solidFill>
            <a:srgbClr val="C2410C"/>
          </a:solidFill>
          <a:ln/>
        </p:spPr>
      </p:sp>
      <p:sp>
        <p:nvSpPr>
          <p:cNvPr id="60" name="Text 58"/>
          <p:cNvSpPr/>
          <p:nvPr/>
        </p:nvSpPr>
        <p:spPr>
          <a:xfrm>
            <a:off x="7114032" y="2816352"/>
            <a:ext cx="1225296" cy="292608"/>
          </a:xfrm>
          <a:prstGeom prst="rect">
            <a:avLst/>
          </a:prstGeom>
          <a:noFill/>
          <a:ln/>
        </p:spPr>
        <p:txBody>
          <a:bodyPr wrap="square" rtlCol="0" anchor="ctr"/>
          <a:lstStyle/>
          <a:p>
            <a:pPr marL="0" indent="0">
              <a:buNone/>
            </a:pPr>
            <a:r>
              <a:rPr lang="en-US" sz="1500" dirty="0">
                <a:solidFill>
                  <a:srgbClr val="C2410C"/>
                </a:solidFill>
                <a:latin typeface="Cambria" pitchFamily="34" charset="0"/>
                <a:ea typeface="Cambria" pitchFamily="34" charset="-122"/>
                <a:cs typeface="Cambria" pitchFamily="34" charset="-120"/>
              </a:rPr>
              <a:t>10</a:t>
            </a:r>
            <a:endParaRPr lang="en-US" sz="1500" dirty="0"/>
          </a:p>
        </p:txBody>
      </p:sp>
      <p:sp>
        <p:nvSpPr>
          <p:cNvPr id="61" name="Text 59"/>
          <p:cNvSpPr/>
          <p:nvPr/>
        </p:nvSpPr>
        <p:spPr>
          <a:xfrm>
            <a:off x="7114032" y="3108960"/>
            <a:ext cx="1225296" cy="384048"/>
          </a:xfrm>
          <a:prstGeom prst="rect">
            <a:avLst/>
          </a:prstGeom>
          <a:noFill/>
          <a:ln/>
        </p:spPr>
        <p:txBody>
          <a:bodyPr wrap="square" rtlCol="0" anchor="ctr"/>
          <a:lstStyle/>
          <a:p>
            <a:pPr marL="0" indent="0">
              <a:lnSpc>
                <a:spcPct val="105000"/>
              </a:lnSpc>
              <a:buNone/>
            </a:pPr>
            <a:r>
              <a:rPr lang="en-US" sz="1050" b="1" dirty="0">
                <a:solidFill>
                  <a:srgbClr val="0E1B2C"/>
                </a:solidFill>
                <a:latin typeface="Calibri" pitchFamily="34" charset="0"/>
                <a:ea typeface="Calibri" pitchFamily="34" charset="-122"/>
                <a:cs typeface="Calibri" pitchFamily="34" charset="-120"/>
              </a:rPr>
              <a:t>Reporting &amp; maintenance</a:t>
            </a:r>
            <a:endParaRPr lang="en-US" sz="1050" dirty="0"/>
          </a:p>
        </p:txBody>
      </p:sp>
      <p:sp>
        <p:nvSpPr>
          <p:cNvPr id="62" name="Text 60"/>
          <p:cNvSpPr/>
          <p:nvPr/>
        </p:nvSpPr>
        <p:spPr>
          <a:xfrm>
            <a:off x="7114032" y="3493008"/>
            <a:ext cx="1225296" cy="301752"/>
          </a:xfrm>
          <a:prstGeom prst="rect">
            <a:avLst/>
          </a:prstGeom>
          <a:noFill/>
          <a:ln/>
        </p:spPr>
        <p:txBody>
          <a:bodyPr wrap="square" rtlCol="0" anchor="ctr"/>
          <a:lstStyle/>
          <a:p>
            <a:pPr marL="0" indent="0">
              <a:lnSpc>
                <a:spcPct val="115000"/>
              </a:lnSpc>
              <a:buNone/>
            </a:pPr>
            <a:r>
              <a:rPr lang="en-US" sz="850" dirty="0">
                <a:solidFill>
                  <a:srgbClr val="5A6472"/>
                </a:solidFill>
                <a:latin typeface="Calibri" pitchFamily="34" charset="0"/>
                <a:ea typeface="Calibri" pitchFamily="34" charset="-122"/>
                <a:cs typeface="Calibri" pitchFamily="34" charset="-120"/>
              </a:rPr>
              <a:t>Final report, GitHub commits</a:t>
            </a:r>
            <a:endParaRPr lang="en-US" sz="850" dirty="0"/>
          </a:p>
        </p:txBody>
      </p:sp>
      <p:sp>
        <p:nvSpPr>
          <p:cNvPr id="63" name="Text 61"/>
          <p:cNvSpPr/>
          <p:nvPr/>
        </p:nvSpPr>
        <p:spPr>
          <a:xfrm>
            <a:off x="548640" y="4279392"/>
            <a:ext cx="804672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Ten stages, raw downloads to a maintained GitHub repository. Notebooks 01 through 08 correspond to steps 3 through 10.</a:t>
            </a:r>
            <a:endParaRPr lang="en-US" sz="1100" dirty="0"/>
          </a:p>
        </p:txBody>
      </p:sp>
      <p:sp>
        <p:nvSpPr>
          <p:cNvPr id="64" name="Text 62"/>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RAW MATERIAL</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800" dirty="0">
                <a:solidFill>
                  <a:srgbClr val="0E1B2C"/>
                </a:solidFill>
                <a:latin typeface="Cambria" pitchFamily="34" charset="0"/>
                <a:ea typeface="Cambria" pitchFamily="34" charset="-122"/>
                <a:cs typeface="Cambria" pitchFamily="34" charset="-120"/>
              </a:rPr>
              <a:t>The data we used</a:t>
            </a:r>
            <a:endParaRPr lang="en-US" sz="28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548640" y="1386010"/>
            <a:ext cx="1920240" cy="640080"/>
          </a:xfrm>
          <a:prstGeom prst="rect">
            <a:avLst/>
          </a:prstGeom>
          <a:noFill/>
          <a:ln/>
        </p:spPr>
        <p:txBody>
          <a:bodyPr wrap="square" rtlCol="0" anchor="t"/>
          <a:lstStyle/>
          <a:p>
            <a:pPr marL="0" indent="0">
              <a:buNone/>
            </a:pPr>
            <a:r>
              <a:rPr lang="en-US" sz="1500" dirty="0">
                <a:solidFill>
                  <a:srgbClr val="0E1B2C"/>
                </a:solidFill>
                <a:latin typeface="Cambria" pitchFamily="34" charset="0"/>
                <a:ea typeface="Cambria" pitchFamily="34" charset="-122"/>
                <a:cs typeface="Cambria" pitchFamily="34" charset="-120"/>
              </a:rPr>
              <a:t>The Movies Dataset</a:t>
            </a:r>
            <a:endParaRPr lang="en-US" sz="1500" dirty="0"/>
          </a:p>
        </p:txBody>
      </p:sp>
      <p:sp>
        <p:nvSpPr>
          <p:cNvPr id="6" name="Shape 4"/>
          <p:cNvSpPr/>
          <p:nvPr/>
        </p:nvSpPr>
        <p:spPr>
          <a:xfrm>
            <a:off x="548640" y="1993392"/>
            <a:ext cx="1920240" cy="0"/>
          </a:xfrm>
          <a:prstGeom prst="line">
            <a:avLst/>
          </a:prstGeom>
          <a:noFill/>
          <a:ln w="12700">
            <a:solidFill>
              <a:srgbClr val="DCD8CC"/>
            </a:solidFill>
            <a:prstDash val="solid"/>
          </a:ln>
        </p:spPr>
      </p:sp>
      <p:sp>
        <p:nvSpPr>
          <p:cNvPr id="7" name="Text 5"/>
          <p:cNvSpPr/>
          <p:nvPr/>
        </p:nvSpPr>
        <p:spPr>
          <a:xfrm>
            <a:off x="548640" y="2121408"/>
            <a:ext cx="1920240" cy="502920"/>
          </a:xfrm>
          <a:prstGeom prst="rect">
            <a:avLst/>
          </a:prstGeom>
          <a:noFill/>
          <a:ln/>
        </p:spPr>
        <p:txBody>
          <a:bodyPr wrap="square" rtlCol="0" anchor="t"/>
          <a:lstStyle/>
          <a:p>
            <a:pPr marL="0" indent="0">
              <a:lnSpc>
                <a:spcPct val="120000"/>
              </a:lnSpc>
              <a:buNone/>
            </a:pPr>
            <a:r>
              <a:rPr lang="en-US" sz="1050" dirty="0">
                <a:solidFill>
                  <a:srgbClr val="5A6472"/>
                </a:solidFill>
                <a:latin typeface="Calibri" pitchFamily="34" charset="0"/>
                <a:ea typeface="Calibri" pitchFamily="34" charset="-122"/>
                <a:cs typeface="Calibri" pitchFamily="34" charset="-120"/>
              </a:rPr>
              <a:t>Budget, revenue, genre</a:t>
            </a:r>
            <a:endParaRPr lang="en-US" sz="1050" dirty="0"/>
          </a:p>
        </p:txBody>
      </p:sp>
      <p:sp>
        <p:nvSpPr>
          <p:cNvPr id="8" name="Text 6"/>
          <p:cNvSpPr/>
          <p:nvPr/>
        </p:nvSpPr>
        <p:spPr>
          <a:xfrm>
            <a:off x="548640" y="2651760"/>
            <a:ext cx="1920240" cy="274320"/>
          </a:xfrm>
          <a:prstGeom prst="rect">
            <a:avLst/>
          </a:prstGeom>
          <a:noFill/>
          <a:ln/>
        </p:spPr>
        <p:txBody>
          <a:bodyPr wrap="square" rtlCol="0" anchor="t"/>
          <a:lstStyle/>
          <a:p>
            <a:pPr marL="0" indent="0">
              <a:buNone/>
            </a:pPr>
            <a:r>
              <a:rPr lang="en-US" sz="950" i="1" dirty="0">
                <a:solidFill>
                  <a:srgbClr val="C2410C"/>
                </a:solidFill>
                <a:latin typeface="Calibri" pitchFamily="34" charset="0"/>
                <a:ea typeface="Calibri" pitchFamily="34" charset="-122"/>
                <a:cs typeface="Calibri" pitchFamily="34" charset="-120"/>
              </a:rPr>
              <a:t>45,466 → 5,381 usable</a:t>
            </a:r>
            <a:endParaRPr lang="en-US" sz="950" dirty="0"/>
          </a:p>
        </p:txBody>
      </p:sp>
      <p:sp>
        <p:nvSpPr>
          <p:cNvPr id="9" name="Text 7"/>
          <p:cNvSpPr/>
          <p:nvPr/>
        </p:nvSpPr>
        <p:spPr>
          <a:xfrm>
            <a:off x="2633472" y="1386010"/>
            <a:ext cx="1920240" cy="640080"/>
          </a:xfrm>
          <a:prstGeom prst="rect">
            <a:avLst/>
          </a:prstGeom>
          <a:noFill/>
          <a:ln/>
        </p:spPr>
        <p:txBody>
          <a:bodyPr wrap="square" rtlCol="0" anchor="t"/>
          <a:lstStyle/>
          <a:p>
            <a:pPr marL="0" indent="0">
              <a:buNone/>
            </a:pPr>
            <a:r>
              <a:rPr lang="en-US" sz="1500" dirty="0">
                <a:solidFill>
                  <a:srgbClr val="0E1B2C"/>
                </a:solidFill>
                <a:latin typeface="Cambria" pitchFamily="34" charset="0"/>
                <a:ea typeface="Cambria" pitchFamily="34" charset="-122"/>
                <a:cs typeface="Cambria" pitchFamily="34" charset="-120"/>
              </a:rPr>
              <a:t>TMDB 5000</a:t>
            </a:r>
            <a:endParaRPr lang="en-US" sz="1500" dirty="0"/>
          </a:p>
        </p:txBody>
      </p:sp>
      <p:sp>
        <p:nvSpPr>
          <p:cNvPr id="10" name="Shape 8"/>
          <p:cNvSpPr/>
          <p:nvPr/>
        </p:nvSpPr>
        <p:spPr>
          <a:xfrm>
            <a:off x="2633472" y="1993392"/>
            <a:ext cx="1920240" cy="0"/>
          </a:xfrm>
          <a:prstGeom prst="line">
            <a:avLst/>
          </a:prstGeom>
          <a:noFill/>
          <a:ln w="12700">
            <a:solidFill>
              <a:srgbClr val="DCD8CC"/>
            </a:solidFill>
            <a:prstDash val="solid"/>
          </a:ln>
        </p:spPr>
      </p:sp>
      <p:sp>
        <p:nvSpPr>
          <p:cNvPr id="11" name="Text 9"/>
          <p:cNvSpPr/>
          <p:nvPr/>
        </p:nvSpPr>
        <p:spPr>
          <a:xfrm>
            <a:off x="2633472" y="2121408"/>
            <a:ext cx="1920240" cy="502920"/>
          </a:xfrm>
          <a:prstGeom prst="rect">
            <a:avLst/>
          </a:prstGeom>
          <a:noFill/>
          <a:ln/>
        </p:spPr>
        <p:txBody>
          <a:bodyPr wrap="square" rtlCol="0" anchor="t"/>
          <a:lstStyle/>
          <a:p>
            <a:pPr marL="0" indent="0">
              <a:lnSpc>
                <a:spcPct val="120000"/>
              </a:lnSpc>
              <a:buNone/>
            </a:pPr>
            <a:r>
              <a:rPr lang="en-US" sz="1050" dirty="0">
                <a:solidFill>
                  <a:srgbClr val="5A6472"/>
                </a:solidFill>
                <a:latin typeface="Calibri" pitchFamily="34" charset="0"/>
                <a:ea typeface="Calibri" pitchFamily="34" charset="-122"/>
                <a:cs typeface="Calibri" pitchFamily="34" charset="-120"/>
              </a:rPr>
              <a:t>Cast, crew, popularity</a:t>
            </a:r>
            <a:endParaRPr lang="en-US" sz="1050" dirty="0"/>
          </a:p>
        </p:txBody>
      </p:sp>
      <p:sp>
        <p:nvSpPr>
          <p:cNvPr id="12" name="Text 10"/>
          <p:cNvSpPr/>
          <p:nvPr/>
        </p:nvSpPr>
        <p:spPr>
          <a:xfrm>
            <a:off x="2633472" y="2651760"/>
            <a:ext cx="1920240" cy="274320"/>
          </a:xfrm>
          <a:prstGeom prst="rect">
            <a:avLst/>
          </a:prstGeom>
          <a:noFill/>
          <a:ln/>
        </p:spPr>
        <p:txBody>
          <a:bodyPr wrap="square" rtlCol="0" anchor="t"/>
          <a:lstStyle/>
          <a:p>
            <a:pPr marL="0" indent="0">
              <a:buNone/>
            </a:pPr>
            <a:r>
              <a:rPr lang="en-US" sz="950" i="1" dirty="0">
                <a:solidFill>
                  <a:srgbClr val="C2410C"/>
                </a:solidFill>
                <a:latin typeface="Calibri" pitchFamily="34" charset="0"/>
                <a:ea typeface="Calibri" pitchFamily="34" charset="-122"/>
                <a:cs typeface="Calibri" pitchFamily="34" charset="-120"/>
              </a:rPr>
              <a:t>4,803 rows</a:t>
            </a:r>
            <a:endParaRPr lang="en-US" sz="950" dirty="0"/>
          </a:p>
        </p:txBody>
      </p:sp>
      <p:sp>
        <p:nvSpPr>
          <p:cNvPr id="13" name="Text 11"/>
          <p:cNvSpPr/>
          <p:nvPr/>
        </p:nvSpPr>
        <p:spPr>
          <a:xfrm>
            <a:off x="4718304" y="1374370"/>
            <a:ext cx="1920240" cy="640080"/>
          </a:xfrm>
          <a:prstGeom prst="rect">
            <a:avLst/>
          </a:prstGeom>
          <a:noFill/>
          <a:ln/>
        </p:spPr>
        <p:txBody>
          <a:bodyPr wrap="square" rtlCol="0" anchor="t"/>
          <a:lstStyle/>
          <a:p>
            <a:pPr marL="0" indent="0">
              <a:buNone/>
            </a:pPr>
            <a:r>
              <a:rPr lang="en-US" sz="1500" dirty="0">
                <a:solidFill>
                  <a:srgbClr val="0E1B2C"/>
                </a:solidFill>
                <a:latin typeface="Cambria" pitchFamily="34" charset="0"/>
                <a:ea typeface="Cambria" pitchFamily="34" charset="-122"/>
                <a:cs typeface="Cambria" pitchFamily="34" charset="-120"/>
              </a:rPr>
              <a:t>Rotten Tomatoes</a:t>
            </a:r>
            <a:endParaRPr lang="en-US" sz="1500" dirty="0"/>
          </a:p>
        </p:txBody>
      </p:sp>
      <p:sp>
        <p:nvSpPr>
          <p:cNvPr id="14" name="Shape 12"/>
          <p:cNvSpPr/>
          <p:nvPr/>
        </p:nvSpPr>
        <p:spPr>
          <a:xfrm>
            <a:off x="4718304" y="1993392"/>
            <a:ext cx="1920240" cy="0"/>
          </a:xfrm>
          <a:prstGeom prst="line">
            <a:avLst/>
          </a:prstGeom>
          <a:noFill/>
          <a:ln w="12700">
            <a:solidFill>
              <a:srgbClr val="DCD8CC"/>
            </a:solidFill>
            <a:prstDash val="solid"/>
          </a:ln>
        </p:spPr>
      </p:sp>
      <p:sp>
        <p:nvSpPr>
          <p:cNvPr id="15" name="Text 13"/>
          <p:cNvSpPr/>
          <p:nvPr/>
        </p:nvSpPr>
        <p:spPr>
          <a:xfrm>
            <a:off x="4718304" y="2121408"/>
            <a:ext cx="1920240" cy="502920"/>
          </a:xfrm>
          <a:prstGeom prst="rect">
            <a:avLst/>
          </a:prstGeom>
          <a:noFill/>
          <a:ln/>
        </p:spPr>
        <p:txBody>
          <a:bodyPr wrap="square" rtlCol="0" anchor="t"/>
          <a:lstStyle/>
          <a:p>
            <a:pPr marL="0" indent="0">
              <a:lnSpc>
                <a:spcPct val="120000"/>
              </a:lnSpc>
              <a:buNone/>
            </a:pPr>
            <a:r>
              <a:rPr lang="en-US" sz="1050" dirty="0">
                <a:solidFill>
                  <a:srgbClr val="5A6472"/>
                </a:solidFill>
                <a:latin typeface="Calibri" pitchFamily="34" charset="0"/>
                <a:ea typeface="Calibri" pitchFamily="34" charset="-122"/>
                <a:cs typeface="Calibri" pitchFamily="34" charset="-120"/>
              </a:rPr>
              <a:t>Tomatometer, audience score</a:t>
            </a:r>
            <a:endParaRPr lang="en-US" sz="1050" dirty="0"/>
          </a:p>
        </p:txBody>
      </p:sp>
      <p:sp>
        <p:nvSpPr>
          <p:cNvPr id="16" name="Text 14"/>
          <p:cNvSpPr/>
          <p:nvPr/>
        </p:nvSpPr>
        <p:spPr>
          <a:xfrm>
            <a:off x="4718304" y="2651760"/>
            <a:ext cx="1920240" cy="274320"/>
          </a:xfrm>
          <a:prstGeom prst="rect">
            <a:avLst/>
          </a:prstGeom>
          <a:noFill/>
          <a:ln/>
        </p:spPr>
        <p:txBody>
          <a:bodyPr wrap="square" rtlCol="0" anchor="t"/>
          <a:lstStyle/>
          <a:p>
            <a:pPr marL="0" indent="0">
              <a:buNone/>
            </a:pPr>
            <a:r>
              <a:rPr lang="en-US" sz="950" i="1" dirty="0">
                <a:solidFill>
                  <a:srgbClr val="C2410C"/>
                </a:solidFill>
                <a:latin typeface="Calibri" pitchFamily="34" charset="0"/>
                <a:ea typeface="Calibri" pitchFamily="34" charset="-122"/>
                <a:cs typeface="Calibri" pitchFamily="34" charset="-120"/>
              </a:rPr>
              <a:t>81.3% coverage</a:t>
            </a:r>
            <a:endParaRPr lang="en-US" sz="950" dirty="0"/>
          </a:p>
        </p:txBody>
      </p:sp>
      <p:sp>
        <p:nvSpPr>
          <p:cNvPr id="17" name="Text 15"/>
          <p:cNvSpPr/>
          <p:nvPr/>
        </p:nvSpPr>
        <p:spPr>
          <a:xfrm>
            <a:off x="6803136" y="1374370"/>
            <a:ext cx="1920240" cy="640080"/>
          </a:xfrm>
          <a:prstGeom prst="rect">
            <a:avLst/>
          </a:prstGeom>
          <a:noFill/>
          <a:ln/>
        </p:spPr>
        <p:txBody>
          <a:bodyPr wrap="square" rtlCol="0" anchor="t"/>
          <a:lstStyle/>
          <a:p>
            <a:pPr marL="0" indent="0">
              <a:buNone/>
            </a:pPr>
            <a:r>
              <a:rPr lang="en-US" sz="1500" dirty="0">
                <a:solidFill>
                  <a:srgbClr val="0E1B2C"/>
                </a:solidFill>
                <a:latin typeface="Cambria" pitchFamily="34" charset="0"/>
                <a:ea typeface="Cambria" pitchFamily="34" charset="-122"/>
                <a:cs typeface="Cambria" pitchFamily="34" charset="-120"/>
              </a:rPr>
              <a:t>IMDb Dataset</a:t>
            </a:r>
            <a:endParaRPr lang="en-US" sz="1500" dirty="0"/>
          </a:p>
        </p:txBody>
      </p:sp>
      <p:sp>
        <p:nvSpPr>
          <p:cNvPr id="18" name="Shape 16"/>
          <p:cNvSpPr/>
          <p:nvPr/>
        </p:nvSpPr>
        <p:spPr>
          <a:xfrm>
            <a:off x="6803136" y="1993392"/>
            <a:ext cx="1920240" cy="0"/>
          </a:xfrm>
          <a:prstGeom prst="line">
            <a:avLst/>
          </a:prstGeom>
          <a:noFill/>
          <a:ln w="12700">
            <a:solidFill>
              <a:srgbClr val="DCD8CC"/>
            </a:solidFill>
            <a:prstDash val="solid"/>
          </a:ln>
        </p:spPr>
      </p:sp>
      <p:sp>
        <p:nvSpPr>
          <p:cNvPr id="19" name="Text 17"/>
          <p:cNvSpPr/>
          <p:nvPr/>
        </p:nvSpPr>
        <p:spPr>
          <a:xfrm>
            <a:off x="6803136" y="2121408"/>
            <a:ext cx="1920240" cy="502920"/>
          </a:xfrm>
          <a:prstGeom prst="rect">
            <a:avLst/>
          </a:prstGeom>
          <a:noFill/>
          <a:ln/>
        </p:spPr>
        <p:txBody>
          <a:bodyPr wrap="square" rtlCol="0" anchor="t"/>
          <a:lstStyle/>
          <a:p>
            <a:pPr marL="0" indent="0">
              <a:lnSpc>
                <a:spcPct val="120000"/>
              </a:lnSpc>
              <a:buNone/>
            </a:pPr>
            <a:r>
              <a:rPr lang="en-US" sz="1050" dirty="0">
                <a:solidFill>
                  <a:srgbClr val="5A6472"/>
                </a:solidFill>
                <a:latin typeface="Calibri" pitchFamily="34" charset="0"/>
                <a:ea typeface="Calibri" pitchFamily="34" charset="-122"/>
                <a:cs typeface="Calibri" pitchFamily="34" charset="-120"/>
              </a:rPr>
              <a:t>Rating, vote count, runtime</a:t>
            </a:r>
            <a:endParaRPr lang="en-US" sz="1050" dirty="0"/>
          </a:p>
        </p:txBody>
      </p:sp>
      <p:sp>
        <p:nvSpPr>
          <p:cNvPr id="20" name="Text 18"/>
          <p:cNvSpPr/>
          <p:nvPr/>
        </p:nvSpPr>
        <p:spPr>
          <a:xfrm>
            <a:off x="6803136" y="2651760"/>
            <a:ext cx="1920240" cy="274320"/>
          </a:xfrm>
          <a:prstGeom prst="rect">
            <a:avLst/>
          </a:prstGeom>
          <a:noFill/>
          <a:ln/>
        </p:spPr>
        <p:txBody>
          <a:bodyPr wrap="square" rtlCol="0" anchor="t"/>
          <a:lstStyle/>
          <a:p>
            <a:pPr marL="0" indent="0">
              <a:buNone/>
            </a:pPr>
            <a:r>
              <a:rPr lang="en-US" sz="950" i="1" dirty="0">
                <a:solidFill>
                  <a:srgbClr val="C2410C"/>
                </a:solidFill>
                <a:latin typeface="Calibri" pitchFamily="34" charset="0"/>
                <a:ea typeface="Calibri" pitchFamily="34" charset="-122"/>
                <a:cs typeface="Calibri" pitchFamily="34" charset="-120"/>
              </a:rPr>
              <a:t>99.96% coverage</a:t>
            </a:r>
            <a:endParaRPr lang="en-US" sz="950" dirty="0"/>
          </a:p>
        </p:txBody>
      </p:sp>
      <p:sp>
        <p:nvSpPr>
          <p:cNvPr id="21" name="Shape 19"/>
          <p:cNvSpPr/>
          <p:nvPr/>
        </p:nvSpPr>
        <p:spPr>
          <a:xfrm>
            <a:off x="548640" y="3611880"/>
            <a:ext cx="8046720" cy="0"/>
          </a:xfrm>
          <a:prstGeom prst="line">
            <a:avLst/>
          </a:prstGeom>
          <a:noFill/>
          <a:ln w="12700">
            <a:solidFill>
              <a:srgbClr val="DCD8CC"/>
            </a:solidFill>
            <a:prstDash val="solid"/>
          </a:ln>
        </p:spPr>
      </p:sp>
      <p:sp>
        <p:nvSpPr>
          <p:cNvPr id="22" name="Text 20"/>
          <p:cNvSpPr/>
          <p:nvPr/>
        </p:nvSpPr>
        <p:spPr>
          <a:xfrm>
            <a:off x="548640" y="3794760"/>
            <a:ext cx="1920240" cy="411480"/>
          </a:xfrm>
          <a:prstGeom prst="rect">
            <a:avLst/>
          </a:prstGeom>
          <a:noFill/>
          <a:ln/>
        </p:spPr>
        <p:txBody>
          <a:bodyPr wrap="square" rtlCol="0" anchor="ctr"/>
          <a:lstStyle/>
          <a:p>
            <a:pPr marL="0" indent="0">
              <a:buNone/>
            </a:pPr>
            <a:r>
              <a:rPr lang="en-US" sz="1900" dirty="0">
                <a:solidFill>
                  <a:srgbClr val="C2410C"/>
                </a:solidFill>
                <a:latin typeface="Cambria" pitchFamily="34" charset="0"/>
                <a:ea typeface="Cambria" pitchFamily="34" charset="-122"/>
                <a:cs typeface="Cambria" pitchFamily="34" charset="-120"/>
              </a:rPr>
              <a:t>5,381</a:t>
            </a:r>
            <a:endParaRPr lang="en-US" sz="1900" dirty="0"/>
          </a:p>
        </p:txBody>
      </p:sp>
      <p:sp>
        <p:nvSpPr>
          <p:cNvPr id="23" name="Text 21"/>
          <p:cNvSpPr/>
          <p:nvPr/>
        </p:nvSpPr>
        <p:spPr>
          <a:xfrm>
            <a:off x="548640" y="4233672"/>
            <a:ext cx="1920240" cy="411480"/>
          </a:xfrm>
          <a:prstGeom prst="rect">
            <a:avLst/>
          </a:prstGeom>
          <a:noFill/>
          <a:ln/>
        </p:spPr>
        <p:txBody>
          <a:bodyPr wrap="square" rtlCol="0" anchor="ctr"/>
          <a:lstStyle/>
          <a:p>
            <a:pPr marL="0" indent="0">
              <a:lnSpc>
                <a:spcPct val="115000"/>
              </a:lnSpc>
              <a:buNone/>
            </a:pPr>
            <a:r>
              <a:rPr lang="en-US" sz="900" dirty="0">
                <a:solidFill>
                  <a:srgbClr val="5A6472"/>
                </a:solidFill>
                <a:latin typeface="Calibri" pitchFamily="34" charset="0"/>
                <a:ea typeface="Calibri" pitchFamily="34" charset="-122"/>
                <a:cs typeface="Calibri" pitchFamily="34" charset="-120"/>
              </a:rPr>
              <a:t>films after merge, 20 columns</a:t>
            </a:r>
            <a:endParaRPr lang="en-US" sz="900" dirty="0"/>
          </a:p>
        </p:txBody>
      </p:sp>
      <p:sp>
        <p:nvSpPr>
          <p:cNvPr id="24" name="Text 22"/>
          <p:cNvSpPr/>
          <p:nvPr/>
        </p:nvSpPr>
        <p:spPr>
          <a:xfrm>
            <a:off x="2633472" y="3794760"/>
            <a:ext cx="1920240" cy="411480"/>
          </a:xfrm>
          <a:prstGeom prst="rect">
            <a:avLst/>
          </a:prstGeom>
          <a:noFill/>
          <a:ln/>
        </p:spPr>
        <p:txBody>
          <a:bodyPr wrap="square" rtlCol="0" anchor="ctr"/>
          <a:lstStyle/>
          <a:p>
            <a:pPr marL="0" indent="0">
              <a:buNone/>
            </a:pPr>
            <a:r>
              <a:rPr lang="en-US" sz="1900" dirty="0">
                <a:solidFill>
                  <a:srgbClr val="C2410C"/>
                </a:solidFill>
                <a:latin typeface="Cambria" pitchFamily="34" charset="0"/>
                <a:ea typeface="Cambria" pitchFamily="34" charset="-122"/>
                <a:cs typeface="Cambria" pitchFamily="34" charset="-120"/>
              </a:rPr>
              <a:t>$17M</a:t>
            </a:r>
            <a:endParaRPr lang="en-US" sz="1900" dirty="0"/>
          </a:p>
        </p:txBody>
      </p:sp>
      <p:sp>
        <p:nvSpPr>
          <p:cNvPr id="25" name="Text 23"/>
          <p:cNvSpPr/>
          <p:nvPr/>
        </p:nvSpPr>
        <p:spPr>
          <a:xfrm>
            <a:off x="2633472" y="4233672"/>
            <a:ext cx="1920240" cy="411480"/>
          </a:xfrm>
          <a:prstGeom prst="rect">
            <a:avLst/>
          </a:prstGeom>
          <a:noFill/>
          <a:ln/>
        </p:spPr>
        <p:txBody>
          <a:bodyPr wrap="square" rtlCol="0" anchor="ctr"/>
          <a:lstStyle/>
          <a:p>
            <a:pPr marL="0" indent="0">
              <a:lnSpc>
                <a:spcPct val="115000"/>
              </a:lnSpc>
              <a:buNone/>
            </a:pPr>
            <a:r>
              <a:rPr lang="en-US" sz="900" dirty="0">
                <a:solidFill>
                  <a:srgbClr val="5A6472"/>
                </a:solidFill>
                <a:latin typeface="Calibri" pitchFamily="34" charset="0"/>
                <a:ea typeface="Calibri" pitchFamily="34" charset="-122"/>
                <a:cs typeface="Calibri" pitchFamily="34" charset="-120"/>
              </a:rPr>
              <a:t>median budget ($1 to $380M)</a:t>
            </a:r>
            <a:endParaRPr lang="en-US" sz="900" dirty="0"/>
          </a:p>
        </p:txBody>
      </p:sp>
      <p:sp>
        <p:nvSpPr>
          <p:cNvPr id="26" name="Text 24"/>
          <p:cNvSpPr/>
          <p:nvPr/>
        </p:nvSpPr>
        <p:spPr>
          <a:xfrm>
            <a:off x="4718304" y="3794760"/>
            <a:ext cx="1920240" cy="411480"/>
          </a:xfrm>
          <a:prstGeom prst="rect">
            <a:avLst/>
          </a:prstGeom>
          <a:noFill/>
          <a:ln/>
        </p:spPr>
        <p:txBody>
          <a:bodyPr wrap="square" rtlCol="0" anchor="ctr"/>
          <a:lstStyle/>
          <a:p>
            <a:pPr marL="0" indent="0">
              <a:buNone/>
            </a:pPr>
            <a:r>
              <a:rPr lang="en-US" sz="1900" dirty="0">
                <a:solidFill>
                  <a:srgbClr val="C2410C"/>
                </a:solidFill>
                <a:latin typeface="Cambria" pitchFamily="34" charset="0"/>
                <a:ea typeface="Cambria" pitchFamily="34" charset="-122"/>
                <a:cs typeface="Cambria" pitchFamily="34" charset="-120"/>
              </a:rPr>
              <a:t>$30M</a:t>
            </a:r>
            <a:endParaRPr lang="en-US" sz="1900" dirty="0"/>
          </a:p>
        </p:txBody>
      </p:sp>
      <p:sp>
        <p:nvSpPr>
          <p:cNvPr id="27" name="Text 25"/>
          <p:cNvSpPr/>
          <p:nvPr/>
        </p:nvSpPr>
        <p:spPr>
          <a:xfrm>
            <a:off x="4718304" y="4233672"/>
            <a:ext cx="1920240" cy="411480"/>
          </a:xfrm>
          <a:prstGeom prst="rect">
            <a:avLst/>
          </a:prstGeom>
          <a:noFill/>
          <a:ln/>
        </p:spPr>
        <p:txBody>
          <a:bodyPr wrap="square" rtlCol="0" anchor="ctr"/>
          <a:lstStyle/>
          <a:p>
            <a:pPr marL="0" indent="0">
              <a:lnSpc>
                <a:spcPct val="115000"/>
              </a:lnSpc>
              <a:buNone/>
            </a:pPr>
            <a:r>
              <a:rPr lang="en-US" sz="900" dirty="0">
                <a:solidFill>
                  <a:srgbClr val="5A6472"/>
                </a:solidFill>
                <a:latin typeface="Calibri" pitchFamily="34" charset="0"/>
                <a:ea typeface="Calibri" pitchFamily="34" charset="-122"/>
                <a:cs typeface="Calibri" pitchFamily="34" charset="-120"/>
              </a:rPr>
              <a:t>median revenue ($1 to $2.79B)</a:t>
            </a:r>
            <a:endParaRPr lang="en-US" sz="900" dirty="0"/>
          </a:p>
        </p:txBody>
      </p:sp>
      <p:sp>
        <p:nvSpPr>
          <p:cNvPr id="28" name="Text 26"/>
          <p:cNvSpPr/>
          <p:nvPr/>
        </p:nvSpPr>
        <p:spPr>
          <a:xfrm>
            <a:off x="6803136" y="3794760"/>
            <a:ext cx="1920240" cy="411480"/>
          </a:xfrm>
          <a:prstGeom prst="rect">
            <a:avLst/>
          </a:prstGeom>
          <a:noFill/>
          <a:ln/>
        </p:spPr>
        <p:txBody>
          <a:bodyPr wrap="square" rtlCol="0" anchor="ctr"/>
          <a:lstStyle/>
          <a:p>
            <a:pPr marL="0" indent="0">
              <a:buNone/>
            </a:pPr>
            <a:r>
              <a:rPr lang="en-US" sz="1900" dirty="0">
                <a:solidFill>
                  <a:srgbClr val="C2410C"/>
                </a:solidFill>
                <a:latin typeface="Cambria" pitchFamily="34" charset="0"/>
                <a:ea typeface="Cambria" pitchFamily="34" charset="-122"/>
                <a:cs typeface="Cambria" pitchFamily="34" charset="-120"/>
              </a:rPr>
              <a:t>4,294 / 1,074</a:t>
            </a:r>
            <a:endParaRPr lang="en-US" sz="1900" dirty="0"/>
          </a:p>
        </p:txBody>
      </p:sp>
      <p:sp>
        <p:nvSpPr>
          <p:cNvPr id="29" name="Text 27"/>
          <p:cNvSpPr/>
          <p:nvPr/>
        </p:nvSpPr>
        <p:spPr>
          <a:xfrm>
            <a:off x="6803136" y="4233672"/>
            <a:ext cx="1920240" cy="411480"/>
          </a:xfrm>
          <a:prstGeom prst="rect">
            <a:avLst/>
          </a:prstGeom>
          <a:noFill/>
          <a:ln/>
        </p:spPr>
        <p:txBody>
          <a:bodyPr wrap="square" rtlCol="0" anchor="ctr"/>
          <a:lstStyle/>
          <a:p>
            <a:pPr marL="0" indent="0">
              <a:lnSpc>
                <a:spcPct val="115000"/>
              </a:lnSpc>
              <a:buNone/>
            </a:pPr>
            <a:r>
              <a:rPr lang="en-US" sz="900" dirty="0">
                <a:solidFill>
                  <a:srgbClr val="5A6472"/>
                </a:solidFill>
                <a:latin typeface="Calibri" pitchFamily="34" charset="0"/>
                <a:ea typeface="Calibri" pitchFamily="34" charset="-122"/>
                <a:cs typeface="Calibri" pitchFamily="34" charset="-120"/>
              </a:rPr>
              <a:t>train / test split</a:t>
            </a:r>
            <a:endParaRPr lang="en-US" sz="900" dirty="0"/>
          </a:p>
        </p:txBody>
      </p:sp>
      <p:sp>
        <p:nvSpPr>
          <p:cNvPr id="30" name="Text 28"/>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FINDING ONE</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500" dirty="0">
                <a:solidFill>
                  <a:srgbClr val="0E1B2C"/>
                </a:solidFill>
                <a:latin typeface="Cambria" pitchFamily="34" charset="0"/>
                <a:ea typeface="Cambria" pitchFamily="34" charset="-122"/>
                <a:cs typeface="Cambria" pitchFamily="34" charset="-120"/>
              </a:rPr>
              <a:t>Budget predicts reach, not quality</a:t>
            </a:r>
            <a:endParaRPr lang="en-US" sz="25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budget_vs_revenue.png"/>
          <p:cNvPicPr>
            <a:picLocks noChangeAspect="1"/>
          </p:cNvPicPr>
          <p:nvPr/>
        </p:nvPicPr>
        <p:blipFill>
          <a:blip r:embed="rId3"/>
          <a:stretch>
            <a:fillRect/>
          </a:stretch>
        </p:blipFill>
        <p:spPr>
          <a:xfrm>
            <a:off x="502920" y="1298448"/>
            <a:ext cx="4795114" cy="3154680"/>
          </a:xfrm>
          <a:prstGeom prst="rect">
            <a:avLst/>
          </a:prstGeom>
        </p:spPr>
      </p:pic>
      <p:sp>
        <p:nvSpPr>
          <p:cNvPr id="6" name="Text 3"/>
          <p:cNvSpPr/>
          <p:nvPr/>
        </p:nvSpPr>
        <p:spPr>
          <a:xfrm>
            <a:off x="5618074" y="1298448"/>
            <a:ext cx="2977286" cy="347472"/>
          </a:xfrm>
          <a:prstGeom prst="rect">
            <a:avLst/>
          </a:prstGeom>
          <a:noFill/>
          <a:ln/>
        </p:spPr>
        <p:txBody>
          <a:bodyPr wrap="square" rtlCol="0" anchor="ctr"/>
          <a:lstStyle/>
          <a:p>
            <a:pPr marL="0" indent="0">
              <a:buNone/>
            </a:pPr>
            <a:r>
              <a:rPr lang="en-US" sz="1900" dirty="0">
                <a:solidFill>
                  <a:srgbClr val="0F766E"/>
                </a:solidFill>
                <a:latin typeface="Cambria" pitchFamily="34" charset="0"/>
                <a:ea typeface="Cambria" pitchFamily="34" charset="-122"/>
                <a:cs typeface="Cambria" pitchFamily="34" charset="-120"/>
              </a:rPr>
              <a:t>r = 0.70</a:t>
            </a:r>
            <a:endParaRPr lang="en-US" sz="1900" dirty="0"/>
          </a:p>
        </p:txBody>
      </p:sp>
      <p:sp>
        <p:nvSpPr>
          <p:cNvPr id="7" name="Text 4"/>
          <p:cNvSpPr/>
          <p:nvPr/>
        </p:nvSpPr>
        <p:spPr>
          <a:xfrm>
            <a:off x="5618074" y="1645920"/>
            <a:ext cx="2977286" cy="256032"/>
          </a:xfrm>
          <a:prstGeom prst="rect">
            <a:avLst/>
          </a:prstGeom>
          <a:noFill/>
          <a:ln/>
        </p:spPr>
        <p:txBody>
          <a:bodyPr wrap="square" rtlCol="0" anchor="ctr"/>
          <a:lstStyle/>
          <a:p>
            <a:pPr marL="0" indent="0">
              <a:buNone/>
            </a:pPr>
            <a:r>
              <a:rPr lang="en-US" sz="1100" b="1" dirty="0">
                <a:solidFill>
                  <a:srgbClr val="0E1B2C"/>
                </a:solidFill>
                <a:latin typeface="Calibri" pitchFamily="34" charset="0"/>
                <a:ea typeface="Calibri" pitchFamily="34" charset="-122"/>
                <a:cs typeface="Calibri" pitchFamily="34" charset="-120"/>
              </a:rPr>
              <a:t>Budget vs box office revenue</a:t>
            </a:r>
            <a:endParaRPr lang="en-US" sz="1100" dirty="0"/>
          </a:p>
        </p:txBody>
      </p:sp>
      <p:sp>
        <p:nvSpPr>
          <p:cNvPr id="8" name="Text 5"/>
          <p:cNvSpPr/>
          <p:nvPr/>
        </p:nvSpPr>
        <p:spPr>
          <a:xfrm>
            <a:off x="5618074" y="1883664"/>
            <a:ext cx="2977286" cy="457200"/>
          </a:xfrm>
          <a:prstGeom prst="rect">
            <a:avLst/>
          </a:prstGeom>
          <a:noFill/>
          <a:ln/>
        </p:spPr>
        <p:txBody>
          <a:bodyPr wrap="square" rtlCol="0" anchor="ctr"/>
          <a:lstStyle/>
          <a:p>
            <a:pPr marL="0" indent="0">
              <a:lnSpc>
                <a:spcPct val="115000"/>
              </a:lnSpc>
              <a:buNone/>
            </a:pPr>
            <a:r>
              <a:rPr lang="en-US" sz="950" dirty="0">
                <a:solidFill>
                  <a:srgbClr val="5A6472"/>
                </a:solidFill>
                <a:latin typeface="Calibri" pitchFamily="34" charset="0"/>
                <a:ea typeface="Calibri" pitchFamily="34" charset="-122"/>
                <a:cs typeface="Calibri" pitchFamily="34" charset="-120"/>
              </a:rPr>
              <a:t>A strong link. Budget alone explains around half of the spread in revenue.</a:t>
            </a:r>
            <a:endParaRPr lang="en-US" sz="950" dirty="0"/>
          </a:p>
        </p:txBody>
      </p:sp>
      <p:sp>
        <p:nvSpPr>
          <p:cNvPr id="9" name="Text 6"/>
          <p:cNvSpPr/>
          <p:nvPr/>
        </p:nvSpPr>
        <p:spPr>
          <a:xfrm>
            <a:off x="5618074" y="2359152"/>
            <a:ext cx="2977286" cy="347472"/>
          </a:xfrm>
          <a:prstGeom prst="rect">
            <a:avLst/>
          </a:prstGeom>
          <a:noFill/>
          <a:ln/>
        </p:spPr>
        <p:txBody>
          <a:bodyPr wrap="square" rtlCol="0" anchor="ctr"/>
          <a:lstStyle/>
          <a:p>
            <a:pPr marL="0" indent="0">
              <a:buNone/>
            </a:pPr>
            <a:r>
              <a:rPr lang="en-US" sz="1900" dirty="0">
                <a:solidFill>
                  <a:srgbClr val="9F1239"/>
                </a:solidFill>
                <a:latin typeface="Cambria" pitchFamily="34" charset="0"/>
                <a:ea typeface="Cambria" pitchFamily="34" charset="-122"/>
                <a:cs typeface="Cambria" pitchFamily="34" charset="-120"/>
              </a:rPr>
              <a:t>r = -0.06</a:t>
            </a:r>
            <a:endParaRPr lang="en-US" sz="1900" dirty="0"/>
          </a:p>
        </p:txBody>
      </p:sp>
      <p:sp>
        <p:nvSpPr>
          <p:cNvPr id="10" name="Text 7"/>
          <p:cNvSpPr/>
          <p:nvPr/>
        </p:nvSpPr>
        <p:spPr>
          <a:xfrm>
            <a:off x="5618074" y="2706624"/>
            <a:ext cx="2977286" cy="256032"/>
          </a:xfrm>
          <a:prstGeom prst="rect">
            <a:avLst/>
          </a:prstGeom>
          <a:noFill/>
          <a:ln/>
        </p:spPr>
        <p:txBody>
          <a:bodyPr wrap="square" rtlCol="0" anchor="ctr"/>
          <a:lstStyle/>
          <a:p>
            <a:pPr marL="0" indent="0">
              <a:buNone/>
            </a:pPr>
            <a:r>
              <a:rPr lang="en-US" sz="1100" b="1" dirty="0">
                <a:solidFill>
                  <a:srgbClr val="0E1B2C"/>
                </a:solidFill>
                <a:latin typeface="Calibri" pitchFamily="34" charset="0"/>
                <a:ea typeface="Calibri" pitchFamily="34" charset="-122"/>
                <a:cs typeface="Calibri" pitchFamily="34" charset="-120"/>
              </a:rPr>
              <a:t>Budget vs IMDb rating</a:t>
            </a:r>
            <a:endParaRPr lang="en-US" sz="1100" dirty="0"/>
          </a:p>
        </p:txBody>
      </p:sp>
      <p:sp>
        <p:nvSpPr>
          <p:cNvPr id="11" name="Text 8"/>
          <p:cNvSpPr/>
          <p:nvPr/>
        </p:nvSpPr>
        <p:spPr>
          <a:xfrm>
            <a:off x="5618074" y="2944368"/>
            <a:ext cx="2977286" cy="457200"/>
          </a:xfrm>
          <a:prstGeom prst="rect">
            <a:avLst/>
          </a:prstGeom>
          <a:noFill/>
          <a:ln/>
        </p:spPr>
        <p:txBody>
          <a:bodyPr wrap="square" rtlCol="0" anchor="ctr"/>
          <a:lstStyle/>
          <a:p>
            <a:pPr marL="0" indent="0">
              <a:lnSpc>
                <a:spcPct val="115000"/>
              </a:lnSpc>
              <a:buNone/>
            </a:pPr>
            <a:r>
              <a:rPr lang="en-US" sz="950" dirty="0">
                <a:solidFill>
                  <a:srgbClr val="5A6472"/>
                </a:solidFill>
                <a:latin typeface="Calibri" pitchFamily="34" charset="0"/>
                <a:ea typeface="Calibri" pitchFamily="34" charset="-122"/>
                <a:cs typeface="Calibri" pitchFamily="34" charset="-120"/>
              </a:rPr>
              <a:t>Practically nothing. Spending more does not make audiences rate it higher.</a:t>
            </a:r>
            <a:endParaRPr lang="en-US" sz="950" dirty="0"/>
          </a:p>
        </p:txBody>
      </p:sp>
      <p:sp>
        <p:nvSpPr>
          <p:cNvPr id="12" name="Text 9"/>
          <p:cNvSpPr/>
          <p:nvPr/>
        </p:nvSpPr>
        <p:spPr>
          <a:xfrm>
            <a:off x="5618074" y="3419856"/>
            <a:ext cx="2977286" cy="347472"/>
          </a:xfrm>
          <a:prstGeom prst="rect">
            <a:avLst/>
          </a:prstGeom>
          <a:noFill/>
          <a:ln/>
        </p:spPr>
        <p:txBody>
          <a:bodyPr wrap="square" rtlCol="0" anchor="ctr"/>
          <a:lstStyle/>
          <a:p>
            <a:pPr marL="0" indent="0">
              <a:buNone/>
            </a:pPr>
            <a:r>
              <a:rPr lang="en-US" sz="1900" dirty="0">
                <a:solidFill>
                  <a:srgbClr val="9F1239"/>
                </a:solidFill>
                <a:latin typeface="Cambria" pitchFamily="34" charset="0"/>
                <a:ea typeface="Cambria" pitchFamily="34" charset="-122"/>
                <a:cs typeface="Cambria" pitchFamily="34" charset="-120"/>
              </a:rPr>
              <a:t>r = -0.18</a:t>
            </a:r>
            <a:endParaRPr lang="en-US" sz="1900" dirty="0"/>
          </a:p>
        </p:txBody>
      </p:sp>
      <p:sp>
        <p:nvSpPr>
          <p:cNvPr id="13" name="Text 10"/>
          <p:cNvSpPr/>
          <p:nvPr/>
        </p:nvSpPr>
        <p:spPr>
          <a:xfrm>
            <a:off x="5618074" y="3767328"/>
            <a:ext cx="2977286" cy="256032"/>
          </a:xfrm>
          <a:prstGeom prst="rect">
            <a:avLst/>
          </a:prstGeom>
          <a:noFill/>
          <a:ln/>
        </p:spPr>
        <p:txBody>
          <a:bodyPr wrap="square" rtlCol="0" anchor="ctr"/>
          <a:lstStyle/>
          <a:p>
            <a:pPr marL="0" indent="0">
              <a:buNone/>
            </a:pPr>
            <a:r>
              <a:rPr lang="en-US" sz="1100" b="1" dirty="0">
                <a:solidFill>
                  <a:srgbClr val="0E1B2C"/>
                </a:solidFill>
                <a:latin typeface="Calibri" pitchFamily="34" charset="0"/>
                <a:ea typeface="Calibri" pitchFamily="34" charset="-122"/>
                <a:cs typeface="Calibri" pitchFamily="34" charset="-120"/>
              </a:rPr>
              <a:t>Budget vs Tomatometer</a:t>
            </a:r>
            <a:endParaRPr lang="en-US" sz="1100" dirty="0"/>
          </a:p>
        </p:txBody>
      </p:sp>
      <p:sp>
        <p:nvSpPr>
          <p:cNvPr id="14" name="Text 11"/>
          <p:cNvSpPr/>
          <p:nvPr/>
        </p:nvSpPr>
        <p:spPr>
          <a:xfrm>
            <a:off x="5618074" y="4005072"/>
            <a:ext cx="2977286" cy="457200"/>
          </a:xfrm>
          <a:prstGeom prst="rect">
            <a:avLst/>
          </a:prstGeom>
          <a:noFill/>
          <a:ln/>
        </p:spPr>
        <p:txBody>
          <a:bodyPr wrap="square" rtlCol="0" anchor="ctr"/>
          <a:lstStyle/>
          <a:p>
            <a:pPr marL="0" indent="0">
              <a:lnSpc>
                <a:spcPct val="115000"/>
              </a:lnSpc>
              <a:buNone/>
            </a:pPr>
            <a:r>
              <a:rPr lang="en-US" sz="950" dirty="0">
                <a:solidFill>
                  <a:srgbClr val="5A6472"/>
                </a:solidFill>
                <a:latin typeface="Calibri" pitchFamily="34" charset="0"/>
                <a:ea typeface="Calibri" pitchFamily="34" charset="-122"/>
                <a:cs typeface="Calibri" pitchFamily="34" charset="-120"/>
              </a:rPr>
              <a:t>A weak negative tilt, bigger films skew slightly lower with critics.</a:t>
            </a:r>
            <a:endParaRPr lang="en-US" sz="950" dirty="0"/>
          </a:p>
        </p:txBody>
      </p:sp>
      <p:sp>
        <p:nvSpPr>
          <p:cNvPr id="15" name="Text 12"/>
          <p:cNvSpPr/>
          <p:nvPr/>
        </p:nvSpPr>
        <p:spPr>
          <a:xfrm>
            <a:off x="548640" y="4617720"/>
            <a:ext cx="786384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Each point is one film, plotted on a log scale since budgets and revenues span orders of magnitude.</a:t>
            </a:r>
            <a:endParaRPr lang="en-US" sz="1100" dirty="0"/>
          </a:p>
        </p:txBody>
      </p:sp>
      <p:sp>
        <p:nvSpPr>
          <p:cNvPr id="16" name="Text 13"/>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FINDING TWO</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500" dirty="0">
                <a:solidFill>
                  <a:srgbClr val="0E1B2C"/>
                </a:solidFill>
                <a:latin typeface="Cambria" pitchFamily="34" charset="0"/>
                <a:ea typeface="Cambria" pitchFamily="34" charset="-122"/>
                <a:cs typeface="Cambria" pitchFamily="34" charset="-120"/>
              </a:rPr>
              <a:t>Smaller budgets often pay off better</a:t>
            </a:r>
            <a:endParaRPr lang="en-US" sz="25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roi_by_tier.png"/>
          <p:cNvPicPr>
            <a:picLocks noChangeAspect="1"/>
          </p:cNvPicPr>
          <p:nvPr/>
        </p:nvPicPr>
        <p:blipFill>
          <a:blip r:embed="rId3"/>
          <a:stretch>
            <a:fillRect/>
          </a:stretch>
        </p:blipFill>
        <p:spPr>
          <a:xfrm>
            <a:off x="1663034" y="1298448"/>
            <a:ext cx="5086412" cy="3246120"/>
          </a:xfrm>
          <a:prstGeom prst="rect">
            <a:avLst/>
          </a:prstGeom>
        </p:spPr>
      </p:pic>
      <p:sp>
        <p:nvSpPr>
          <p:cNvPr id="6" name="Text 3"/>
          <p:cNvSpPr/>
          <p:nvPr/>
        </p:nvSpPr>
        <p:spPr>
          <a:xfrm>
            <a:off x="548640" y="4526280"/>
            <a:ext cx="8046720" cy="457200"/>
          </a:xfrm>
          <a:prstGeom prst="rect">
            <a:avLst/>
          </a:prstGeom>
          <a:noFill/>
          <a:ln/>
        </p:spPr>
        <p:txBody>
          <a:bodyPr wrap="square" rtlCol="0" anchor="ctr"/>
          <a:lstStyle/>
          <a:p>
            <a:pPr marL="0" indent="0" algn="ctr">
              <a:lnSpc>
                <a:spcPct val="120000"/>
              </a:lnSpc>
              <a:buNone/>
            </a:pPr>
            <a:r>
              <a:rPr lang="en-US" sz="1200" dirty="0">
                <a:solidFill>
                  <a:srgbClr val="0E1B2C"/>
                </a:solidFill>
                <a:latin typeface="Calibri" pitchFamily="34" charset="0"/>
                <a:ea typeface="Calibri" pitchFamily="34" charset="-122"/>
                <a:cs typeface="Calibri" pitchFamily="34" charset="-120"/>
              </a:rPr>
              <a:t>Low-budget films return 180% on the median dollar. High-budget films return 69%. Blockbusters claw some of it back at 116%, but the clear winner on return is the smallest tier, not the biggest.</a:t>
            </a:r>
            <a:endParaRPr lang="en-US" sz="1200" dirty="0"/>
          </a:p>
        </p:txBody>
      </p:sp>
      <p:sp>
        <p:nvSpPr>
          <p:cNvPr id="7" name="Text 4"/>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500" dirty="0">
                <a:solidFill>
                  <a:srgbClr val="0E1B2C"/>
                </a:solidFill>
                <a:latin typeface="Cambria" pitchFamily="34" charset="0"/>
                <a:ea typeface="Cambria" pitchFamily="34" charset="-122"/>
                <a:cs typeface="Cambria" pitchFamily="34" charset="-120"/>
              </a:rPr>
              <a:t>Where the money goes, by genre</a:t>
            </a:r>
            <a:endParaRPr lang="en-US" sz="2500" dirty="0"/>
          </a:p>
        </p:txBody>
      </p:sp>
      <p:sp>
        <p:nvSpPr>
          <p:cNvPr id="4" name="Shape 2"/>
          <p:cNvSpPr/>
          <p:nvPr/>
        </p:nvSpPr>
        <p:spPr>
          <a:xfrm>
            <a:off x="548640" y="1249680"/>
            <a:ext cx="914400" cy="0"/>
          </a:xfrm>
          <a:prstGeom prst="line">
            <a:avLst/>
          </a:prstGeom>
          <a:noFill/>
          <a:ln w="28575">
            <a:solidFill>
              <a:srgbClr val="C2410C"/>
            </a:solidFill>
            <a:prstDash val="solid"/>
          </a:ln>
        </p:spPr>
      </p:sp>
      <p:pic>
        <p:nvPicPr>
          <p:cNvPr id="5" name="Image 0" descr="/home/claude/v3_assets/genre_budget.png"/>
          <p:cNvPicPr>
            <a:picLocks noChangeAspect="1"/>
          </p:cNvPicPr>
          <p:nvPr/>
        </p:nvPicPr>
        <p:blipFill>
          <a:blip r:embed="rId3"/>
          <a:stretch>
            <a:fillRect/>
          </a:stretch>
        </p:blipFill>
        <p:spPr>
          <a:xfrm>
            <a:off x="1369859" y="1298448"/>
            <a:ext cx="6404282" cy="3200400"/>
          </a:xfrm>
          <a:prstGeom prst="rect">
            <a:avLst/>
          </a:prstGeom>
        </p:spPr>
      </p:pic>
      <p:sp>
        <p:nvSpPr>
          <p:cNvPr id="6" name="Text 3"/>
          <p:cNvSpPr/>
          <p:nvPr/>
        </p:nvSpPr>
        <p:spPr>
          <a:xfrm>
            <a:off x="548640" y="4572000"/>
            <a:ext cx="804672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Animation and Adventure carry the highest median budgets, mostly visual-effects cost. Genres absent from this list, like horror, tend to sit in the low-budget tier, and post the strongest returns on the previous slide.</a:t>
            </a:r>
            <a:endParaRPr lang="en-US" sz="1100" dirty="0"/>
          </a:p>
        </p:txBody>
      </p:sp>
      <p:sp>
        <p:nvSpPr>
          <p:cNvPr id="7" name="Text 4"/>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400" dirty="0">
                <a:solidFill>
                  <a:srgbClr val="0E1B2C"/>
                </a:solidFill>
                <a:latin typeface="Cambria" pitchFamily="34" charset="0"/>
                <a:ea typeface="Cambria" pitchFamily="34" charset="-122"/>
                <a:cs typeface="Cambria" pitchFamily="34" charset="-120"/>
              </a:rPr>
              <a:t>A century of rising budgets and revenue</a:t>
            </a:r>
            <a:endParaRPr lang="en-US" sz="24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decade_trends.png"/>
          <p:cNvPicPr>
            <a:picLocks noChangeAspect="1"/>
          </p:cNvPicPr>
          <p:nvPr/>
        </p:nvPicPr>
        <p:blipFill>
          <a:blip r:embed="rId3"/>
          <a:stretch>
            <a:fillRect/>
          </a:stretch>
        </p:blipFill>
        <p:spPr>
          <a:xfrm>
            <a:off x="1204938" y="1234440"/>
            <a:ext cx="6734123" cy="3291840"/>
          </a:xfrm>
          <a:prstGeom prst="rect">
            <a:avLst/>
          </a:prstGeom>
        </p:spPr>
      </p:pic>
      <p:sp>
        <p:nvSpPr>
          <p:cNvPr id="6" name="Text 3"/>
          <p:cNvSpPr/>
          <p:nvPr/>
        </p:nvSpPr>
        <p:spPr>
          <a:xfrm>
            <a:off x="548640" y="4572000"/>
            <a:ext cx="804672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Revenue has stayed above budget in every decade since the 1910s, so the industry has been profitable on a median basis throughout. The gap narrows slightly in the 2010s as streaming starts to cut into theatrical revenue.</a:t>
            </a:r>
            <a:endParaRPr lang="en-US" sz="1100" dirty="0"/>
          </a:p>
        </p:txBody>
      </p:sp>
      <p:sp>
        <p:nvSpPr>
          <p:cNvPr id="7" name="Text 4"/>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PREDICTION, PART ONE</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200" dirty="0">
                <a:solidFill>
                  <a:srgbClr val="0E1B2C"/>
                </a:solidFill>
                <a:latin typeface="Cambria" pitchFamily="34" charset="0"/>
                <a:ea typeface="Cambria" pitchFamily="34" charset="-122"/>
                <a:cs typeface="Cambria" pitchFamily="34" charset="-120"/>
              </a:rPr>
              <a:t>Can revenue be predicted before release?</a:t>
            </a:r>
            <a:endParaRPr lang="en-US" sz="22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model_comparison.png"/>
          <p:cNvPicPr>
            <a:picLocks noChangeAspect="1"/>
          </p:cNvPicPr>
          <p:nvPr/>
        </p:nvPicPr>
        <p:blipFill>
          <a:blip r:embed="rId3"/>
          <a:stretch>
            <a:fillRect/>
          </a:stretch>
        </p:blipFill>
        <p:spPr>
          <a:xfrm>
            <a:off x="2576649" y="1188720"/>
            <a:ext cx="3990703" cy="1783080"/>
          </a:xfrm>
          <a:prstGeom prst="rect">
            <a:avLst/>
          </a:prstGeom>
        </p:spPr>
      </p:pic>
      <p:sp>
        <p:nvSpPr>
          <p:cNvPr id="6" name="Text 3"/>
          <p:cNvSpPr/>
          <p:nvPr/>
        </p:nvSpPr>
        <p:spPr>
          <a:xfrm>
            <a:off x="548640" y="3108960"/>
            <a:ext cx="2194560" cy="228600"/>
          </a:xfrm>
          <a:prstGeom prst="rect">
            <a:avLst/>
          </a:prstGeom>
          <a:noFill/>
          <a:ln/>
        </p:spPr>
        <p:txBody>
          <a:bodyPr wrap="square" rtlCol="0" anchor="ctr"/>
          <a:lstStyle/>
          <a:p>
            <a:pPr marL="0" indent="0">
              <a:buNone/>
            </a:pPr>
            <a:r>
              <a:rPr lang="en-US" sz="950" b="1" dirty="0">
                <a:solidFill>
                  <a:srgbClr val="5A6472"/>
                </a:solidFill>
                <a:latin typeface="Calibri" pitchFamily="34" charset="0"/>
                <a:ea typeface="Calibri" pitchFamily="34" charset="-122"/>
                <a:cs typeface="Calibri" pitchFamily="34" charset="-120"/>
              </a:rPr>
              <a:t>Model</a:t>
            </a:r>
            <a:endParaRPr lang="en-US" sz="950" dirty="0"/>
          </a:p>
        </p:txBody>
      </p:sp>
      <p:sp>
        <p:nvSpPr>
          <p:cNvPr id="7" name="Text 4"/>
          <p:cNvSpPr/>
          <p:nvPr/>
        </p:nvSpPr>
        <p:spPr>
          <a:xfrm>
            <a:off x="2743200" y="3108960"/>
            <a:ext cx="1280160" cy="228600"/>
          </a:xfrm>
          <a:prstGeom prst="rect">
            <a:avLst/>
          </a:prstGeom>
          <a:noFill/>
          <a:ln/>
        </p:spPr>
        <p:txBody>
          <a:bodyPr wrap="square" rtlCol="0" anchor="ctr"/>
          <a:lstStyle/>
          <a:p>
            <a:pPr marL="0" indent="0">
              <a:buNone/>
            </a:pPr>
            <a:r>
              <a:rPr lang="en-US" sz="950" b="1" dirty="0">
                <a:solidFill>
                  <a:srgbClr val="5A6472"/>
                </a:solidFill>
                <a:latin typeface="Calibri" pitchFamily="34" charset="0"/>
                <a:ea typeface="Calibri" pitchFamily="34" charset="-122"/>
                <a:cs typeface="Calibri" pitchFamily="34" charset="-120"/>
              </a:rPr>
              <a:t>MAE</a:t>
            </a:r>
            <a:endParaRPr lang="en-US" sz="950" dirty="0"/>
          </a:p>
        </p:txBody>
      </p:sp>
      <p:sp>
        <p:nvSpPr>
          <p:cNvPr id="8" name="Text 5"/>
          <p:cNvSpPr/>
          <p:nvPr/>
        </p:nvSpPr>
        <p:spPr>
          <a:xfrm>
            <a:off x="4023360" y="3108960"/>
            <a:ext cx="1280160" cy="228600"/>
          </a:xfrm>
          <a:prstGeom prst="rect">
            <a:avLst/>
          </a:prstGeom>
          <a:noFill/>
          <a:ln/>
        </p:spPr>
        <p:txBody>
          <a:bodyPr wrap="square" rtlCol="0" anchor="ctr"/>
          <a:lstStyle/>
          <a:p>
            <a:pPr marL="0" indent="0">
              <a:buNone/>
            </a:pPr>
            <a:r>
              <a:rPr lang="en-US" sz="950" b="1" dirty="0">
                <a:solidFill>
                  <a:srgbClr val="5A6472"/>
                </a:solidFill>
                <a:latin typeface="Calibri" pitchFamily="34" charset="0"/>
                <a:ea typeface="Calibri" pitchFamily="34" charset="-122"/>
                <a:cs typeface="Calibri" pitchFamily="34" charset="-120"/>
              </a:rPr>
              <a:t>RMSE</a:t>
            </a:r>
            <a:endParaRPr lang="en-US" sz="950" dirty="0"/>
          </a:p>
        </p:txBody>
      </p:sp>
      <p:sp>
        <p:nvSpPr>
          <p:cNvPr id="9" name="Text 6"/>
          <p:cNvSpPr/>
          <p:nvPr/>
        </p:nvSpPr>
        <p:spPr>
          <a:xfrm>
            <a:off x="5303520" y="3108960"/>
            <a:ext cx="1371600" cy="228600"/>
          </a:xfrm>
          <a:prstGeom prst="rect">
            <a:avLst/>
          </a:prstGeom>
          <a:noFill/>
          <a:ln/>
        </p:spPr>
        <p:txBody>
          <a:bodyPr wrap="square" rtlCol="0" anchor="ctr"/>
          <a:lstStyle/>
          <a:p>
            <a:pPr marL="0" indent="0">
              <a:buNone/>
            </a:pPr>
            <a:r>
              <a:rPr lang="en-US" sz="950" b="1" dirty="0">
                <a:solidFill>
                  <a:srgbClr val="5A6472"/>
                </a:solidFill>
                <a:latin typeface="Calibri" pitchFamily="34" charset="0"/>
                <a:ea typeface="Calibri" pitchFamily="34" charset="-122"/>
                <a:cs typeface="Calibri" pitchFamily="34" charset="-120"/>
              </a:rPr>
              <a:t>R² (test)</a:t>
            </a:r>
            <a:endParaRPr lang="en-US" sz="950" dirty="0"/>
          </a:p>
        </p:txBody>
      </p:sp>
      <p:sp>
        <p:nvSpPr>
          <p:cNvPr id="10" name="Text 7"/>
          <p:cNvSpPr/>
          <p:nvPr/>
        </p:nvSpPr>
        <p:spPr>
          <a:xfrm>
            <a:off x="6675120" y="3108960"/>
            <a:ext cx="1920240" cy="228600"/>
          </a:xfrm>
          <a:prstGeom prst="rect">
            <a:avLst/>
          </a:prstGeom>
          <a:noFill/>
          <a:ln/>
        </p:spPr>
        <p:txBody>
          <a:bodyPr wrap="square" rtlCol="0" anchor="ctr"/>
          <a:lstStyle/>
          <a:p>
            <a:pPr marL="0" indent="0">
              <a:buNone/>
            </a:pPr>
            <a:r>
              <a:rPr lang="en-US" sz="950" b="1" dirty="0">
                <a:solidFill>
                  <a:srgbClr val="5A6472"/>
                </a:solidFill>
                <a:latin typeface="Calibri" pitchFamily="34" charset="0"/>
                <a:ea typeface="Calibri" pitchFamily="34" charset="-122"/>
                <a:cs typeface="Calibri" pitchFamily="34" charset="-120"/>
              </a:rPr>
              <a:t>CV R²</a:t>
            </a:r>
            <a:endParaRPr lang="en-US" sz="950" dirty="0"/>
          </a:p>
        </p:txBody>
      </p:sp>
      <p:sp>
        <p:nvSpPr>
          <p:cNvPr id="11" name="Shape 8"/>
          <p:cNvSpPr/>
          <p:nvPr/>
        </p:nvSpPr>
        <p:spPr>
          <a:xfrm>
            <a:off x="548640" y="3364992"/>
            <a:ext cx="8046720" cy="0"/>
          </a:xfrm>
          <a:prstGeom prst="line">
            <a:avLst/>
          </a:prstGeom>
          <a:noFill/>
          <a:ln w="12700">
            <a:solidFill>
              <a:srgbClr val="DCD8CC"/>
            </a:solidFill>
            <a:prstDash val="solid"/>
          </a:ln>
        </p:spPr>
      </p:sp>
      <p:sp>
        <p:nvSpPr>
          <p:cNvPr id="12" name="Text 9"/>
          <p:cNvSpPr/>
          <p:nvPr/>
        </p:nvSpPr>
        <p:spPr>
          <a:xfrm>
            <a:off x="548640" y="3438144"/>
            <a:ext cx="2194560" cy="237744"/>
          </a:xfrm>
          <a:prstGeom prst="rect">
            <a:avLst/>
          </a:prstGeom>
          <a:noFill/>
          <a:ln/>
        </p:spPr>
        <p:txBody>
          <a:bodyPr wrap="square" rtlCol="0" anchor="ctr"/>
          <a:lstStyle/>
          <a:p>
            <a:pPr marL="0" indent="0">
              <a:buNone/>
            </a:pPr>
            <a:r>
              <a:rPr lang="en-US" sz="950" b="1" dirty="0">
                <a:solidFill>
                  <a:srgbClr val="0E1B2C"/>
                </a:solidFill>
                <a:latin typeface="Calibri" pitchFamily="34" charset="0"/>
                <a:ea typeface="Calibri" pitchFamily="34" charset="-122"/>
                <a:cs typeface="Calibri" pitchFamily="34" charset="-120"/>
              </a:rPr>
              <a:t>Linear Regression</a:t>
            </a:r>
            <a:endParaRPr lang="en-US" sz="950" dirty="0"/>
          </a:p>
        </p:txBody>
      </p:sp>
      <p:sp>
        <p:nvSpPr>
          <p:cNvPr id="13" name="Text 10"/>
          <p:cNvSpPr/>
          <p:nvPr/>
        </p:nvSpPr>
        <p:spPr>
          <a:xfrm>
            <a:off x="2743200" y="3438144"/>
            <a:ext cx="128016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$62.0M</a:t>
            </a:r>
            <a:endParaRPr lang="en-US" sz="950" dirty="0"/>
          </a:p>
        </p:txBody>
      </p:sp>
      <p:sp>
        <p:nvSpPr>
          <p:cNvPr id="14" name="Text 11"/>
          <p:cNvSpPr/>
          <p:nvPr/>
        </p:nvSpPr>
        <p:spPr>
          <a:xfrm>
            <a:off x="4023360" y="3438144"/>
            <a:ext cx="128016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$123.5M</a:t>
            </a:r>
            <a:endParaRPr lang="en-US" sz="950" dirty="0"/>
          </a:p>
        </p:txBody>
      </p:sp>
      <p:sp>
        <p:nvSpPr>
          <p:cNvPr id="15" name="Text 12"/>
          <p:cNvSpPr/>
          <p:nvPr/>
        </p:nvSpPr>
        <p:spPr>
          <a:xfrm>
            <a:off x="5303520" y="3438144"/>
            <a:ext cx="137160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0.531</a:t>
            </a:r>
            <a:endParaRPr lang="en-US" sz="950" dirty="0"/>
          </a:p>
        </p:txBody>
      </p:sp>
      <p:sp>
        <p:nvSpPr>
          <p:cNvPr id="16" name="Text 13"/>
          <p:cNvSpPr/>
          <p:nvPr/>
        </p:nvSpPr>
        <p:spPr>
          <a:xfrm>
            <a:off x="6675120" y="3438144"/>
            <a:ext cx="192024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0.536 ± 0.047</a:t>
            </a:r>
            <a:endParaRPr lang="en-US" sz="950" dirty="0"/>
          </a:p>
        </p:txBody>
      </p:sp>
      <p:sp>
        <p:nvSpPr>
          <p:cNvPr id="17" name="Text 14"/>
          <p:cNvSpPr/>
          <p:nvPr/>
        </p:nvSpPr>
        <p:spPr>
          <a:xfrm>
            <a:off x="548640" y="3694176"/>
            <a:ext cx="2194560" cy="237744"/>
          </a:xfrm>
          <a:prstGeom prst="rect">
            <a:avLst/>
          </a:prstGeom>
          <a:noFill/>
          <a:ln/>
        </p:spPr>
        <p:txBody>
          <a:bodyPr wrap="square" rtlCol="0" anchor="ctr"/>
          <a:lstStyle/>
          <a:p>
            <a:pPr marL="0" indent="0">
              <a:buNone/>
            </a:pPr>
            <a:r>
              <a:rPr lang="en-US" sz="950" b="1" dirty="0">
                <a:solidFill>
                  <a:srgbClr val="0E1B2C"/>
                </a:solidFill>
                <a:latin typeface="Calibri" pitchFamily="34" charset="0"/>
                <a:ea typeface="Calibri" pitchFamily="34" charset="-122"/>
                <a:cs typeface="Calibri" pitchFamily="34" charset="-120"/>
              </a:rPr>
              <a:t>Random Forest</a:t>
            </a:r>
            <a:endParaRPr lang="en-US" sz="950" dirty="0"/>
          </a:p>
        </p:txBody>
      </p:sp>
      <p:sp>
        <p:nvSpPr>
          <p:cNvPr id="18" name="Text 15"/>
          <p:cNvSpPr/>
          <p:nvPr/>
        </p:nvSpPr>
        <p:spPr>
          <a:xfrm>
            <a:off x="2743200" y="3694176"/>
            <a:ext cx="128016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$60.8M</a:t>
            </a:r>
            <a:endParaRPr lang="en-US" sz="950" dirty="0"/>
          </a:p>
        </p:txBody>
      </p:sp>
      <p:sp>
        <p:nvSpPr>
          <p:cNvPr id="19" name="Text 16"/>
          <p:cNvSpPr/>
          <p:nvPr/>
        </p:nvSpPr>
        <p:spPr>
          <a:xfrm>
            <a:off x="4023360" y="3694176"/>
            <a:ext cx="128016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$122.1M</a:t>
            </a:r>
            <a:endParaRPr lang="en-US" sz="950" dirty="0"/>
          </a:p>
        </p:txBody>
      </p:sp>
      <p:sp>
        <p:nvSpPr>
          <p:cNvPr id="20" name="Text 17"/>
          <p:cNvSpPr/>
          <p:nvPr/>
        </p:nvSpPr>
        <p:spPr>
          <a:xfrm>
            <a:off x="5303520" y="3694176"/>
            <a:ext cx="137160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0.542</a:t>
            </a:r>
            <a:endParaRPr lang="en-US" sz="950" dirty="0"/>
          </a:p>
        </p:txBody>
      </p:sp>
      <p:sp>
        <p:nvSpPr>
          <p:cNvPr id="21" name="Text 18"/>
          <p:cNvSpPr/>
          <p:nvPr/>
        </p:nvSpPr>
        <p:spPr>
          <a:xfrm>
            <a:off x="6675120" y="3694176"/>
            <a:ext cx="1920240" cy="237744"/>
          </a:xfrm>
          <a:prstGeom prst="rect">
            <a:avLst/>
          </a:prstGeom>
          <a:noFill/>
          <a:ln/>
        </p:spPr>
        <p:txBody>
          <a:bodyPr wrap="square" rtlCol="0" anchor="ctr"/>
          <a:lstStyle/>
          <a:p>
            <a:pPr marL="0" indent="0">
              <a:buNone/>
            </a:pPr>
            <a:r>
              <a:rPr lang="en-US" sz="950" dirty="0">
                <a:solidFill>
                  <a:srgbClr val="5A6472"/>
                </a:solidFill>
                <a:latin typeface="Calibri" pitchFamily="34" charset="0"/>
                <a:ea typeface="Calibri" pitchFamily="34" charset="-122"/>
                <a:cs typeface="Calibri" pitchFamily="34" charset="-120"/>
              </a:rPr>
              <a:t>0.498 ± 0.078</a:t>
            </a:r>
            <a:endParaRPr lang="en-US" sz="950" dirty="0"/>
          </a:p>
        </p:txBody>
      </p:sp>
      <p:sp>
        <p:nvSpPr>
          <p:cNvPr id="22" name="Shape 19"/>
          <p:cNvSpPr/>
          <p:nvPr/>
        </p:nvSpPr>
        <p:spPr>
          <a:xfrm>
            <a:off x="548640" y="3977640"/>
            <a:ext cx="8046720" cy="0"/>
          </a:xfrm>
          <a:prstGeom prst="line">
            <a:avLst/>
          </a:prstGeom>
          <a:noFill/>
          <a:ln w="12700">
            <a:solidFill>
              <a:srgbClr val="DCD8CC"/>
            </a:solidFill>
            <a:prstDash val="solid"/>
          </a:ln>
        </p:spPr>
      </p:sp>
      <p:sp>
        <p:nvSpPr>
          <p:cNvPr id="23" name="Text 20"/>
          <p:cNvSpPr/>
          <p:nvPr/>
        </p:nvSpPr>
        <p:spPr>
          <a:xfrm>
            <a:off x="548640" y="4078224"/>
            <a:ext cx="8046720" cy="292608"/>
          </a:xfrm>
          <a:prstGeom prst="rect">
            <a:avLst/>
          </a:prstGeom>
          <a:noFill/>
          <a:ln/>
        </p:spPr>
        <p:txBody>
          <a:bodyPr wrap="square" rtlCol="0" anchor="t"/>
          <a:lstStyle/>
          <a:p>
            <a:pPr marL="0" indent="0">
              <a:buNone/>
            </a:pPr>
            <a:r>
              <a:rPr lang="en-US" sz="1050" b="1" dirty="0">
                <a:solidFill>
                  <a:srgbClr val="0E1B2C"/>
                </a:solidFill>
                <a:latin typeface="Calibri" pitchFamily="34" charset="0"/>
                <a:ea typeface="Calibri" pitchFamily="34" charset="-122"/>
                <a:cs typeface="Calibri" pitchFamily="34" charset="-120"/>
              </a:rPr>
              <a:t>Inputs: </a:t>
            </a:r>
            <a:r>
              <a:rPr lang="en-US" sz="1050" dirty="0">
                <a:solidFill>
                  <a:srgbClr val="5A6472"/>
                </a:solidFill>
                <a:latin typeface="Calibri" pitchFamily="34" charset="0"/>
                <a:ea typeface="Calibri" pitchFamily="34" charset="-122"/>
                <a:cs typeface="Calibri" pitchFamily="34" charset="-120"/>
              </a:rPr>
              <a:t>budget, runtime, release year, genre, and decade: five features, all known before a film comes out.</a:t>
            </a:r>
            <a:endParaRPr lang="en-US" sz="1050" dirty="0"/>
          </a:p>
        </p:txBody>
      </p:sp>
      <p:sp>
        <p:nvSpPr>
          <p:cNvPr id="24" name="Text 21"/>
          <p:cNvSpPr/>
          <p:nvPr/>
        </p:nvSpPr>
        <p:spPr>
          <a:xfrm>
            <a:off x="548640" y="4352544"/>
            <a:ext cx="8046720" cy="502920"/>
          </a:xfrm>
          <a:prstGeom prst="rect">
            <a:avLst/>
          </a:prstGeom>
          <a:noFill/>
          <a:ln/>
        </p:spPr>
        <p:txBody>
          <a:bodyPr wrap="square" rtlCol="0" anchor="t"/>
          <a:lstStyle/>
          <a:p>
            <a:pPr marL="0" indent="0">
              <a:lnSpc>
                <a:spcPct val="115000"/>
              </a:lnSpc>
              <a:buNone/>
            </a:pPr>
            <a:r>
              <a:rPr lang="en-US" sz="1050" b="1" dirty="0">
                <a:solidFill>
                  <a:srgbClr val="0E1B2C"/>
                </a:solidFill>
                <a:latin typeface="Calibri" pitchFamily="34" charset="0"/>
                <a:ea typeface="Calibri" pitchFamily="34" charset="-122"/>
                <a:cs typeface="Calibri" pitchFamily="34" charset="-120"/>
              </a:rPr>
              <a:t>Reading the result: </a:t>
            </a:r>
            <a:r>
              <a:rPr lang="en-US" sz="1050" dirty="0">
                <a:solidFill>
                  <a:srgbClr val="5A6472"/>
                </a:solidFill>
                <a:latin typeface="Calibri" pitchFamily="34" charset="0"/>
                <a:ea typeface="Calibri" pitchFamily="34" charset="-122"/>
                <a:cs typeface="Calibri" pitchFamily="34" charset="-120"/>
              </a:rPr>
              <a:t>Random Forest edges ahead on this one test split, but Linear Regression wins on five-fold cross-validation with lower variance, so the simpler model actually generalizes better. Either way, an R-squared near 0.54 leaves the rest to marketing, cast, timing, and word of mouth.</a:t>
            </a:r>
            <a:endParaRPr lang="en-US" sz="1050" dirty="0"/>
          </a:p>
        </p:txBody>
      </p:sp>
      <p:sp>
        <p:nvSpPr>
          <p:cNvPr id="25" name="Text 22"/>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PREDICTION, PART ONE</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500" dirty="0">
                <a:solidFill>
                  <a:srgbClr val="0E1B2C"/>
                </a:solidFill>
                <a:latin typeface="Cambria" pitchFamily="34" charset="0"/>
                <a:ea typeface="Cambria" pitchFamily="34" charset="-122"/>
                <a:cs typeface="Cambria" pitchFamily="34" charset="-120"/>
              </a:rPr>
              <a:t>What the model actually leans on</a:t>
            </a:r>
            <a:endParaRPr lang="en-US" sz="25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feature_importance.png"/>
          <p:cNvPicPr>
            <a:picLocks noChangeAspect="1"/>
          </p:cNvPicPr>
          <p:nvPr/>
        </p:nvPicPr>
        <p:blipFill>
          <a:blip r:embed="rId3"/>
          <a:stretch>
            <a:fillRect/>
          </a:stretch>
        </p:blipFill>
        <p:spPr>
          <a:xfrm>
            <a:off x="1392992" y="1280160"/>
            <a:ext cx="6358015" cy="3246120"/>
          </a:xfrm>
          <a:prstGeom prst="rect">
            <a:avLst/>
          </a:prstGeom>
        </p:spPr>
      </p:pic>
      <p:sp>
        <p:nvSpPr>
          <p:cNvPr id="6" name="Text 3"/>
          <p:cNvSpPr/>
          <p:nvPr/>
        </p:nvSpPr>
        <p:spPr>
          <a:xfrm>
            <a:off x="548640" y="4572000"/>
            <a:ext cx="804672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Budget alone carries 63.6% of the predictive weight. Runtime adds 16.1% and release year 9.5%. All genres and decades combined add roughly 10.8%. The story is almost entirely about how much money went in.</a:t>
            </a:r>
            <a:endParaRPr lang="en-US" sz="1100" dirty="0"/>
          </a:p>
        </p:txBody>
      </p:sp>
      <p:sp>
        <p:nvSpPr>
          <p:cNvPr id="7" name="Text 4"/>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PREDICTION, PART TWO</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500" dirty="0">
                <a:solidFill>
                  <a:srgbClr val="0E1B2C"/>
                </a:solidFill>
                <a:latin typeface="Cambria" pitchFamily="34" charset="0"/>
                <a:ea typeface="Cambria" pitchFamily="34" charset="-122"/>
                <a:cs typeface="Cambria" pitchFamily="34" charset="-120"/>
              </a:rPr>
              <a:t>A simpler question: hit, or flop?</a:t>
            </a:r>
            <a:endParaRPr lang="en-US" sz="2500" dirty="0"/>
          </a:p>
        </p:txBody>
      </p:sp>
      <p:sp>
        <p:nvSpPr>
          <p:cNvPr id="4" name="Shape 2"/>
          <p:cNvSpPr/>
          <p:nvPr/>
        </p:nvSpPr>
        <p:spPr>
          <a:xfrm>
            <a:off x="548640" y="1298448"/>
            <a:ext cx="914400" cy="0"/>
          </a:xfrm>
          <a:prstGeom prst="line">
            <a:avLst/>
          </a:prstGeom>
          <a:noFill/>
          <a:ln w="28575">
            <a:solidFill>
              <a:srgbClr val="C2410C"/>
            </a:solidFill>
            <a:prstDash val="solid"/>
          </a:ln>
        </p:spPr>
      </p:sp>
      <p:pic>
        <p:nvPicPr>
          <p:cNvPr id="5" name="Image 0" descr="/home/claude/v3_assets/roc_curve.png"/>
          <p:cNvPicPr>
            <a:picLocks noChangeAspect="1"/>
          </p:cNvPicPr>
          <p:nvPr/>
        </p:nvPicPr>
        <p:blipFill>
          <a:blip r:embed="rId3"/>
          <a:stretch>
            <a:fillRect/>
          </a:stretch>
        </p:blipFill>
        <p:spPr>
          <a:xfrm>
            <a:off x="502920" y="1481328"/>
            <a:ext cx="3783697" cy="2606040"/>
          </a:xfrm>
          <a:prstGeom prst="rect">
            <a:avLst/>
          </a:prstGeom>
        </p:spPr>
      </p:pic>
      <p:sp>
        <p:nvSpPr>
          <p:cNvPr id="6" name="Text 3"/>
          <p:cNvSpPr/>
          <p:nvPr/>
        </p:nvSpPr>
        <p:spPr>
          <a:xfrm>
            <a:off x="4560937" y="1481328"/>
            <a:ext cx="4034423" cy="457200"/>
          </a:xfrm>
          <a:prstGeom prst="rect">
            <a:avLst/>
          </a:prstGeom>
          <a:noFill/>
          <a:ln/>
        </p:spPr>
        <p:txBody>
          <a:bodyPr wrap="square" rtlCol="0" anchor="ctr"/>
          <a:lstStyle/>
          <a:p>
            <a:pPr marL="0" indent="0">
              <a:buNone/>
            </a:pPr>
            <a:r>
              <a:rPr lang="en-US" sz="2600" dirty="0">
                <a:solidFill>
                  <a:srgbClr val="C2410C"/>
                </a:solidFill>
                <a:latin typeface="Cambria" pitchFamily="34" charset="0"/>
                <a:ea typeface="Cambria" pitchFamily="34" charset="-122"/>
                <a:cs typeface="Cambria" pitchFamily="34" charset="-120"/>
              </a:rPr>
              <a:t>AUC 0.860</a:t>
            </a:r>
            <a:endParaRPr lang="en-US" sz="2600" dirty="0"/>
          </a:p>
        </p:txBody>
      </p:sp>
      <p:sp>
        <p:nvSpPr>
          <p:cNvPr id="7" name="Text 4"/>
          <p:cNvSpPr/>
          <p:nvPr/>
        </p:nvSpPr>
        <p:spPr>
          <a:xfrm>
            <a:off x="4560937" y="1956816"/>
            <a:ext cx="4034423" cy="274320"/>
          </a:xfrm>
          <a:prstGeom prst="rect">
            <a:avLst/>
          </a:prstGeom>
          <a:noFill/>
          <a:ln/>
        </p:spPr>
        <p:txBody>
          <a:bodyPr wrap="square" rtlCol="0" anchor="ctr"/>
          <a:lstStyle/>
          <a:p>
            <a:pPr marL="0" indent="0">
              <a:buNone/>
            </a:pPr>
            <a:r>
              <a:rPr lang="en-US" sz="1100" dirty="0">
                <a:solidFill>
                  <a:srgbClr val="5A6472"/>
                </a:solidFill>
                <a:latin typeface="Calibri" pitchFamily="34" charset="0"/>
                <a:ea typeface="Calibri" pitchFamily="34" charset="-122"/>
                <a:cs typeface="Calibri" pitchFamily="34" charset="-120"/>
              </a:rPr>
              <a:t>Logistic Regression, on a held-out test set</a:t>
            </a:r>
            <a:endParaRPr lang="en-US" sz="1100" dirty="0"/>
          </a:p>
        </p:txBody>
      </p:sp>
      <p:sp>
        <p:nvSpPr>
          <p:cNvPr id="8" name="Shape 5"/>
          <p:cNvSpPr/>
          <p:nvPr/>
        </p:nvSpPr>
        <p:spPr>
          <a:xfrm>
            <a:off x="4560937" y="2395728"/>
            <a:ext cx="4034423" cy="0"/>
          </a:xfrm>
          <a:prstGeom prst="line">
            <a:avLst/>
          </a:prstGeom>
          <a:noFill/>
          <a:ln w="12700">
            <a:solidFill>
              <a:srgbClr val="DCD8CC"/>
            </a:solidFill>
            <a:prstDash val="solid"/>
          </a:ln>
        </p:spPr>
      </p:sp>
      <p:sp>
        <p:nvSpPr>
          <p:cNvPr id="9" name="Text 6"/>
          <p:cNvSpPr/>
          <p:nvPr/>
        </p:nvSpPr>
        <p:spPr>
          <a:xfrm>
            <a:off x="4560937" y="2578608"/>
            <a:ext cx="1188720" cy="320040"/>
          </a:xfrm>
          <a:prstGeom prst="rect">
            <a:avLst/>
          </a:prstGeom>
          <a:noFill/>
          <a:ln/>
        </p:spPr>
        <p:txBody>
          <a:bodyPr wrap="square" rtlCol="0" anchor="ctr"/>
          <a:lstStyle/>
          <a:p>
            <a:pPr marL="0" indent="0">
              <a:buNone/>
            </a:pPr>
            <a:r>
              <a:rPr lang="en-US" sz="1600" dirty="0">
                <a:solidFill>
                  <a:srgbClr val="0E1B2C"/>
                </a:solidFill>
                <a:latin typeface="Cambria" pitchFamily="34" charset="0"/>
                <a:ea typeface="Cambria" pitchFamily="34" charset="-122"/>
                <a:cs typeface="Cambria" pitchFamily="34" charset="-120"/>
              </a:rPr>
              <a:t>77.3%</a:t>
            </a:r>
            <a:endParaRPr lang="en-US" sz="1600" dirty="0"/>
          </a:p>
        </p:txBody>
      </p:sp>
      <p:sp>
        <p:nvSpPr>
          <p:cNvPr id="10" name="Text 7"/>
          <p:cNvSpPr/>
          <p:nvPr/>
        </p:nvSpPr>
        <p:spPr>
          <a:xfrm>
            <a:off x="5795377" y="2578608"/>
            <a:ext cx="2799983" cy="457200"/>
          </a:xfrm>
          <a:prstGeom prst="rect">
            <a:avLst/>
          </a:prstGeom>
          <a:noFill/>
          <a:ln/>
        </p:spPr>
        <p:txBody>
          <a:bodyPr wrap="square" rtlCol="0" anchor="t"/>
          <a:lstStyle/>
          <a:p>
            <a:pPr marL="0" indent="0">
              <a:buNone/>
            </a:pPr>
            <a:r>
              <a:rPr lang="en-US" sz="1000" dirty="0">
                <a:solidFill>
                  <a:srgbClr val="5A6472"/>
                </a:solidFill>
                <a:latin typeface="Calibri" pitchFamily="34" charset="0"/>
                <a:ea typeface="Calibri" pitchFamily="34" charset="-122"/>
                <a:cs typeface="Calibri" pitchFamily="34" charset="-120"/>
              </a:rPr>
              <a:t>accuracy, Logistic Regression</a:t>
            </a:r>
            <a:endParaRPr lang="en-US" sz="1000" dirty="0"/>
          </a:p>
        </p:txBody>
      </p:sp>
      <p:sp>
        <p:nvSpPr>
          <p:cNvPr id="11" name="Text 8"/>
          <p:cNvSpPr/>
          <p:nvPr/>
        </p:nvSpPr>
        <p:spPr>
          <a:xfrm>
            <a:off x="4560937" y="3108960"/>
            <a:ext cx="1188720" cy="320040"/>
          </a:xfrm>
          <a:prstGeom prst="rect">
            <a:avLst/>
          </a:prstGeom>
          <a:noFill/>
          <a:ln/>
        </p:spPr>
        <p:txBody>
          <a:bodyPr wrap="square" rtlCol="0" anchor="ctr"/>
          <a:lstStyle/>
          <a:p>
            <a:pPr marL="0" indent="0">
              <a:buNone/>
            </a:pPr>
            <a:r>
              <a:rPr lang="en-US" sz="1600" dirty="0">
                <a:solidFill>
                  <a:srgbClr val="0E1B2C"/>
                </a:solidFill>
                <a:latin typeface="Cambria" pitchFamily="34" charset="0"/>
                <a:ea typeface="Cambria" pitchFamily="34" charset="-122"/>
                <a:cs typeface="Cambria" pitchFamily="34" charset="-120"/>
              </a:rPr>
              <a:t>0.750</a:t>
            </a:r>
            <a:endParaRPr lang="en-US" sz="1600" dirty="0"/>
          </a:p>
        </p:txBody>
      </p:sp>
      <p:sp>
        <p:nvSpPr>
          <p:cNvPr id="12" name="Text 9"/>
          <p:cNvSpPr/>
          <p:nvPr/>
        </p:nvSpPr>
        <p:spPr>
          <a:xfrm>
            <a:off x="5795377" y="3108960"/>
            <a:ext cx="2799983" cy="457200"/>
          </a:xfrm>
          <a:prstGeom prst="rect">
            <a:avLst/>
          </a:prstGeom>
          <a:noFill/>
          <a:ln/>
        </p:spPr>
        <p:txBody>
          <a:bodyPr wrap="square" rtlCol="0" anchor="t"/>
          <a:lstStyle/>
          <a:p>
            <a:pPr marL="0" indent="0">
              <a:buNone/>
            </a:pPr>
            <a:r>
              <a:rPr lang="en-US" sz="1000" dirty="0">
                <a:solidFill>
                  <a:srgbClr val="5A6472"/>
                </a:solidFill>
                <a:latin typeface="Calibri" pitchFamily="34" charset="0"/>
                <a:ea typeface="Calibri" pitchFamily="34" charset="-122"/>
                <a:cs typeface="Calibri" pitchFamily="34" charset="-120"/>
              </a:rPr>
              <a:t>F1 score</a:t>
            </a:r>
            <a:endParaRPr lang="en-US" sz="1000" dirty="0"/>
          </a:p>
        </p:txBody>
      </p:sp>
      <p:sp>
        <p:nvSpPr>
          <p:cNvPr id="13" name="Text 10"/>
          <p:cNvSpPr/>
          <p:nvPr/>
        </p:nvSpPr>
        <p:spPr>
          <a:xfrm>
            <a:off x="4560937" y="3639312"/>
            <a:ext cx="1188720" cy="320040"/>
          </a:xfrm>
          <a:prstGeom prst="rect">
            <a:avLst/>
          </a:prstGeom>
          <a:noFill/>
          <a:ln/>
        </p:spPr>
        <p:txBody>
          <a:bodyPr wrap="square" rtlCol="0" anchor="ctr"/>
          <a:lstStyle/>
          <a:p>
            <a:pPr marL="0" indent="0">
              <a:buNone/>
            </a:pPr>
            <a:r>
              <a:rPr lang="en-US" sz="1600" dirty="0">
                <a:solidFill>
                  <a:srgbClr val="0E1B2C"/>
                </a:solidFill>
                <a:latin typeface="Cambria" pitchFamily="34" charset="0"/>
                <a:ea typeface="Cambria" pitchFamily="34" charset="-122"/>
                <a:cs typeface="Cambria" pitchFamily="34" charset="-120"/>
              </a:rPr>
              <a:t>47.2%</a:t>
            </a:r>
            <a:endParaRPr lang="en-US" sz="1600" dirty="0"/>
          </a:p>
        </p:txBody>
      </p:sp>
      <p:sp>
        <p:nvSpPr>
          <p:cNvPr id="14" name="Text 11"/>
          <p:cNvSpPr/>
          <p:nvPr/>
        </p:nvSpPr>
        <p:spPr>
          <a:xfrm>
            <a:off x="5795377" y="3639312"/>
            <a:ext cx="2799983" cy="457200"/>
          </a:xfrm>
          <a:prstGeom prst="rect">
            <a:avLst/>
          </a:prstGeom>
          <a:noFill/>
          <a:ln/>
        </p:spPr>
        <p:txBody>
          <a:bodyPr wrap="square" rtlCol="0" anchor="t"/>
          <a:lstStyle/>
          <a:p>
            <a:pPr marL="0" indent="0">
              <a:buNone/>
            </a:pPr>
            <a:r>
              <a:rPr lang="en-US" sz="1000" dirty="0">
                <a:solidFill>
                  <a:srgbClr val="5A6472"/>
                </a:solidFill>
                <a:latin typeface="Calibri" pitchFamily="34" charset="0"/>
                <a:ea typeface="Calibri" pitchFamily="34" charset="-122"/>
                <a:cs typeface="Calibri" pitchFamily="34" charset="-120"/>
              </a:rPr>
              <a:t>share of Random Forest's decision that comes from budget alone</a:t>
            </a:r>
            <a:endParaRPr lang="en-US" sz="1000" dirty="0"/>
          </a:p>
        </p:txBody>
      </p:sp>
      <p:sp>
        <p:nvSpPr>
          <p:cNvPr id="15" name="Text 12"/>
          <p:cNvSpPr/>
          <p:nvPr/>
        </p:nvSpPr>
        <p:spPr>
          <a:xfrm>
            <a:off x="548640" y="4251960"/>
            <a:ext cx="786384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The $30M median revenue is the hit/flop line. Applying that same threshold to the regression model's own predictions gives comparable accuracy, so one regression model can do both jobs.</a:t>
            </a:r>
            <a:endParaRPr lang="en-US" sz="1100" dirty="0"/>
          </a:p>
        </p:txBody>
      </p:sp>
      <p:sp>
        <p:nvSpPr>
          <p:cNvPr id="16" name="Text 13"/>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PROCESS</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700" dirty="0">
                <a:solidFill>
                  <a:srgbClr val="0E1B2C"/>
                </a:solidFill>
                <a:latin typeface="Cambria" pitchFamily="34" charset="0"/>
                <a:ea typeface="Cambria" pitchFamily="34" charset="-122"/>
                <a:cs typeface="Cambria" pitchFamily="34" charset="-120"/>
              </a:rPr>
              <a:t>How we got here</a:t>
            </a:r>
            <a:endParaRPr lang="en-US" sz="27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548640" y="1435608"/>
            <a:ext cx="8046720" cy="27432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Tracked on JIRA, May 3 to June 28</a:t>
            </a:r>
            <a:endParaRPr lang="en-US" sz="1100" dirty="0"/>
          </a:p>
        </p:txBody>
      </p:sp>
      <p:sp>
        <p:nvSpPr>
          <p:cNvPr id="6" name="Text 4"/>
          <p:cNvSpPr/>
          <p:nvPr/>
        </p:nvSpPr>
        <p:spPr>
          <a:xfrm>
            <a:off x="548640" y="1801368"/>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DA-12</a:t>
            </a:r>
            <a:endParaRPr lang="en-US" sz="950" dirty="0"/>
          </a:p>
        </p:txBody>
      </p:sp>
      <p:sp>
        <p:nvSpPr>
          <p:cNvPr id="7" name="Text 5"/>
          <p:cNvSpPr/>
          <p:nvPr/>
        </p:nvSpPr>
        <p:spPr>
          <a:xfrm>
            <a:off x="1463040" y="1801368"/>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Finalize project direction</a:t>
            </a:r>
            <a:endParaRPr lang="en-US" sz="1050" dirty="0"/>
          </a:p>
        </p:txBody>
      </p:sp>
      <p:sp>
        <p:nvSpPr>
          <p:cNvPr id="8" name="Text 6"/>
          <p:cNvSpPr/>
          <p:nvPr/>
        </p:nvSpPr>
        <p:spPr>
          <a:xfrm>
            <a:off x="6766560" y="1801368"/>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Numrah</a:t>
            </a:r>
            <a:endParaRPr lang="en-US" sz="950" dirty="0"/>
          </a:p>
        </p:txBody>
      </p:sp>
      <p:sp>
        <p:nvSpPr>
          <p:cNvPr id="9" name="Text 7"/>
          <p:cNvSpPr/>
          <p:nvPr/>
        </p:nvSpPr>
        <p:spPr>
          <a:xfrm>
            <a:off x="548640" y="2093976"/>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DA-13</a:t>
            </a:r>
            <a:endParaRPr lang="en-US" sz="950" dirty="0"/>
          </a:p>
        </p:txBody>
      </p:sp>
      <p:sp>
        <p:nvSpPr>
          <p:cNvPr id="10" name="Text 8"/>
          <p:cNvSpPr/>
          <p:nvPr/>
        </p:nvSpPr>
        <p:spPr>
          <a:xfrm>
            <a:off x="1463040" y="2093976"/>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Identify and download datasets</a:t>
            </a:r>
            <a:endParaRPr lang="en-US" sz="1050" dirty="0"/>
          </a:p>
        </p:txBody>
      </p:sp>
      <p:sp>
        <p:nvSpPr>
          <p:cNvPr id="11" name="Text 9"/>
          <p:cNvSpPr/>
          <p:nvPr/>
        </p:nvSpPr>
        <p:spPr>
          <a:xfrm>
            <a:off x="6766560" y="2093976"/>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Hadi</a:t>
            </a:r>
            <a:endParaRPr lang="en-US" sz="950" dirty="0"/>
          </a:p>
        </p:txBody>
      </p:sp>
      <p:sp>
        <p:nvSpPr>
          <p:cNvPr id="12" name="Text 10"/>
          <p:cNvSpPr/>
          <p:nvPr/>
        </p:nvSpPr>
        <p:spPr>
          <a:xfrm>
            <a:off x="548640" y="2386584"/>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DA-14</a:t>
            </a:r>
            <a:endParaRPr lang="en-US" sz="950" dirty="0"/>
          </a:p>
        </p:txBody>
      </p:sp>
      <p:sp>
        <p:nvSpPr>
          <p:cNvPr id="13" name="Text 11"/>
          <p:cNvSpPr/>
          <p:nvPr/>
        </p:nvSpPr>
        <p:spPr>
          <a:xfrm>
            <a:off x="1463040" y="2386584"/>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Clean, standardize, and merge data</a:t>
            </a:r>
            <a:endParaRPr lang="en-US" sz="1050" dirty="0"/>
          </a:p>
        </p:txBody>
      </p:sp>
      <p:sp>
        <p:nvSpPr>
          <p:cNvPr id="14" name="Text 12"/>
          <p:cNvSpPr/>
          <p:nvPr/>
        </p:nvSpPr>
        <p:spPr>
          <a:xfrm>
            <a:off x="6766560" y="2386584"/>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Hadi</a:t>
            </a:r>
            <a:endParaRPr lang="en-US" sz="950" dirty="0"/>
          </a:p>
        </p:txBody>
      </p:sp>
      <p:sp>
        <p:nvSpPr>
          <p:cNvPr id="15" name="Text 13"/>
          <p:cNvSpPr/>
          <p:nvPr/>
        </p:nvSpPr>
        <p:spPr>
          <a:xfrm>
            <a:off x="548640" y="2679192"/>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DA-15</a:t>
            </a:r>
            <a:endParaRPr lang="en-US" sz="950" dirty="0"/>
          </a:p>
        </p:txBody>
      </p:sp>
      <p:sp>
        <p:nvSpPr>
          <p:cNvPr id="16" name="Text 14"/>
          <p:cNvSpPr/>
          <p:nvPr/>
        </p:nvSpPr>
        <p:spPr>
          <a:xfrm>
            <a:off x="1463040" y="2679192"/>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Analyze budget vs revenue and ratings</a:t>
            </a:r>
            <a:endParaRPr lang="en-US" sz="1050" dirty="0"/>
          </a:p>
        </p:txBody>
      </p:sp>
      <p:sp>
        <p:nvSpPr>
          <p:cNvPr id="17" name="Text 15"/>
          <p:cNvSpPr/>
          <p:nvPr/>
        </p:nvSpPr>
        <p:spPr>
          <a:xfrm>
            <a:off x="6766560" y="2679192"/>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Fatih, Yash</a:t>
            </a:r>
            <a:endParaRPr lang="en-US" sz="950" dirty="0"/>
          </a:p>
        </p:txBody>
      </p:sp>
      <p:sp>
        <p:nvSpPr>
          <p:cNvPr id="18" name="Text 16"/>
          <p:cNvSpPr/>
          <p:nvPr/>
        </p:nvSpPr>
        <p:spPr>
          <a:xfrm>
            <a:off x="548640" y="2971800"/>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DA-16</a:t>
            </a:r>
            <a:endParaRPr lang="en-US" sz="950" dirty="0"/>
          </a:p>
        </p:txBody>
      </p:sp>
      <p:sp>
        <p:nvSpPr>
          <p:cNvPr id="19" name="Text 17"/>
          <p:cNvSpPr/>
          <p:nvPr/>
        </p:nvSpPr>
        <p:spPr>
          <a:xfrm>
            <a:off x="1463040" y="2971800"/>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Feature engineering and modeling</a:t>
            </a:r>
            <a:endParaRPr lang="en-US" sz="1050" dirty="0"/>
          </a:p>
        </p:txBody>
      </p:sp>
      <p:sp>
        <p:nvSpPr>
          <p:cNvPr id="20" name="Text 18"/>
          <p:cNvSpPr/>
          <p:nvPr/>
        </p:nvSpPr>
        <p:spPr>
          <a:xfrm>
            <a:off x="6766560" y="2971800"/>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Fatih, Hadi</a:t>
            </a:r>
            <a:endParaRPr lang="en-US" sz="950" dirty="0"/>
          </a:p>
        </p:txBody>
      </p:sp>
      <p:sp>
        <p:nvSpPr>
          <p:cNvPr id="21" name="Text 19"/>
          <p:cNvSpPr/>
          <p:nvPr/>
        </p:nvSpPr>
        <p:spPr>
          <a:xfrm>
            <a:off x="548640" y="3264408"/>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DA-17</a:t>
            </a:r>
            <a:endParaRPr lang="en-US" sz="950" dirty="0"/>
          </a:p>
        </p:txBody>
      </p:sp>
      <p:sp>
        <p:nvSpPr>
          <p:cNvPr id="22" name="Text 20"/>
          <p:cNvSpPr/>
          <p:nvPr/>
        </p:nvSpPr>
        <p:spPr>
          <a:xfrm>
            <a:off x="1463040" y="3264408"/>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Evaluate model performance</a:t>
            </a:r>
            <a:endParaRPr lang="en-US" sz="1050" dirty="0"/>
          </a:p>
        </p:txBody>
      </p:sp>
      <p:sp>
        <p:nvSpPr>
          <p:cNvPr id="23" name="Text 21"/>
          <p:cNvSpPr/>
          <p:nvPr/>
        </p:nvSpPr>
        <p:spPr>
          <a:xfrm>
            <a:off x="6766560" y="3264408"/>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Hadi, Fatih</a:t>
            </a:r>
            <a:endParaRPr lang="en-US" sz="950" dirty="0"/>
          </a:p>
        </p:txBody>
      </p:sp>
      <p:sp>
        <p:nvSpPr>
          <p:cNvPr id="24" name="Text 22"/>
          <p:cNvSpPr/>
          <p:nvPr/>
        </p:nvSpPr>
        <p:spPr>
          <a:xfrm>
            <a:off x="548640" y="3557016"/>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DA-18</a:t>
            </a:r>
            <a:endParaRPr lang="en-US" sz="950" dirty="0"/>
          </a:p>
        </p:txBody>
      </p:sp>
      <p:sp>
        <p:nvSpPr>
          <p:cNvPr id="25" name="Text 23"/>
          <p:cNvSpPr/>
          <p:nvPr/>
        </p:nvSpPr>
        <p:spPr>
          <a:xfrm>
            <a:off x="1463040" y="3557016"/>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Build charts, exports, dashboard</a:t>
            </a:r>
            <a:endParaRPr lang="en-US" sz="1050" dirty="0"/>
          </a:p>
        </p:txBody>
      </p:sp>
      <p:sp>
        <p:nvSpPr>
          <p:cNvPr id="26" name="Text 24"/>
          <p:cNvSpPr/>
          <p:nvPr/>
        </p:nvSpPr>
        <p:spPr>
          <a:xfrm>
            <a:off x="6766560" y="3557016"/>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Yash</a:t>
            </a:r>
            <a:endParaRPr lang="en-US" sz="950" dirty="0"/>
          </a:p>
        </p:txBody>
      </p:sp>
      <p:sp>
        <p:nvSpPr>
          <p:cNvPr id="27" name="Text 25"/>
          <p:cNvSpPr/>
          <p:nvPr/>
        </p:nvSpPr>
        <p:spPr>
          <a:xfrm>
            <a:off x="548640" y="3849624"/>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DA-19</a:t>
            </a:r>
            <a:endParaRPr lang="en-US" sz="950" dirty="0"/>
          </a:p>
        </p:txBody>
      </p:sp>
      <p:sp>
        <p:nvSpPr>
          <p:cNvPr id="28" name="Text 26"/>
          <p:cNvSpPr/>
          <p:nvPr/>
        </p:nvSpPr>
        <p:spPr>
          <a:xfrm>
            <a:off x="1463040" y="3849624"/>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Write the system design document</a:t>
            </a:r>
            <a:endParaRPr lang="en-US" sz="1050" dirty="0"/>
          </a:p>
        </p:txBody>
      </p:sp>
      <p:sp>
        <p:nvSpPr>
          <p:cNvPr id="29" name="Text 27"/>
          <p:cNvSpPr/>
          <p:nvPr/>
        </p:nvSpPr>
        <p:spPr>
          <a:xfrm>
            <a:off x="6766560" y="3849624"/>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Numrah</a:t>
            </a:r>
            <a:endParaRPr lang="en-US" sz="950" dirty="0"/>
          </a:p>
        </p:txBody>
      </p:sp>
      <p:sp>
        <p:nvSpPr>
          <p:cNvPr id="30" name="Text 28"/>
          <p:cNvSpPr/>
          <p:nvPr/>
        </p:nvSpPr>
        <p:spPr>
          <a:xfrm>
            <a:off x="548640" y="4142232"/>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DA-20</a:t>
            </a:r>
            <a:endParaRPr lang="en-US" sz="950" dirty="0"/>
          </a:p>
        </p:txBody>
      </p:sp>
      <p:sp>
        <p:nvSpPr>
          <p:cNvPr id="31" name="Text 29"/>
          <p:cNvSpPr/>
          <p:nvPr/>
        </p:nvSpPr>
        <p:spPr>
          <a:xfrm>
            <a:off x="1463040" y="4142232"/>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Final report and presentation</a:t>
            </a:r>
            <a:endParaRPr lang="en-US" sz="1050" dirty="0"/>
          </a:p>
        </p:txBody>
      </p:sp>
      <p:sp>
        <p:nvSpPr>
          <p:cNvPr id="32" name="Text 30"/>
          <p:cNvSpPr/>
          <p:nvPr/>
        </p:nvSpPr>
        <p:spPr>
          <a:xfrm>
            <a:off x="6766560" y="4142232"/>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Yash</a:t>
            </a:r>
            <a:endParaRPr lang="en-US" sz="950" dirty="0"/>
          </a:p>
        </p:txBody>
      </p:sp>
      <p:sp>
        <p:nvSpPr>
          <p:cNvPr id="33" name="Text 31"/>
          <p:cNvSpPr/>
          <p:nvPr/>
        </p:nvSpPr>
        <p:spPr>
          <a:xfrm>
            <a:off x="548640" y="4434840"/>
            <a:ext cx="868680" cy="292608"/>
          </a:xfrm>
          <a:prstGeom prst="rect">
            <a:avLst/>
          </a:prstGeom>
          <a:noFill/>
          <a:ln/>
        </p:spPr>
        <p:txBody>
          <a:bodyPr wrap="square" rtlCol="0" anchor="ctr"/>
          <a:lstStyle/>
          <a:p>
            <a:pPr marL="0" indent="0">
              <a:buNone/>
            </a:pPr>
            <a:r>
              <a:rPr lang="en-US" sz="950" b="1" dirty="0">
                <a:solidFill>
                  <a:srgbClr val="C2410C"/>
                </a:solidFill>
                <a:latin typeface="Calibri" pitchFamily="34" charset="0"/>
                <a:ea typeface="Calibri" pitchFamily="34" charset="-122"/>
                <a:cs typeface="Calibri" pitchFamily="34" charset="-120"/>
              </a:rPr>
              <a:t>DA-21</a:t>
            </a:r>
            <a:endParaRPr lang="en-US" sz="950" dirty="0"/>
          </a:p>
        </p:txBody>
      </p:sp>
      <p:sp>
        <p:nvSpPr>
          <p:cNvPr id="34" name="Text 32"/>
          <p:cNvSpPr/>
          <p:nvPr/>
        </p:nvSpPr>
        <p:spPr>
          <a:xfrm>
            <a:off x="1463040" y="4434840"/>
            <a:ext cx="5212080" cy="292608"/>
          </a:xfrm>
          <a:prstGeom prst="rect">
            <a:avLst/>
          </a:prstGeom>
          <a:noFill/>
          <a:ln/>
        </p:spPr>
        <p:txBody>
          <a:bodyPr wrap="square" rtlCol="0" anchor="ctr"/>
          <a:lstStyle/>
          <a:p>
            <a:pPr marL="0" indent="0">
              <a:buNone/>
            </a:pPr>
            <a:r>
              <a:rPr lang="en-US" sz="1050" dirty="0">
                <a:solidFill>
                  <a:srgbClr val="0E1B2C"/>
                </a:solidFill>
                <a:latin typeface="Calibri" pitchFamily="34" charset="0"/>
                <a:ea typeface="Calibri" pitchFamily="34" charset="-122"/>
                <a:cs typeface="Calibri" pitchFamily="34" charset="-120"/>
              </a:rPr>
              <a:t>Track project work, team updates</a:t>
            </a:r>
            <a:endParaRPr lang="en-US" sz="1050" dirty="0"/>
          </a:p>
        </p:txBody>
      </p:sp>
      <p:sp>
        <p:nvSpPr>
          <p:cNvPr id="35" name="Text 33"/>
          <p:cNvSpPr/>
          <p:nvPr/>
        </p:nvSpPr>
        <p:spPr>
          <a:xfrm>
            <a:off x="6766560" y="4434840"/>
            <a:ext cx="1691640" cy="292608"/>
          </a:xfrm>
          <a:prstGeom prst="rect">
            <a:avLst/>
          </a:prstGeom>
          <a:noFill/>
          <a:ln/>
        </p:spPr>
        <p:txBody>
          <a:bodyPr wrap="square" rtlCol="0" anchor="ctr"/>
          <a:lstStyle/>
          <a:p>
            <a:pPr marL="0" indent="0" algn="r">
              <a:buNone/>
            </a:pPr>
            <a:r>
              <a:rPr lang="en-US" sz="950" i="1" dirty="0">
                <a:solidFill>
                  <a:srgbClr val="5A6472"/>
                </a:solidFill>
                <a:latin typeface="Calibri" pitchFamily="34" charset="0"/>
                <a:ea typeface="Calibri" pitchFamily="34" charset="-122"/>
                <a:cs typeface="Calibri" pitchFamily="34" charset="-120"/>
              </a:rPr>
              <a:t>Numrah</a:t>
            </a:r>
            <a:endParaRPr lang="en-US" sz="950" dirty="0"/>
          </a:p>
        </p:txBody>
      </p:sp>
      <p:sp>
        <p:nvSpPr>
          <p:cNvPr id="36" name="Shape 34"/>
          <p:cNvSpPr/>
          <p:nvPr/>
        </p:nvSpPr>
        <p:spPr>
          <a:xfrm>
            <a:off x="548640" y="1783080"/>
            <a:ext cx="7909560" cy="0"/>
          </a:xfrm>
          <a:prstGeom prst="line">
            <a:avLst/>
          </a:prstGeom>
          <a:noFill/>
          <a:ln w="12700">
            <a:solidFill>
              <a:srgbClr val="DCD8CC"/>
            </a:solidFill>
            <a:prstDash val="solid"/>
          </a:ln>
        </p:spPr>
      </p:sp>
      <p:sp>
        <p:nvSpPr>
          <p:cNvPr id="37" name="Text 35"/>
          <p:cNvSpPr/>
          <p:nvPr/>
        </p:nvSpPr>
        <p:spPr>
          <a:xfrm>
            <a:off x="548640" y="4864608"/>
            <a:ext cx="8046720" cy="365760"/>
          </a:xfrm>
          <a:prstGeom prst="rect">
            <a:avLst/>
          </a:prstGeom>
          <a:noFill/>
          <a:ln/>
        </p:spPr>
        <p:txBody>
          <a:bodyPr wrap="square"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All 10 epics and 50+ subtasks were closed out before this presentation.</a:t>
            </a:r>
            <a:endParaRPr lang="en-US" sz="1100" dirty="0"/>
          </a:p>
        </p:txBody>
      </p:sp>
      <p:sp>
        <p:nvSpPr>
          <p:cNvPr id="38" name="Text 36"/>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PROCESS, IN FULL</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700" dirty="0">
                <a:solidFill>
                  <a:srgbClr val="0E1B2C"/>
                </a:solidFill>
                <a:latin typeface="Cambria" pitchFamily="34" charset="0"/>
                <a:ea typeface="Cambria" pitchFamily="34" charset="-122"/>
                <a:cs typeface="Cambria" pitchFamily="34" charset="-120"/>
              </a:rPr>
              <a:t>Project Gantt chart</a:t>
            </a:r>
            <a:endParaRPr lang="en-US" sz="27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374904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W1</a:t>
            </a:r>
            <a:endParaRPr lang="en-US" sz="850" dirty="0"/>
          </a:p>
        </p:txBody>
      </p:sp>
      <p:sp>
        <p:nvSpPr>
          <p:cNvPr id="6" name="Text 4"/>
          <p:cNvSpPr/>
          <p:nvPr/>
        </p:nvSpPr>
        <p:spPr>
          <a:xfrm>
            <a:off x="428752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W2</a:t>
            </a:r>
            <a:endParaRPr lang="en-US" sz="850" dirty="0"/>
          </a:p>
        </p:txBody>
      </p:sp>
      <p:sp>
        <p:nvSpPr>
          <p:cNvPr id="7" name="Text 5"/>
          <p:cNvSpPr/>
          <p:nvPr/>
        </p:nvSpPr>
        <p:spPr>
          <a:xfrm>
            <a:off x="482600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W3</a:t>
            </a:r>
            <a:endParaRPr lang="en-US" sz="850" dirty="0"/>
          </a:p>
        </p:txBody>
      </p:sp>
      <p:sp>
        <p:nvSpPr>
          <p:cNvPr id="8" name="Text 6"/>
          <p:cNvSpPr/>
          <p:nvPr/>
        </p:nvSpPr>
        <p:spPr>
          <a:xfrm>
            <a:off x="536448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W4</a:t>
            </a:r>
            <a:endParaRPr lang="en-US" sz="850" dirty="0"/>
          </a:p>
        </p:txBody>
      </p:sp>
      <p:sp>
        <p:nvSpPr>
          <p:cNvPr id="9" name="Text 7"/>
          <p:cNvSpPr/>
          <p:nvPr/>
        </p:nvSpPr>
        <p:spPr>
          <a:xfrm>
            <a:off x="590296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W5</a:t>
            </a:r>
            <a:endParaRPr lang="en-US" sz="850" dirty="0"/>
          </a:p>
        </p:txBody>
      </p:sp>
      <p:sp>
        <p:nvSpPr>
          <p:cNvPr id="10" name="Text 8"/>
          <p:cNvSpPr/>
          <p:nvPr/>
        </p:nvSpPr>
        <p:spPr>
          <a:xfrm>
            <a:off x="644144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W6</a:t>
            </a:r>
            <a:endParaRPr lang="en-US" sz="850" dirty="0"/>
          </a:p>
        </p:txBody>
      </p:sp>
      <p:sp>
        <p:nvSpPr>
          <p:cNvPr id="11" name="Text 9"/>
          <p:cNvSpPr/>
          <p:nvPr/>
        </p:nvSpPr>
        <p:spPr>
          <a:xfrm>
            <a:off x="697992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W7</a:t>
            </a:r>
            <a:endParaRPr lang="en-US" sz="850" dirty="0"/>
          </a:p>
        </p:txBody>
      </p:sp>
      <p:sp>
        <p:nvSpPr>
          <p:cNvPr id="12" name="Text 10"/>
          <p:cNvSpPr/>
          <p:nvPr/>
        </p:nvSpPr>
        <p:spPr>
          <a:xfrm>
            <a:off x="751840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W8</a:t>
            </a:r>
            <a:endParaRPr lang="en-US" sz="850" dirty="0"/>
          </a:p>
        </p:txBody>
      </p:sp>
      <p:sp>
        <p:nvSpPr>
          <p:cNvPr id="13" name="Text 11"/>
          <p:cNvSpPr/>
          <p:nvPr/>
        </p:nvSpPr>
        <p:spPr>
          <a:xfrm>
            <a:off x="8056880" y="1353312"/>
            <a:ext cx="538480" cy="201168"/>
          </a:xfrm>
          <a:prstGeom prst="rect">
            <a:avLst/>
          </a:prstGeom>
          <a:noFill/>
          <a:ln/>
        </p:spPr>
        <p:txBody>
          <a:bodyPr wrap="square" rtlCol="0" anchor="ctr"/>
          <a:lstStyle/>
          <a:p>
            <a:pPr marL="0" indent="0" algn="ctr">
              <a:buNone/>
            </a:pPr>
            <a:r>
              <a:rPr lang="en-US" sz="850" dirty="0">
                <a:solidFill>
                  <a:srgbClr val="5A6472"/>
                </a:solidFill>
                <a:latin typeface="Calibri" pitchFamily="34" charset="0"/>
                <a:ea typeface="Calibri" pitchFamily="34" charset="-122"/>
                <a:cs typeface="Calibri" pitchFamily="34" charset="-120"/>
              </a:rPr>
              <a:t>W9</a:t>
            </a:r>
            <a:endParaRPr lang="en-US" sz="850" dirty="0"/>
          </a:p>
        </p:txBody>
      </p:sp>
      <p:sp>
        <p:nvSpPr>
          <p:cNvPr id="14" name="Shape 12"/>
          <p:cNvSpPr/>
          <p:nvPr/>
        </p:nvSpPr>
        <p:spPr>
          <a:xfrm>
            <a:off x="548640" y="1572768"/>
            <a:ext cx="8046720" cy="0"/>
          </a:xfrm>
          <a:prstGeom prst="line">
            <a:avLst/>
          </a:prstGeom>
          <a:noFill/>
          <a:ln w="12700">
            <a:solidFill>
              <a:srgbClr val="DCD8CC"/>
            </a:solidFill>
            <a:prstDash val="solid"/>
          </a:ln>
        </p:spPr>
      </p:sp>
      <p:sp>
        <p:nvSpPr>
          <p:cNvPr id="15" name="Text 13"/>
          <p:cNvSpPr/>
          <p:nvPr/>
        </p:nvSpPr>
        <p:spPr>
          <a:xfrm>
            <a:off x="548640" y="1591056"/>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DA-12</a:t>
            </a:r>
            <a:endParaRPr lang="en-US" sz="750" dirty="0"/>
          </a:p>
        </p:txBody>
      </p:sp>
      <p:sp>
        <p:nvSpPr>
          <p:cNvPr id="16" name="Text 14"/>
          <p:cNvSpPr/>
          <p:nvPr/>
        </p:nvSpPr>
        <p:spPr>
          <a:xfrm>
            <a:off x="1115568" y="1591056"/>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Finalize project direction</a:t>
            </a:r>
            <a:endParaRPr lang="en-US" sz="800" dirty="0"/>
          </a:p>
        </p:txBody>
      </p:sp>
      <p:sp>
        <p:nvSpPr>
          <p:cNvPr id="17" name="Shape 15"/>
          <p:cNvSpPr/>
          <p:nvPr/>
        </p:nvSpPr>
        <p:spPr>
          <a:xfrm>
            <a:off x="3767328" y="1636776"/>
            <a:ext cx="501904" cy="169164"/>
          </a:xfrm>
          <a:prstGeom prst="rect">
            <a:avLst/>
          </a:prstGeom>
          <a:solidFill>
            <a:srgbClr val="C2410C"/>
          </a:solidFill>
          <a:ln/>
        </p:spPr>
      </p:sp>
      <p:sp>
        <p:nvSpPr>
          <p:cNvPr id="18" name="Text 16"/>
          <p:cNvSpPr/>
          <p:nvPr/>
        </p:nvSpPr>
        <p:spPr>
          <a:xfrm>
            <a:off x="548640" y="1851660"/>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DA-13</a:t>
            </a:r>
            <a:endParaRPr lang="en-US" sz="750" dirty="0"/>
          </a:p>
        </p:txBody>
      </p:sp>
      <p:sp>
        <p:nvSpPr>
          <p:cNvPr id="19" name="Text 17"/>
          <p:cNvSpPr/>
          <p:nvPr/>
        </p:nvSpPr>
        <p:spPr>
          <a:xfrm>
            <a:off x="1115568" y="1851660"/>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Identify &amp; download datasets</a:t>
            </a:r>
            <a:endParaRPr lang="en-US" sz="800" dirty="0"/>
          </a:p>
        </p:txBody>
      </p:sp>
      <p:sp>
        <p:nvSpPr>
          <p:cNvPr id="20" name="Shape 18"/>
          <p:cNvSpPr/>
          <p:nvPr/>
        </p:nvSpPr>
        <p:spPr>
          <a:xfrm>
            <a:off x="3767328" y="1897380"/>
            <a:ext cx="1040384" cy="169164"/>
          </a:xfrm>
          <a:prstGeom prst="rect">
            <a:avLst/>
          </a:prstGeom>
          <a:solidFill>
            <a:srgbClr val="C2410C"/>
          </a:solidFill>
          <a:ln/>
        </p:spPr>
      </p:sp>
      <p:sp>
        <p:nvSpPr>
          <p:cNvPr id="21" name="Text 19"/>
          <p:cNvSpPr/>
          <p:nvPr/>
        </p:nvSpPr>
        <p:spPr>
          <a:xfrm>
            <a:off x="548640" y="2112264"/>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DA-14</a:t>
            </a:r>
            <a:endParaRPr lang="en-US" sz="750" dirty="0"/>
          </a:p>
        </p:txBody>
      </p:sp>
      <p:sp>
        <p:nvSpPr>
          <p:cNvPr id="22" name="Text 20"/>
          <p:cNvSpPr/>
          <p:nvPr/>
        </p:nvSpPr>
        <p:spPr>
          <a:xfrm>
            <a:off x="1115568" y="2112264"/>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Clean, standardize, merge data</a:t>
            </a:r>
            <a:endParaRPr lang="en-US" sz="800" dirty="0"/>
          </a:p>
        </p:txBody>
      </p:sp>
      <p:sp>
        <p:nvSpPr>
          <p:cNvPr id="23" name="Shape 21"/>
          <p:cNvSpPr/>
          <p:nvPr/>
        </p:nvSpPr>
        <p:spPr>
          <a:xfrm>
            <a:off x="4305808" y="2157984"/>
            <a:ext cx="1040384" cy="169164"/>
          </a:xfrm>
          <a:prstGeom prst="rect">
            <a:avLst/>
          </a:prstGeom>
          <a:solidFill>
            <a:srgbClr val="C2410C"/>
          </a:solidFill>
          <a:ln/>
        </p:spPr>
      </p:sp>
      <p:sp>
        <p:nvSpPr>
          <p:cNvPr id="24" name="Text 22"/>
          <p:cNvSpPr/>
          <p:nvPr/>
        </p:nvSpPr>
        <p:spPr>
          <a:xfrm>
            <a:off x="548640" y="2372868"/>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DA-15</a:t>
            </a:r>
            <a:endParaRPr lang="en-US" sz="750" dirty="0"/>
          </a:p>
        </p:txBody>
      </p:sp>
      <p:sp>
        <p:nvSpPr>
          <p:cNvPr id="25" name="Text 23"/>
          <p:cNvSpPr/>
          <p:nvPr/>
        </p:nvSpPr>
        <p:spPr>
          <a:xfrm>
            <a:off x="1115568" y="2372868"/>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Analyze budget vs revenue/ratings</a:t>
            </a:r>
            <a:endParaRPr lang="en-US" sz="800" dirty="0"/>
          </a:p>
        </p:txBody>
      </p:sp>
      <p:sp>
        <p:nvSpPr>
          <p:cNvPr id="26" name="Shape 24"/>
          <p:cNvSpPr/>
          <p:nvPr/>
        </p:nvSpPr>
        <p:spPr>
          <a:xfrm>
            <a:off x="4844288" y="2418588"/>
            <a:ext cx="1040384" cy="169164"/>
          </a:xfrm>
          <a:prstGeom prst="rect">
            <a:avLst/>
          </a:prstGeom>
          <a:solidFill>
            <a:srgbClr val="0F766E"/>
          </a:solidFill>
          <a:ln/>
        </p:spPr>
      </p:sp>
      <p:sp>
        <p:nvSpPr>
          <p:cNvPr id="27" name="Text 25"/>
          <p:cNvSpPr/>
          <p:nvPr/>
        </p:nvSpPr>
        <p:spPr>
          <a:xfrm>
            <a:off x="548640" y="2633472"/>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DA-16</a:t>
            </a:r>
            <a:endParaRPr lang="en-US" sz="750" dirty="0"/>
          </a:p>
        </p:txBody>
      </p:sp>
      <p:sp>
        <p:nvSpPr>
          <p:cNvPr id="28" name="Text 26"/>
          <p:cNvSpPr/>
          <p:nvPr/>
        </p:nvSpPr>
        <p:spPr>
          <a:xfrm>
            <a:off x="1115568" y="2633472"/>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Feature engineering &amp; modeling</a:t>
            </a:r>
            <a:endParaRPr lang="en-US" sz="800" dirty="0"/>
          </a:p>
        </p:txBody>
      </p:sp>
      <p:sp>
        <p:nvSpPr>
          <p:cNvPr id="29" name="Shape 27"/>
          <p:cNvSpPr/>
          <p:nvPr/>
        </p:nvSpPr>
        <p:spPr>
          <a:xfrm>
            <a:off x="5382768" y="2679192"/>
            <a:ext cx="1040384" cy="169164"/>
          </a:xfrm>
          <a:prstGeom prst="rect">
            <a:avLst/>
          </a:prstGeom>
          <a:solidFill>
            <a:srgbClr val="0F766E"/>
          </a:solidFill>
          <a:ln/>
        </p:spPr>
      </p:sp>
      <p:sp>
        <p:nvSpPr>
          <p:cNvPr id="30" name="Text 28"/>
          <p:cNvSpPr/>
          <p:nvPr/>
        </p:nvSpPr>
        <p:spPr>
          <a:xfrm>
            <a:off x="548640" y="2894076"/>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DA-17</a:t>
            </a:r>
            <a:endParaRPr lang="en-US" sz="750" dirty="0"/>
          </a:p>
        </p:txBody>
      </p:sp>
      <p:sp>
        <p:nvSpPr>
          <p:cNvPr id="31" name="Text 29"/>
          <p:cNvSpPr/>
          <p:nvPr/>
        </p:nvSpPr>
        <p:spPr>
          <a:xfrm>
            <a:off x="1115568" y="2894076"/>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Evaluate model performance</a:t>
            </a:r>
            <a:endParaRPr lang="en-US" sz="800" dirty="0"/>
          </a:p>
        </p:txBody>
      </p:sp>
      <p:sp>
        <p:nvSpPr>
          <p:cNvPr id="32" name="Shape 30"/>
          <p:cNvSpPr/>
          <p:nvPr/>
        </p:nvSpPr>
        <p:spPr>
          <a:xfrm>
            <a:off x="5921248" y="2939796"/>
            <a:ext cx="1040384" cy="169164"/>
          </a:xfrm>
          <a:prstGeom prst="rect">
            <a:avLst/>
          </a:prstGeom>
          <a:solidFill>
            <a:srgbClr val="0F766E"/>
          </a:solidFill>
          <a:ln/>
        </p:spPr>
      </p:sp>
      <p:sp>
        <p:nvSpPr>
          <p:cNvPr id="33" name="Text 31"/>
          <p:cNvSpPr/>
          <p:nvPr/>
        </p:nvSpPr>
        <p:spPr>
          <a:xfrm>
            <a:off x="548640" y="3154680"/>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DA-18</a:t>
            </a:r>
            <a:endParaRPr lang="en-US" sz="750" dirty="0"/>
          </a:p>
        </p:txBody>
      </p:sp>
      <p:sp>
        <p:nvSpPr>
          <p:cNvPr id="34" name="Text 32"/>
          <p:cNvSpPr/>
          <p:nvPr/>
        </p:nvSpPr>
        <p:spPr>
          <a:xfrm>
            <a:off x="1115568" y="3154680"/>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Build charts, exports, dashboard</a:t>
            </a:r>
            <a:endParaRPr lang="en-US" sz="800" dirty="0"/>
          </a:p>
        </p:txBody>
      </p:sp>
      <p:sp>
        <p:nvSpPr>
          <p:cNvPr id="35" name="Shape 33"/>
          <p:cNvSpPr/>
          <p:nvPr/>
        </p:nvSpPr>
        <p:spPr>
          <a:xfrm>
            <a:off x="6459728" y="3200400"/>
            <a:ext cx="1040384" cy="169164"/>
          </a:xfrm>
          <a:prstGeom prst="rect">
            <a:avLst/>
          </a:prstGeom>
          <a:solidFill>
            <a:srgbClr val="0F766E"/>
          </a:solidFill>
          <a:ln/>
        </p:spPr>
      </p:sp>
      <p:sp>
        <p:nvSpPr>
          <p:cNvPr id="36" name="Text 34"/>
          <p:cNvSpPr/>
          <p:nvPr/>
        </p:nvSpPr>
        <p:spPr>
          <a:xfrm>
            <a:off x="548640" y="3415284"/>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DA-19</a:t>
            </a:r>
            <a:endParaRPr lang="en-US" sz="750" dirty="0"/>
          </a:p>
        </p:txBody>
      </p:sp>
      <p:sp>
        <p:nvSpPr>
          <p:cNvPr id="37" name="Text 35"/>
          <p:cNvSpPr/>
          <p:nvPr/>
        </p:nvSpPr>
        <p:spPr>
          <a:xfrm>
            <a:off x="1115568" y="3415284"/>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System design document</a:t>
            </a:r>
            <a:endParaRPr lang="en-US" sz="800" dirty="0"/>
          </a:p>
        </p:txBody>
      </p:sp>
      <p:sp>
        <p:nvSpPr>
          <p:cNvPr id="38" name="Shape 36"/>
          <p:cNvSpPr/>
          <p:nvPr/>
        </p:nvSpPr>
        <p:spPr>
          <a:xfrm>
            <a:off x="6998208" y="3461004"/>
            <a:ext cx="1040384" cy="169164"/>
          </a:xfrm>
          <a:prstGeom prst="rect">
            <a:avLst/>
          </a:prstGeom>
          <a:solidFill>
            <a:srgbClr val="9F1239"/>
          </a:solidFill>
          <a:ln/>
        </p:spPr>
      </p:sp>
      <p:sp>
        <p:nvSpPr>
          <p:cNvPr id="39" name="Text 37"/>
          <p:cNvSpPr/>
          <p:nvPr/>
        </p:nvSpPr>
        <p:spPr>
          <a:xfrm>
            <a:off x="548640" y="3675888"/>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DA-20</a:t>
            </a:r>
            <a:endParaRPr lang="en-US" sz="750" dirty="0"/>
          </a:p>
        </p:txBody>
      </p:sp>
      <p:sp>
        <p:nvSpPr>
          <p:cNvPr id="40" name="Text 38"/>
          <p:cNvSpPr/>
          <p:nvPr/>
        </p:nvSpPr>
        <p:spPr>
          <a:xfrm>
            <a:off x="1115568" y="3675888"/>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Final report &amp; presentation</a:t>
            </a:r>
            <a:endParaRPr lang="en-US" sz="800" dirty="0"/>
          </a:p>
        </p:txBody>
      </p:sp>
      <p:sp>
        <p:nvSpPr>
          <p:cNvPr id="41" name="Shape 39"/>
          <p:cNvSpPr/>
          <p:nvPr/>
        </p:nvSpPr>
        <p:spPr>
          <a:xfrm>
            <a:off x="7536688" y="3721608"/>
            <a:ext cx="1040384" cy="169164"/>
          </a:xfrm>
          <a:prstGeom prst="rect">
            <a:avLst/>
          </a:prstGeom>
          <a:solidFill>
            <a:srgbClr val="9F1239"/>
          </a:solidFill>
          <a:ln/>
        </p:spPr>
      </p:sp>
      <p:sp>
        <p:nvSpPr>
          <p:cNvPr id="42" name="Text 40"/>
          <p:cNvSpPr/>
          <p:nvPr/>
        </p:nvSpPr>
        <p:spPr>
          <a:xfrm>
            <a:off x="548640" y="3936492"/>
            <a:ext cx="548640" cy="260604"/>
          </a:xfrm>
          <a:prstGeom prst="rect">
            <a:avLst/>
          </a:prstGeom>
          <a:noFill/>
          <a:ln/>
        </p:spPr>
        <p:txBody>
          <a:bodyPr wrap="square" rtlCol="0" anchor="ctr"/>
          <a:lstStyle/>
          <a:p>
            <a:pPr marL="0" indent="0">
              <a:buNone/>
            </a:pPr>
            <a:r>
              <a:rPr lang="en-US" sz="750" b="1" dirty="0">
                <a:solidFill>
                  <a:srgbClr val="C2410C"/>
                </a:solidFill>
                <a:latin typeface="Calibri" pitchFamily="34" charset="0"/>
                <a:ea typeface="Calibri" pitchFamily="34" charset="-122"/>
                <a:cs typeface="Calibri" pitchFamily="34" charset="-120"/>
              </a:rPr>
              <a:t>DA-21</a:t>
            </a:r>
            <a:endParaRPr lang="en-US" sz="750" dirty="0"/>
          </a:p>
        </p:txBody>
      </p:sp>
      <p:sp>
        <p:nvSpPr>
          <p:cNvPr id="43" name="Text 41"/>
          <p:cNvSpPr/>
          <p:nvPr/>
        </p:nvSpPr>
        <p:spPr>
          <a:xfrm>
            <a:off x="1115568" y="3936492"/>
            <a:ext cx="2633472" cy="260604"/>
          </a:xfrm>
          <a:prstGeom prst="rect">
            <a:avLst/>
          </a:prstGeom>
          <a:noFill/>
          <a:ln/>
        </p:spPr>
        <p:txBody>
          <a:bodyPr wrap="square" rtlCol="0" anchor="ctr"/>
          <a:lstStyle/>
          <a:p>
            <a:pPr marL="0" indent="0">
              <a:buNone/>
            </a:pPr>
            <a:r>
              <a:rPr lang="en-US" sz="800" dirty="0">
                <a:solidFill>
                  <a:srgbClr val="0E1B2C"/>
                </a:solidFill>
                <a:latin typeface="Calibri" pitchFamily="34" charset="0"/>
                <a:ea typeface="Calibri" pitchFamily="34" charset="-122"/>
                <a:cs typeface="Calibri" pitchFamily="34" charset="-120"/>
              </a:rPr>
              <a:t>Track project work, team updates</a:t>
            </a:r>
            <a:endParaRPr lang="en-US" sz="800" dirty="0"/>
          </a:p>
        </p:txBody>
      </p:sp>
      <p:sp>
        <p:nvSpPr>
          <p:cNvPr id="44" name="Shape 42"/>
          <p:cNvSpPr/>
          <p:nvPr/>
        </p:nvSpPr>
        <p:spPr>
          <a:xfrm>
            <a:off x="3767328" y="3982212"/>
            <a:ext cx="4809744" cy="169164"/>
          </a:xfrm>
          <a:prstGeom prst="rect">
            <a:avLst/>
          </a:prstGeom>
          <a:solidFill>
            <a:srgbClr val="DCD8CC"/>
          </a:solidFill>
          <a:ln/>
        </p:spPr>
      </p:sp>
      <p:sp>
        <p:nvSpPr>
          <p:cNvPr id="45" name="Shape 43"/>
          <p:cNvSpPr/>
          <p:nvPr/>
        </p:nvSpPr>
        <p:spPr>
          <a:xfrm>
            <a:off x="3749040" y="1572768"/>
            <a:ext cx="0" cy="2624328"/>
          </a:xfrm>
          <a:prstGeom prst="line">
            <a:avLst/>
          </a:prstGeom>
          <a:noFill/>
          <a:ln w="9525">
            <a:solidFill>
              <a:srgbClr val="F1EEE6"/>
            </a:solidFill>
            <a:prstDash val="solid"/>
          </a:ln>
        </p:spPr>
      </p:sp>
      <p:sp>
        <p:nvSpPr>
          <p:cNvPr id="46" name="Shape 44"/>
          <p:cNvSpPr/>
          <p:nvPr/>
        </p:nvSpPr>
        <p:spPr>
          <a:xfrm>
            <a:off x="4287520" y="1572768"/>
            <a:ext cx="0" cy="2624328"/>
          </a:xfrm>
          <a:prstGeom prst="line">
            <a:avLst/>
          </a:prstGeom>
          <a:noFill/>
          <a:ln w="9525">
            <a:solidFill>
              <a:srgbClr val="F1EEE6"/>
            </a:solidFill>
            <a:prstDash val="solid"/>
          </a:ln>
        </p:spPr>
      </p:sp>
      <p:sp>
        <p:nvSpPr>
          <p:cNvPr id="47" name="Shape 45"/>
          <p:cNvSpPr/>
          <p:nvPr/>
        </p:nvSpPr>
        <p:spPr>
          <a:xfrm>
            <a:off x="4826000" y="1572768"/>
            <a:ext cx="0" cy="2624328"/>
          </a:xfrm>
          <a:prstGeom prst="line">
            <a:avLst/>
          </a:prstGeom>
          <a:noFill/>
          <a:ln w="9525">
            <a:solidFill>
              <a:srgbClr val="F1EEE6"/>
            </a:solidFill>
            <a:prstDash val="solid"/>
          </a:ln>
        </p:spPr>
      </p:sp>
      <p:sp>
        <p:nvSpPr>
          <p:cNvPr id="48" name="Shape 46"/>
          <p:cNvSpPr/>
          <p:nvPr/>
        </p:nvSpPr>
        <p:spPr>
          <a:xfrm>
            <a:off x="5364480" y="1572768"/>
            <a:ext cx="0" cy="2624328"/>
          </a:xfrm>
          <a:prstGeom prst="line">
            <a:avLst/>
          </a:prstGeom>
          <a:noFill/>
          <a:ln w="9525">
            <a:solidFill>
              <a:srgbClr val="F1EEE6"/>
            </a:solidFill>
            <a:prstDash val="solid"/>
          </a:ln>
        </p:spPr>
      </p:sp>
      <p:sp>
        <p:nvSpPr>
          <p:cNvPr id="49" name="Shape 47"/>
          <p:cNvSpPr/>
          <p:nvPr/>
        </p:nvSpPr>
        <p:spPr>
          <a:xfrm>
            <a:off x="5902960" y="1572768"/>
            <a:ext cx="0" cy="2624328"/>
          </a:xfrm>
          <a:prstGeom prst="line">
            <a:avLst/>
          </a:prstGeom>
          <a:noFill/>
          <a:ln w="9525">
            <a:solidFill>
              <a:srgbClr val="F1EEE6"/>
            </a:solidFill>
            <a:prstDash val="solid"/>
          </a:ln>
        </p:spPr>
      </p:sp>
      <p:sp>
        <p:nvSpPr>
          <p:cNvPr id="50" name="Shape 48"/>
          <p:cNvSpPr/>
          <p:nvPr/>
        </p:nvSpPr>
        <p:spPr>
          <a:xfrm>
            <a:off x="6441440" y="1572768"/>
            <a:ext cx="0" cy="2624328"/>
          </a:xfrm>
          <a:prstGeom prst="line">
            <a:avLst/>
          </a:prstGeom>
          <a:noFill/>
          <a:ln w="9525">
            <a:solidFill>
              <a:srgbClr val="F1EEE6"/>
            </a:solidFill>
            <a:prstDash val="solid"/>
          </a:ln>
        </p:spPr>
      </p:sp>
      <p:sp>
        <p:nvSpPr>
          <p:cNvPr id="51" name="Shape 49"/>
          <p:cNvSpPr/>
          <p:nvPr/>
        </p:nvSpPr>
        <p:spPr>
          <a:xfrm>
            <a:off x="6979920" y="1572768"/>
            <a:ext cx="0" cy="2624328"/>
          </a:xfrm>
          <a:prstGeom prst="line">
            <a:avLst/>
          </a:prstGeom>
          <a:noFill/>
          <a:ln w="9525">
            <a:solidFill>
              <a:srgbClr val="F1EEE6"/>
            </a:solidFill>
            <a:prstDash val="solid"/>
          </a:ln>
        </p:spPr>
      </p:sp>
      <p:sp>
        <p:nvSpPr>
          <p:cNvPr id="52" name="Shape 50"/>
          <p:cNvSpPr/>
          <p:nvPr/>
        </p:nvSpPr>
        <p:spPr>
          <a:xfrm>
            <a:off x="7518400" y="1572768"/>
            <a:ext cx="0" cy="2624328"/>
          </a:xfrm>
          <a:prstGeom prst="line">
            <a:avLst/>
          </a:prstGeom>
          <a:noFill/>
          <a:ln w="9525">
            <a:solidFill>
              <a:srgbClr val="F1EEE6"/>
            </a:solidFill>
            <a:prstDash val="solid"/>
          </a:ln>
        </p:spPr>
      </p:sp>
      <p:sp>
        <p:nvSpPr>
          <p:cNvPr id="53" name="Shape 51"/>
          <p:cNvSpPr/>
          <p:nvPr/>
        </p:nvSpPr>
        <p:spPr>
          <a:xfrm>
            <a:off x="8056880" y="1572768"/>
            <a:ext cx="0" cy="2624328"/>
          </a:xfrm>
          <a:prstGeom prst="line">
            <a:avLst/>
          </a:prstGeom>
          <a:noFill/>
          <a:ln w="9525">
            <a:solidFill>
              <a:srgbClr val="F1EEE6"/>
            </a:solidFill>
            <a:prstDash val="solid"/>
          </a:ln>
        </p:spPr>
      </p:sp>
      <p:sp>
        <p:nvSpPr>
          <p:cNvPr id="54" name="Shape 52"/>
          <p:cNvSpPr/>
          <p:nvPr/>
        </p:nvSpPr>
        <p:spPr>
          <a:xfrm>
            <a:off x="8595360" y="1572768"/>
            <a:ext cx="0" cy="2624328"/>
          </a:xfrm>
          <a:prstGeom prst="line">
            <a:avLst/>
          </a:prstGeom>
          <a:noFill/>
          <a:ln w="9525">
            <a:solidFill>
              <a:srgbClr val="F1EEE6"/>
            </a:solidFill>
            <a:prstDash val="solid"/>
          </a:ln>
        </p:spPr>
      </p:sp>
      <p:sp>
        <p:nvSpPr>
          <p:cNvPr id="55" name="Text 53"/>
          <p:cNvSpPr/>
          <p:nvPr/>
        </p:nvSpPr>
        <p:spPr>
          <a:xfrm>
            <a:off x="548640" y="4288536"/>
            <a:ext cx="8046720" cy="274320"/>
          </a:xfrm>
          <a:prstGeom prst="rect">
            <a:avLst/>
          </a:prstGeom>
          <a:noFill/>
          <a:ln/>
        </p:spPr>
        <p:txBody>
          <a:bodyPr wrap="square" rtlCol="0" anchor="ctr"/>
          <a:lstStyle/>
          <a:p>
            <a:pPr marL="0" indent="0">
              <a:buNone/>
            </a:pPr>
            <a:r>
              <a:rPr lang="en-US" sz="950" i="1" dirty="0">
                <a:solidFill>
                  <a:srgbClr val="5A6472"/>
                </a:solidFill>
                <a:latin typeface="Calibri" pitchFamily="34" charset="0"/>
                <a:ea typeface="Calibri" pitchFamily="34" charset="-122"/>
                <a:cs typeface="Calibri" pitchFamily="34" charset="-120"/>
              </a:rPr>
              <a:t>Bars group into three phases: setup/sourcing (amber), analysis/modeling (teal), reporting (wine). Tracking ran all nine weeks.</a:t>
            </a:r>
            <a:endParaRPr lang="en-US" sz="950" dirty="0"/>
          </a:p>
        </p:txBody>
      </p:sp>
      <p:sp>
        <p:nvSpPr>
          <p:cNvPr id="56" name="Text 54"/>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HONESTY CHECK</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600" dirty="0">
                <a:solidFill>
                  <a:srgbClr val="0E1B2C"/>
                </a:solidFill>
                <a:latin typeface="Cambria" pitchFamily="34" charset="0"/>
                <a:ea typeface="Cambria" pitchFamily="34" charset="-122"/>
                <a:cs typeface="Cambria" pitchFamily="34" charset="-120"/>
              </a:rPr>
              <a:t>Where the model falls short</a:t>
            </a:r>
            <a:endParaRPr lang="en-US" sz="26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Text 3"/>
          <p:cNvSpPr/>
          <p:nvPr/>
        </p:nvSpPr>
        <p:spPr>
          <a:xfrm>
            <a:off x="548640" y="1325880"/>
            <a:ext cx="3886200" cy="274320"/>
          </a:xfrm>
          <a:prstGeom prst="rect">
            <a:avLst/>
          </a:prstGeom>
          <a:noFill/>
          <a:ln/>
        </p:spPr>
        <p:txBody>
          <a:bodyPr wrap="square" rtlCol="0" anchor="ctr"/>
          <a:lstStyle/>
          <a:p>
            <a:pPr marL="0" indent="0">
              <a:buNone/>
            </a:pPr>
            <a:r>
              <a:rPr lang="en-US" sz="1100" b="1" kern="0" spc="120" dirty="0">
                <a:solidFill>
                  <a:srgbClr val="9F1239"/>
                </a:solidFill>
                <a:latin typeface="Calibri" pitchFamily="34" charset="0"/>
                <a:ea typeface="Calibri" pitchFamily="34" charset="-122"/>
                <a:cs typeface="Calibri" pitchFamily="34" charset="-120"/>
              </a:rPr>
              <a:t>LIMITATIONS</a:t>
            </a:r>
            <a:endParaRPr lang="en-US" sz="1100" dirty="0"/>
          </a:p>
        </p:txBody>
      </p:sp>
      <p:sp>
        <p:nvSpPr>
          <p:cNvPr id="6" name="Text 4"/>
          <p:cNvSpPr/>
          <p:nvPr/>
        </p:nvSpPr>
        <p:spPr>
          <a:xfrm>
            <a:off x="548640" y="1691640"/>
            <a:ext cx="201168" cy="384048"/>
          </a:xfrm>
          <a:prstGeom prst="rect">
            <a:avLst/>
          </a:prstGeom>
          <a:noFill/>
          <a:ln/>
        </p:spPr>
        <p:txBody>
          <a:bodyPr wrap="square" rtlCol="0" anchor="ctr"/>
          <a:lstStyle/>
          <a:p>
            <a:pPr marL="0" indent="0">
              <a:buNone/>
            </a:pPr>
            <a:r>
              <a:rPr lang="en-US" sz="1100" b="1" dirty="0">
                <a:solidFill>
                  <a:srgbClr val="9F1239"/>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786384" y="1691640"/>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Only films with reported budget and revenue are included, a bias toward mainstream productions</a:t>
            </a:r>
            <a:endParaRPr lang="en-US" sz="1050" dirty="0"/>
          </a:p>
        </p:txBody>
      </p:sp>
      <p:sp>
        <p:nvSpPr>
          <p:cNvPr id="8" name="Text 6"/>
          <p:cNvSpPr/>
          <p:nvPr/>
        </p:nvSpPr>
        <p:spPr>
          <a:xfrm>
            <a:off x="548640" y="2350008"/>
            <a:ext cx="201168" cy="384048"/>
          </a:xfrm>
          <a:prstGeom prst="rect">
            <a:avLst/>
          </a:prstGeom>
          <a:noFill/>
          <a:ln/>
        </p:spPr>
        <p:txBody>
          <a:bodyPr wrap="square" rtlCol="0" anchor="ctr"/>
          <a:lstStyle/>
          <a:p>
            <a:pPr marL="0" indent="0">
              <a:buNone/>
            </a:pPr>
            <a:r>
              <a:rPr lang="en-US" sz="1100" b="1" dirty="0">
                <a:solidFill>
                  <a:srgbClr val="9F1239"/>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786384" y="2350008"/>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Marketing spend, cast, director track record, and release timing are missing, part of the 46% unexplained variance</a:t>
            </a:r>
            <a:endParaRPr lang="en-US" sz="1050" dirty="0"/>
          </a:p>
        </p:txBody>
      </p:sp>
      <p:sp>
        <p:nvSpPr>
          <p:cNvPr id="10" name="Text 8"/>
          <p:cNvSpPr/>
          <p:nvPr/>
        </p:nvSpPr>
        <p:spPr>
          <a:xfrm>
            <a:off x="548640" y="3008376"/>
            <a:ext cx="201168" cy="384048"/>
          </a:xfrm>
          <a:prstGeom prst="rect">
            <a:avLst/>
          </a:prstGeom>
          <a:noFill/>
          <a:ln/>
        </p:spPr>
        <p:txBody>
          <a:bodyPr wrap="square" rtlCol="0" anchor="ctr"/>
          <a:lstStyle/>
          <a:p>
            <a:pPr marL="0" indent="0">
              <a:buNone/>
            </a:pPr>
            <a:r>
              <a:rPr lang="en-US" sz="1100" b="1" dirty="0">
                <a:solidFill>
                  <a:srgbClr val="9F1239"/>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786384" y="3008376"/>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Rotten Tomatoes coverage is 81.3%, so about one in five films has no critic score</a:t>
            </a:r>
            <a:endParaRPr lang="en-US" sz="1050" dirty="0"/>
          </a:p>
        </p:txBody>
      </p:sp>
      <p:sp>
        <p:nvSpPr>
          <p:cNvPr id="12" name="Text 10"/>
          <p:cNvSpPr/>
          <p:nvPr/>
        </p:nvSpPr>
        <p:spPr>
          <a:xfrm>
            <a:off x="548640" y="3666744"/>
            <a:ext cx="201168" cy="384048"/>
          </a:xfrm>
          <a:prstGeom prst="rect">
            <a:avLst/>
          </a:prstGeom>
          <a:noFill/>
          <a:ln/>
        </p:spPr>
        <p:txBody>
          <a:bodyPr wrap="square" rtlCol="0" anchor="ctr"/>
          <a:lstStyle/>
          <a:p>
            <a:pPr marL="0" indent="0">
              <a:buNone/>
            </a:pPr>
            <a:r>
              <a:rPr lang="en-US" sz="1100" b="1" dirty="0">
                <a:solidFill>
                  <a:srgbClr val="9F1239"/>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786384" y="3666744"/>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The model underpredicts extreme blockbusters; a log-transformed target would help</a:t>
            </a:r>
            <a:endParaRPr lang="en-US" sz="1050" dirty="0"/>
          </a:p>
        </p:txBody>
      </p:sp>
      <p:sp>
        <p:nvSpPr>
          <p:cNvPr id="14" name="Text 12"/>
          <p:cNvSpPr/>
          <p:nvPr/>
        </p:nvSpPr>
        <p:spPr>
          <a:xfrm>
            <a:off x="4709160" y="1325880"/>
            <a:ext cx="3886200" cy="274320"/>
          </a:xfrm>
          <a:prstGeom prst="rect">
            <a:avLst/>
          </a:prstGeom>
          <a:noFill/>
          <a:ln/>
        </p:spPr>
        <p:txBody>
          <a:bodyPr wrap="square" rtlCol="0" anchor="ctr"/>
          <a:lstStyle/>
          <a:p>
            <a:pPr marL="0" indent="0">
              <a:buNone/>
            </a:pPr>
            <a:r>
              <a:rPr lang="en-US" sz="1100" b="1" kern="0" spc="120" dirty="0">
                <a:solidFill>
                  <a:srgbClr val="0F766E"/>
                </a:solidFill>
                <a:latin typeface="Calibri" pitchFamily="34" charset="0"/>
                <a:ea typeface="Calibri" pitchFamily="34" charset="-122"/>
                <a:cs typeface="Calibri" pitchFamily="34" charset="-120"/>
              </a:rPr>
              <a:t>ITERATIONS WE MADE</a:t>
            </a:r>
            <a:endParaRPr lang="en-US" sz="1100" dirty="0"/>
          </a:p>
        </p:txBody>
      </p:sp>
      <p:sp>
        <p:nvSpPr>
          <p:cNvPr id="15" name="Text 13"/>
          <p:cNvSpPr/>
          <p:nvPr/>
        </p:nvSpPr>
        <p:spPr>
          <a:xfrm>
            <a:off x="4709160" y="1691640"/>
            <a:ext cx="201168" cy="384048"/>
          </a:xfrm>
          <a:prstGeom prst="rect">
            <a:avLst/>
          </a:prstGeom>
          <a:noFill/>
          <a:ln/>
        </p:spPr>
        <p:txBody>
          <a:bodyPr wrap="square"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4946904" y="1691640"/>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Compared Linear Regression against Random Forest on a single split and on five-fold cross-validation</a:t>
            </a:r>
            <a:endParaRPr lang="en-US" sz="1050" dirty="0"/>
          </a:p>
        </p:txBody>
      </p:sp>
      <p:sp>
        <p:nvSpPr>
          <p:cNvPr id="17" name="Text 15"/>
          <p:cNvSpPr/>
          <p:nvPr/>
        </p:nvSpPr>
        <p:spPr>
          <a:xfrm>
            <a:off x="4709160" y="2350008"/>
            <a:ext cx="201168" cy="384048"/>
          </a:xfrm>
          <a:prstGeom prst="rect">
            <a:avLst/>
          </a:prstGeom>
          <a:noFill/>
          <a:ln/>
        </p:spPr>
        <p:txBody>
          <a:bodyPr wrap="square"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4946904" y="2350008"/>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Added a full classification variant, hit or flop, using the same five pre-release features</a:t>
            </a:r>
            <a:endParaRPr lang="en-US" sz="1050" dirty="0"/>
          </a:p>
        </p:txBody>
      </p:sp>
      <p:sp>
        <p:nvSpPr>
          <p:cNvPr id="19" name="Text 17"/>
          <p:cNvSpPr/>
          <p:nvPr/>
        </p:nvSpPr>
        <p:spPr>
          <a:xfrm>
            <a:off x="4709160" y="3008376"/>
            <a:ext cx="201168" cy="384048"/>
          </a:xfrm>
          <a:prstGeom prst="rect">
            <a:avLst/>
          </a:prstGeom>
          <a:noFill/>
          <a:ln/>
        </p:spPr>
        <p:txBody>
          <a:bodyPr wrap="square"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4946904" y="3008376"/>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Used log-log scaling on every budget and revenue chart, since raw values span $1 to $2.79 billion</a:t>
            </a:r>
            <a:endParaRPr lang="en-US" sz="1050" dirty="0"/>
          </a:p>
        </p:txBody>
      </p:sp>
      <p:sp>
        <p:nvSpPr>
          <p:cNvPr id="21" name="Text 19"/>
          <p:cNvSpPr/>
          <p:nvPr/>
        </p:nvSpPr>
        <p:spPr>
          <a:xfrm>
            <a:off x="4709160" y="3666744"/>
            <a:ext cx="201168" cy="384048"/>
          </a:xfrm>
          <a:prstGeom prst="rect">
            <a:avLst/>
          </a:prstGeom>
          <a:noFill/>
          <a:ln/>
        </p:spPr>
        <p:txBody>
          <a:bodyPr wrap="square"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4946904" y="3666744"/>
            <a:ext cx="3648456" cy="548640"/>
          </a:xfrm>
          <a:prstGeom prst="rect">
            <a:avLst/>
          </a:prstGeom>
          <a:noFill/>
          <a:ln/>
        </p:spPr>
        <p:txBody>
          <a:bodyPr wrap="square" rtlCol="0" anchor="t"/>
          <a:lstStyle/>
          <a:p>
            <a:pPr marL="0" indent="0">
              <a:lnSpc>
                <a:spcPct val="115000"/>
              </a:lnSpc>
              <a:buNone/>
            </a:pPr>
            <a:r>
              <a:rPr lang="en-US" sz="1050" dirty="0">
                <a:solidFill>
                  <a:srgbClr val="0E1B2C"/>
                </a:solidFill>
                <a:latin typeface="Calibri" pitchFamily="34" charset="0"/>
                <a:ea typeface="Calibri" pitchFamily="34" charset="-122"/>
                <a:cs typeface="Calibri" pitchFamily="34" charset="-120"/>
              </a:rPr>
              <a:t>Built budget tiers from quartile cuts to compare groups beyond a single correlation number</a:t>
            </a:r>
            <a:endParaRPr lang="en-US" sz="1050" dirty="0"/>
          </a:p>
        </p:txBody>
      </p:sp>
      <p:sp>
        <p:nvSpPr>
          <p:cNvPr id="23" name="Shape 21"/>
          <p:cNvSpPr/>
          <p:nvPr/>
        </p:nvSpPr>
        <p:spPr>
          <a:xfrm>
            <a:off x="548640" y="4279392"/>
            <a:ext cx="8046720" cy="0"/>
          </a:xfrm>
          <a:prstGeom prst="line">
            <a:avLst/>
          </a:prstGeom>
          <a:noFill/>
          <a:ln w="12700">
            <a:solidFill>
              <a:srgbClr val="DCD8CC"/>
            </a:solidFill>
            <a:prstDash val="solid"/>
          </a:ln>
        </p:spPr>
      </p:sp>
      <p:sp>
        <p:nvSpPr>
          <p:cNvPr id="24" name="Text 22"/>
          <p:cNvSpPr/>
          <p:nvPr/>
        </p:nvSpPr>
        <p:spPr>
          <a:xfrm>
            <a:off x="548640" y="4389120"/>
            <a:ext cx="8046720" cy="365760"/>
          </a:xfrm>
          <a:prstGeom prst="rect">
            <a:avLst/>
          </a:prstGeom>
          <a:noFill/>
          <a:ln/>
        </p:spPr>
        <p:txBody>
          <a:bodyPr wrap="square" rtlCol="0" anchor="ctr"/>
          <a:lstStyle/>
          <a:p>
            <a:pPr marL="0" indent="0">
              <a:buNone/>
            </a:pPr>
            <a:r>
              <a:rPr lang="en-US" sz="1200" i="1" dirty="0">
                <a:solidFill>
                  <a:srgbClr val="0E1B2C"/>
                </a:solidFill>
                <a:latin typeface="Cambria" pitchFamily="34" charset="0"/>
                <a:ea typeface="Cambria" pitchFamily="34" charset="-122"/>
                <a:cs typeface="Cambria" pitchFamily="34" charset="-120"/>
              </a:rPr>
              <a:t>Budget explains the part of revenue we can measure. What's left, marketing spend, cast, timing, and word of mouth, is real, but it needs richer data than what we had.</a:t>
            </a:r>
            <a:endParaRPr lang="en-US" sz="1200" dirty="0"/>
          </a:p>
        </p:txBody>
      </p:sp>
      <p:sp>
        <p:nvSpPr>
          <p:cNvPr id="25" name="Text 23"/>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rtlCol="0" anchor="ctr"/>
          <a:lstStyle/>
          <a:p>
            <a:pPr marL="0" indent="0">
              <a:buNone/>
            </a:pPr>
            <a:r>
              <a:rPr lang="en-US" sz="1100" b="1" kern="0" spc="200" dirty="0">
                <a:solidFill>
                  <a:srgbClr val="C2410C"/>
                </a:solidFill>
                <a:latin typeface="Calibri" pitchFamily="34" charset="0"/>
                <a:ea typeface="Calibri" pitchFamily="34" charset="-122"/>
                <a:cs typeface="Calibri" pitchFamily="34" charset="-120"/>
              </a:rPr>
              <a:t>BACK TO THE QUESTION</a:t>
            </a:r>
            <a:endParaRPr lang="en-US" sz="1100" dirty="0"/>
          </a:p>
        </p:txBody>
      </p:sp>
      <p:sp>
        <p:nvSpPr>
          <p:cNvPr id="3" name="Text 1"/>
          <p:cNvSpPr/>
          <p:nvPr/>
        </p:nvSpPr>
        <p:spPr>
          <a:xfrm>
            <a:off x="548640" y="676656"/>
            <a:ext cx="8046720" cy="566928"/>
          </a:xfrm>
          <a:prstGeom prst="rect">
            <a:avLst/>
          </a:prstGeom>
          <a:noFill/>
          <a:ln/>
        </p:spPr>
        <p:txBody>
          <a:bodyPr wrap="square" rtlCol="0" anchor="ctr"/>
          <a:lstStyle/>
          <a:p>
            <a:pPr marL="0" indent="0">
              <a:buNone/>
            </a:pPr>
            <a:r>
              <a:rPr lang="en-US" sz="2700" dirty="0">
                <a:solidFill>
                  <a:srgbClr val="0E1B2C"/>
                </a:solidFill>
                <a:latin typeface="Cambria" pitchFamily="34" charset="0"/>
                <a:ea typeface="Cambria" pitchFamily="34" charset="-122"/>
                <a:cs typeface="Cambria" pitchFamily="34" charset="-120"/>
              </a:rPr>
              <a:t>So, does budget drive success?</a:t>
            </a:r>
            <a:endParaRPr lang="en-US" sz="2700" dirty="0"/>
          </a:p>
        </p:txBody>
      </p:sp>
      <p:sp>
        <p:nvSpPr>
          <p:cNvPr id="4" name="Shape 2"/>
          <p:cNvSpPr/>
          <p:nvPr/>
        </p:nvSpPr>
        <p:spPr>
          <a:xfrm>
            <a:off x="548640" y="1298448"/>
            <a:ext cx="914400" cy="0"/>
          </a:xfrm>
          <a:prstGeom prst="line">
            <a:avLst/>
          </a:prstGeom>
          <a:noFill/>
          <a:ln w="28575">
            <a:solidFill>
              <a:srgbClr val="C2410C"/>
            </a:solidFill>
            <a:prstDash val="solid"/>
          </a:ln>
        </p:spPr>
      </p:sp>
      <p:sp>
        <p:nvSpPr>
          <p:cNvPr id="5" name="Shape 3"/>
          <p:cNvSpPr/>
          <p:nvPr/>
        </p:nvSpPr>
        <p:spPr>
          <a:xfrm>
            <a:off x="548640" y="1636776"/>
            <a:ext cx="457200" cy="0"/>
          </a:xfrm>
          <a:prstGeom prst="line">
            <a:avLst/>
          </a:prstGeom>
          <a:noFill/>
          <a:ln w="31750">
            <a:solidFill>
              <a:srgbClr val="0F766E"/>
            </a:solidFill>
            <a:prstDash val="solid"/>
          </a:ln>
        </p:spPr>
      </p:sp>
      <p:sp>
        <p:nvSpPr>
          <p:cNvPr id="6" name="Text 4"/>
          <p:cNvSpPr/>
          <p:nvPr/>
        </p:nvSpPr>
        <p:spPr>
          <a:xfrm>
            <a:off x="548640" y="1728216"/>
            <a:ext cx="3840480" cy="320040"/>
          </a:xfrm>
          <a:prstGeom prst="rect">
            <a:avLst/>
          </a:prstGeom>
          <a:noFill/>
          <a:ln/>
        </p:spPr>
        <p:txBody>
          <a:bodyPr wrap="square" rtlCol="0" anchor="ctr"/>
          <a:lstStyle/>
          <a:p>
            <a:pPr marL="0" indent="0">
              <a:buNone/>
            </a:pPr>
            <a:r>
              <a:rPr lang="en-US" sz="1200" b="1" dirty="0">
                <a:solidFill>
                  <a:srgbClr val="0E1B2C"/>
                </a:solidFill>
                <a:latin typeface="Calibri" pitchFamily="34" charset="0"/>
                <a:ea typeface="Calibri" pitchFamily="34" charset="-122"/>
                <a:cs typeface="Calibri" pitchFamily="34" charset="-120"/>
              </a:rPr>
              <a:t>Does budget predict revenue?</a:t>
            </a:r>
            <a:endParaRPr lang="en-US" sz="1200" dirty="0"/>
          </a:p>
        </p:txBody>
      </p:sp>
      <p:sp>
        <p:nvSpPr>
          <p:cNvPr id="7" name="Text 5"/>
          <p:cNvSpPr/>
          <p:nvPr/>
        </p:nvSpPr>
        <p:spPr>
          <a:xfrm>
            <a:off x="548640" y="2029968"/>
            <a:ext cx="3840480" cy="457200"/>
          </a:xfrm>
          <a:prstGeom prst="rect">
            <a:avLst/>
          </a:prstGeom>
          <a:noFill/>
          <a:ln/>
        </p:spPr>
        <p:txBody>
          <a:bodyPr wrap="square" rtlCol="0" anchor="ctr"/>
          <a:lstStyle/>
          <a:p>
            <a:pPr marL="0" indent="0">
              <a:buNone/>
            </a:pPr>
            <a:r>
              <a:rPr lang="en-US" sz="2400" dirty="0">
                <a:solidFill>
                  <a:srgbClr val="0F766E"/>
                </a:solidFill>
                <a:latin typeface="Cambria" pitchFamily="34" charset="0"/>
                <a:ea typeface="Cambria" pitchFamily="34" charset="-122"/>
                <a:cs typeface="Cambria" pitchFamily="34" charset="-120"/>
              </a:rPr>
              <a:t>Yes</a:t>
            </a:r>
            <a:endParaRPr lang="en-US" sz="2400" dirty="0"/>
          </a:p>
        </p:txBody>
      </p:sp>
      <p:sp>
        <p:nvSpPr>
          <p:cNvPr id="8" name="Text 6"/>
          <p:cNvSpPr/>
          <p:nvPr/>
        </p:nvSpPr>
        <p:spPr>
          <a:xfrm>
            <a:off x="548640" y="2487168"/>
            <a:ext cx="3840480" cy="32004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r = 0.70, the strongest single signal we found</a:t>
            </a:r>
            <a:endParaRPr lang="en-US" sz="1000" dirty="0"/>
          </a:p>
        </p:txBody>
      </p:sp>
      <p:sp>
        <p:nvSpPr>
          <p:cNvPr id="9" name="Shape 7"/>
          <p:cNvSpPr/>
          <p:nvPr/>
        </p:nvSpPr>
        <p:spPr>
          <a:xfrm>
            <a:off x="4754880" y="1636776"/>
            <a:ext cx="457200" cy="0"/>
          </a:xfrm>
          <a:prstGeom prst="line">
            <a:avLst/>
          </a:prstGeom>
          <a:noFill/>
          <a:ln w="31750">
            <a:solidFill>
              <a:srgbClr val="9F1239"/>
            </a:solidFill>
            <a:prstDash val="solid"/>
          </a:ln>
        </p:spPr>
      </p:sp>
      <p:sp>
        <p:nvSpPr>
          <p:cNvPr id="10" name="Text 8"/>
          <p:cNvSpPr/>
          <p:nvPr/>
        </p:nvSpPr>
        <p:spPr>
          <a:xfrm>
            <a:off x="4754880" y="1728216"/>
            <a:ext cx="3840480" cy="320040"/>
          </a:xfrm>
          <a:prstGeom prst="rect">
            <a:avLst/>
          </a:prstGeom>
          <a:noFill/>
          <a:ln/>
        </p:spPr>
        <p:txBody>
          <a:bodyPr wrap="square" rtlCol="0" anchor="ctr"/>
          <a:lstStyle/>
          <a:p>
            <a:pPr marL="0" indent="0">
              <a:buNone/>
            </a:pPr>
            <a:r>
              <a:rPr lang="en-US" sz="1200" b="1" dirty="0">
                <a:solidFill>
                  <a:srgbClr val="0E1B2C"/>
                </a:solidFill>
                <a:latin typeface="Calibri" pitchFamily="34" charset="0"/>
                <a:ea typeface="Calibri" pitchFamily="34" charset="-122"/>
                <a:cs typeface="Calibri" pitchFamily="34" charset="-120"/>
              </a:rPr>
              <a:t>Does budget predict ratings?</a:t>
            </a:r>
            <a:endParaRPr lang="en-US" sz="1200" dirty="0"/>
          </a:p>
        </p:txBody>
      </p:sp>
      <p:sp>
        <p:nvSpPr>
          <p:cNvPr id="11" name="Text 9"/>
          <p:cNvSpPr/>
          <p:nvPr/>
        </p:nvSpPr>
        <p:spPr>
          <a:xfrm>
            <a:off x="4754880" y="2029968"/>
            <a:ext cx="3840480" cy="457200"/>
          </a:xfrm>
          <a:prstGeom prst="rect">
            <a:avLst/>
          </a:prstGeom>
          <a:noFill/>
          <a:ln/>
        </p:spPr>
        <p:txBody>
          <a:bodyPr wrap="square" rtlCol="0" anchor="ctr"/>
          <a:lstStyle/>
          <a:p>
            <a:pPr marL="0" indent="0">
              <a:buNone/>
            </a:pPr>
            <a:r>
              <a:rPr lang="en-US" sz="2400" dirty="0">
                <a:solidFill>
                  <a:srgbClr val="9F1239"/>
                </a:solidFill>
                <a:latin typeface="Cambria" pitchFamily="34" charset="0"/>
                <a:ea typeface="Cambria" pitchFamily="34" charset="-122"/>
                <a:cs typeface="Cambria" pitchFamily="34" charset="-120"/>
              </a:rPr>
              <a:t>No</a:t>
            </a:r>
            <a:endParaRPr lang="en-US" sz="2400" dirty="0"/>
          </a:p>
        </p:txBody>
      </p:sp>
      <p:sp>
        <p:nvSpPr>
          <p:cNvPr id="12" name="Text 10"/>
          <p:cNvSpPr/>
          <p:nvPr/>
        </p:nvSpPr>
        <p:spPr>
          <a:xfrm>
            <a:off x="4754880" y="2487168"/>
            <a:ext cx="3840480" cy="32004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r = -0.06, essentially no relationship</a:t>
            </a:r>
            <a:endParaRPr lang="en-US" sz="1000" dirty="0"/>
          </a:p>
        </p:txBody>
      </p:sp>
      <p:sp>
        <p:nvSpPr>
          <p:cNvPr id="13" name="Shape 11"/>
          <p:cNvSpPr/>
          <p:nvPr/>
        </p:nvSpPr>
        <p:spPr>
          <a:xfrm>
            <a:off x="548640" y="3035808"/>
            <a:ext cx="457200" cy="0"/>
          </a:xfrm>
          <a:prstGeom prst="line">
            <a:avLst/>
          </a:prstGeom>
          <a:noFill/>
          <a:ln w="31750">
            <a:solidFill>
              <a:srgbClr val="9F1239"/>
            </a:solidFill>
            <a:prstDash val="solid"/>
          </a:ln>
        </p:spPr>
      </p:sp>
      <p:sp>
        <p:nvSpPr>
          <p:cNvPr id="14" name="Text 12"/>
          <p:cNvSpPr/>
          <p:nvPr/>
        </p:nvSpPr>
        <p:spPr>
          <a:xfrm>
            <a:off x="548640" y="3127248"/>
            <a:ext cx="3840480" cy="320040"/>
          </a:xfrm>
          <a:prstGeom prst="rect">
            <a:avLst/>
          </a:prstGeom>
          <a:noFill/>
          <a:ln/>
        </p:spPr>
        <p:txBody>
          <a:bodyPr wrap="square" rtlCol="0" anchor="ctr"/>
          <a:lstStyle/>
          <a:p>
            <a:pPr marL="0" indent="0">
              <a:buNone/>
            </a:pPr>
            <a:r>
              <a:rPr lang="en-US" sz="1200" b="1" dirty="0">
                <a:solidFill>
                  <a:srgbClr val="0E1B2C"/>
                </a:solidFill>
                <a:latin typeface="Calibri" pitchFamily="34" charset="0"/>
                <a:ea typeface="Calibri" pitchFamily="34" charset="-122"/>
                <a:cs typeface="Calibri" pitchFamily="34" charset="-120"/>
              </a:rPr>
              <a:t>Does a bigger budget mean better ROI?</a:t>
            </a:r>
            <a:endParaRPr lang="en-US" sz="1200" dirty="0"/>
          </a:p>
        </p:txBody>
      </p:sp>
      <p:sp>
        <p:nvSpPr>
          <p:cNvPr id="15" name="Text 13"/>
          <p:cNvSpPr/>
          <p:nvPr/>
        </p:nvSpPr>
        <p:spPr>
          <a:xfrm>
            <a:off x="548640" y="3429000"/>
            <a:ext cx="3840480" cy="457200"/>
          </a:xfrm>
          <a:prstGeom prst="rect">
            <a:avLst/>
          </a:prstGeom>
          <a:noFill/>
          <a:ln/>
        </p:spPr>
        <p:txBody>
          <a:bodyPr wrap="square" rtlCol="0" anchor="ctr"/>
          <a:lstStyle/>
          <a:p>
            <a:pPr marL="0" indent="0">
              <a:buNone/>
            </a:pPr>
            <a:r>
              <a:rPr lang="en-US" sz="2400" dirty="0">
                <a:solidFill>
                  <a:srgbClr val="9F1239"/>
                </a:solidFill>
                <a:latin typeface="Cambria" pitchFamily="34" charset="0"/>
                <a:ea typeface="Cambria" pitchFamily="34" charset="-122"/>
                <a:cs typeface="Cambria" pitchFamily="34" charset="-120"/>
              </a:rPr>
              <a:t>No</a:t>
            </a:r>
            <a:endParaRPr lang="en-US" sz="2400" dirty="0"/>
          </a:p>
        </p:txBody>
      </p:sp>
      <p:sp>
        <p:nvSpPr>
          <p:cNvPr id="16" name="Text 14"/>
          <p:cNvSpPr/>
          <p:nvPr/>
        </p:nvSpPr>
        <p:spPr>
          <a:xfrm>
            <a:off x="548640" y="3886200"/>
            <a:ext cx="3840480" cy="32004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Low tier returns 180%, high tier returns 69%</a:t>
            </a:r>
            <a:endParaRPr lang="en-US" sz="1000" dirty="0"/>
          </a:p>
        </p:txBody>
      </p:sp>
      <p:sp>
        <p:nvSpPr>
          <p:cNvPr id="17" name="Shape 15"/>
          <p:cNvSpPr/>
          <p:nvPr/>
        </p:nvSpPr>
        <p:spPr>
          <a:xfrm>
            <a:off x="4754880" y="3035808"/>
            <a:ext cx="457200" cy="0"/>
          </a:xfrm>
          <a:prstGeom prst="line">
            <a:avLst/>
          </a:prstGeom>
          <a:noFill/>
          <a:ln w="31750">
            <a:solidFill>
              <a:srgbClr val="C2410C"/>
            </a:solidFill>
            <a:prstDash val="solid"/>
          </a:ln>
        </p:spPr>
      </p:sp>
      <p:sp>
        <p:nvSpPr>
          <p:cNvPr id="18" name="Text 16"/>
          <p:cNvSpPr/>
          <p:nvPr/>
        </p:nvSpPr>
        <p:spPr>
          <a:xfrm>
            <a:off x="4754880" y="3127248"/>
            <a:ext cx="3840480" cy="320040"/>
          </a:xfrm>
          <a:prstGeom prst="rect">
            <a:avLst/>
          </a:prstGeom>
          <a:noFill/>
          <a:ln/>
        </p:spPr>
        <p:txBody>
          <a:bodyPr wrap="square" rtlCol="0" anchor="ctr"/>
          <a:lstStyle/>
          <a:p>
            <a:pPr marL="0" indent="0">
              <a:buNone/>
            </a:pPr>
            <a:r>
              <a:rPr lang="en-US" sz="1200" b="1" dirty="0">
                <a:solidFill>
                  <a:srgbClr val="0E1B2C"/>
                </a:solidFill>
                <a:latin typeface="Calibri" pitchFamily="34" charset="0"/>
                <a:ea typeface="Calibri" pitchFamily="34" charset="-122"/>
                <a:cs typeface="Calibri" pitchFamily="34" charset="-120"/>
              </a:rPr>
              <a:t>Can revenue be predicted pre-release?</a:t>
            </a:r>
            <a:endParaRPr lang="en-US" sz="1200" dirty="0"/>
          </a:p>
        </p:txBody>
      </p:sp>
      <p:sp>
        <p:nvSpPr>
          <p:cNvPr id="19" name="Text 17"/>
          <p:cNvSpPr/>
          <p:nvPr/>
        </p:nvSpPr>
        <p:spPr>
          <a:xfrm>
            <a:off x="4754880" y="3429000"/>
            <a:ext cx="3840480" cy="457200"/>
          </a:xfrm>
          <a:prstGeom prst="rect">
            <a:avLst/>
          </a:prstGeom>
          <a:noFill/>
          <a:ln/>
        </p:spPr>
        <p:txBody>
          <a:bodyPr wrap="square" rtlCol="0" anchor="ctr"/>
          <a:lstStyle/>
          <a:p>
            <a:pPr marL="0" indent="0">
              <a:buNone/>
            </a:pPr>
            <a:r>
              <a:rPr lang="en-US" sz="2400" dirty="0">
                <a:solidFill>
                  <a:srgbClr val="C2410C"/>
                </a:solidFill>
                <a:latin typeface="Cambria" pitchFamily="34" charset="0"/>
                <a:ea typeface="Cambria" pitchFamily="34" charset="-122"/>
                <a:cs typeface="Cambria" pitchFamily="34" charset="-120"/>
              </a:rPr>
              <a:t>Partly</a:t>
            </a:r>
            <a:endParaRPr lang="en-US" sz="2400" dirty="0"/>
          </a:p>
        </p:txBody>
      </p:sp>
      <p:sp>
        <p:nvSpPr>
          <p:cNvPr id="20" name="Text 18"/>
          <p:cNvSpPr/>
          <p:nvPr/>
        </p:nvSpPr>
        <p:spPr>
          <a:xfrm>
            <a:off x="4754880" y="3886200"/>
            <a:ext cx="3840480" cy="320040"/>
          </a:xfrm>
          <a:prstGeom prst="rect">
            <a:avLst/>
          </a:prstGeom>
          <a:noFill/>
          <a:ln/>
        </p:spPr>
        <p:txBody>
          <a:bodyPr wrap="square" rtlCol="0" anchor="ctr"/>
          <a:lstStyle/>
          <a:p>
            <a:pPr marL="0" indent="0">
              <a:buNone/>
            </a:pPr>
            <a:r>
              <a:rPr lang="en-US" sz="1000" dirty="0">
                <a:solidFill>
                  <a:srgbClr val="5A6472"/>
                </a:solidFill>
                <a:latin typeface="Calibri" pitchFamily="34" charset="0"/>
                <a:ea typeface="Calibri" pitchFamily="34" charset="-122"/>
                <a:cs typeface="Calibri" pitchFamily="34" charset="-120"/>
              </a:rPr>
              <a:t>R-squared of 0.54, about half explained</a:t>
            </a:r>
            <a:endParaRPr lang="en-US" sz="1000" dirty="0"/>
          </a:p>
        </p:txBody>
      </p:sp>
      <p:sp>
        <p:nvSpPr>
          <p:cNvPr id="21" name="Shape 19"/>
          <p:cNvSpPr/>
          <p:nvPr/>
        </p:nvSpPr>
        <p:spPr>
          <a:xfrm>
            <a:off x="548640" y="4160520"/>
            <a:ext cx="8046720" cy="0"/>
          </a:xfrm>
          <a:prstGeom prst="line">
            <a:avLst/>
          </a:prstGeom>
          <a:noFill/>
          <a:ln w="12700">
            <a:solidFill>
              <a:srgbClr val="DCD8CC"/>
            </a:solidFill>
            <a:prstDash val="solid"/>
          </a:ln>
        </p:spPr>
      </p:sp>
      <p:sp>
        <p:nvSpPr>
          <p:cNvPr id="22" name="Text 20"/>
          <p:cNvSpPr/>
          <p:nvPr/>
        </p:nvSpPr>
        <p:spPr>
          <a:xfrm>
            <a:off x="548640" y="4279392"/>
            <a:ext cx="8046720" cy="502920"/>
          </a:xfrm>
          <a:prstGeom prst="rect">
            <a:avLst/>
          </a:prstGeom>
          <a:noFill/>
          <a:ln/>
        </p:spPr>
        <p:txBody>
          <a:bodyPr wrap="square" rtlCol="0" anchor="ctr"/>
          <a:lstStyle/>
          <a:p>
            <a:pPr marL="0" indent="0">
              <a:buNone/>
            </a:pPr>
            <a:r>
              <a:rPr lang="en-US" sz="1350" i="1" dirty="0">
                <a:solidFill>
                  <a:srgbClr val="0E1B2C"/>
                </a:solidFill>
                <a:latin typeface="Cambria" pitchFamily="34" charset="0"/>
                <a:ea typeface="Cambria" pitchFamily="34" charset="-122"/>
                <a:cs typeface="Cambria" pitchFamily="34" charset="-120"/>
              </a:rPr>
              <a:t>Budget buys reach, not quality. It is the strongest single signal for how big an audience a film will pull in, but it tells us almost nothing about whether people will actually like what they see.</a:t>
            </a:r>
            <a:endParaRPr lang="en-US" sz="1350" dirty="0"/>
          </a:p>
        </p:txBody>
      </p:sp>
      <p:sp>
        <p:nvSpPr>
          <p:cNvPr id="23" name="Text 21"/>
          <p:cNvSpPr/>
          <p:nvPr/>
        </p:nvSpPr>
        <p:spPr>
          <a:xfrm>
            <a:off x="8549640" y="4736592"/>
            <a:ext cx="457200" cy="274320"/>
          </a:xfrm>
          <a:prstGeom prst="rect">
            <a:avLst/>
          </a:prstGeom>
          <a:noFill/>
          <a:ln/>
        </p:spPr>
        <p:txBody>
          <a:bodyPr wrap="square" rtlCol="0" anchor="ctr"/>
          <a:lstStyle/>
          <a:p>
            <a:pPr marL="0" indent="0" algn="r">
              <a:buNone/>
            </a:pPr>
            <a:r>
              <a:rPr lang="en-US" sz="900" dirty="0">
                <a:solidFill>
                  <a:srgbClr val="DCD8C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640080" y="1828800"/>
            <a:ext cx="7863840" cy="822960"/>
          </a:xfrm>
          <a:prstGeom prst="rect">
            <a:avLst/>
          </a:prstGeom>
          <a:noFill/>
          <a:ln/>
        </p:spPr>
        <p:txBody>
          <a:bodyPr wrap="square" rtlCol="0" anchor="ctr"/>
          <a:lstStyle/>
          <a:p>
            <a:pPr marL="0" indent="0">
              <a:buNone/>
            </a:pPr>
            <a:r>
              <a:rPr lang="en-US" sz="4200" dirty="0">
                <a:solidFill>
                  <a:srgbClr val="0E1B2C"/>
                </a:solidFill>
                <a:latin typeface="Cambria" pitchFamily="34" charset="0"/>
                <a:ea typeface="Cambria" pitchFamily="34" charset="-122"/>
                <a:cs typeface="Cambria" pitchFamily="34" charset="-120"/>
              </a:rPr>
              <a:t>Thank you</a:t>
            </a:r>
            <a:endParaRPr lang="en-US" sz="4200" dirty="0"/>
          </a:p>
        </p:txBody>
      </p:sp>
      <p:sp>
        <p:nvSpPr>
          <p:cNvPr id="3" name="Shape 1"/>
          <p:cNvSpPr/>
          <p:nvPr/>
        </p:nvSpPr>
        <p:spPr>
          <a:xfrm>
            <a:off x="658368" y="2606040"/>
            <a:ext cx="914400" cy="0"/>
          </a:xfrm>
          <a:prstGeom prst="line">
            <a:avLst/>
          </a:prstGeom>
          <a:noFill/>
          <a:ln w="28575">
            <a:solidFill>
              <a:srgbClr val="C2410C"/>
            </a:solidFill>
            <a:prstDash val="solid"/>
          </a:ln>
        </p:spPr>
      </p:sp>
      <p:sp>
        <p:nvSpPr>
          <p:cNvPr id="4" name="Text 2"/>
          <p:cNvSpPr/>
          <p:nvPr/>
        </p:nvSpPr>
        <p:spPr>
          <a:xfrm>
            <a:off x="640080" y="2743200"/>
            <a:ext cx="7863840" cy="320040"/>
          </a:xfrm>
          <a:prstGeom prst="rect">
            <a:avLst/>
          </a:prstGeom>
          <a:noFill/>
          <a:ln/>
        </p:spPr>
        <p:txBody>
          <a:bodyPr wrap="square" rtlCol="0" anchor="ctr"/>
          <a:lstStyle/>
          <a:p>
            <a:pPr marL="0" indent="0">
              <a:buNone/>
            </a:pPr>
            <a:r>
              <a:rPr lang="en-US" sz="1300" dirty="0">
                <a:solidFill>
                  <a:srgbClr val="5A6472"/>
                </a:solidFill>
                <a:latin typeface="Calibri" pitchFamily="34" charset="0"/>
                <a:ea typeface="Calibri" pitchFamily="34" charset="-122"/>
                <a:cs typeface="Calibri" pitchFamily="34" charset="-120"/>
              </a:rPr>
              <a:t>Data Avengers, Data Analytics</a:t>
            </a:r>
            <a:endParaRPr lang="en-US" sz="1300" dirty="0"/>
          </a:p>
        </p:txBody>
      </p:sp>
      <p:sp>
        <p:nvSpPr>
          <p:cNvPr id="5" name="Text 3"/>
          <p:cNvSpPr/>
          <p:nvPr/>
        </p:nvSpPr>
        <p:spPr>
          <a:xfrm>
            <a:off x="640080" y="3657600"/>
            <a:ext cx="7863840" cy="320040"/>
          </a:xfrm>
          <a:prstGeom prst="rect">
            <a:avLst/>
          </a:prstGeom>
          <a:noFill/>
          <a:ln/>
        </p:spPr>
        <p:txBody>
          <a:bodyPr wrap="square" rtlCol="0" anchor="ctr"/>
          <a:lstStyle/>
          <a:p>
            <a:pPr marL="0" indent="0">
              <a:buNone/>
            </a:pPr>
            <a:r>
              <a:rPr lang="en-US" sz="1300" b="1" dirty="0">
                <a:solidFill>
                  <a:srgbClr val="C2410C"/>
                </a:solidFill>
                <a:latin typeface="Calibri" pitchFamily="34" charset="0"/>
                <a:ea typeface="Calibri" pitchFamily="34" charset="-122"/>
                <a:cs typeface="Calibri" pitchFamily="34" charset="-120"/>
              </a:rPr>
              <a:t>github.com/hadikrkc/Data-Avengers-DA-60</a:t>
            </a:r>
            <a:endParaRPr lang="en-US" sz="1300" dirty="0"/>
          </a:p>
        </p:txBody>
      </p:sp>
      <p:sp>
        <p:nvSpPr>
          <p:cNvPr id="6" name="Text 4"/>
          <p:cNvSpPr/>
          <p:nvPr/>
        </p:nvSpPr>
        <p:spPr>
          <a:xfrm>
            <a:off x="640080" y="3950208"/>
            <a:ext cx="7863840" cy="274320"/>
          </a:xfrm>
          <a:prstGeom prst="rect">
            <a:avLst/>
          </a:prstGeom>
          <a:noFill/>
          <a:ln/>
        </p:spPr>
        <p:txBody>
          <a:bodyPr wrap="square" rtlCol="0" anchor="ctr"/>
          <a:lstStyle/>
          <a:p>
            <a:pPr marL="0" indent="0">
              <a:buNone/>
            </a:pPr>
            <a:r>
              <a:rPr lang="en-US" sz="1050" dirty="0">
                <a:solidFill>
                  <a:srgbClr val="5A6472"/>
                </a:solidFill>
                <a:latin typeface="Calibri" pitchFamily="34" charset="0"/>
                <a:ea typeface="Calibri" pitchFamily="34" charset="-122"/>
                <a:cs typeface="Calibri" pitchFamily="34" charset="-120"/>
              </a:rPr>
              <a:t>Full code, notebooks, reports, and the live dashboard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1756</Words>
  <Application>Microsoft Office PowerPoint</Application>
  <PresentationFormat>On-screen Show (16:9)</PresentationFormat>
  <Paragraphs>322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 vs Success - Data Avengers</dc:title>
  <dc:subject>PptxGenJS Presentation</dc:subject>
  <dc:creator>PptxGenJS</dc:creator>
  <cp:lastModifiedBy>Yash Tiwari</cp:lastModifiedBy>
  <cp:revision>3</cp:revision>
  <dcterms:created xsi:type="dcterms:W3CDTF">2026-07-02T14:05:07Z</dcterms:created>
  <dcterms:modified xsi:type="dcterms:W3CDTF">2026-07-02T14:11:36Z</dcterms:modified>
</cp:coreProperties>
</file>