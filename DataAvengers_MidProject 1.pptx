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2" d="100"/>
          <a:sy n="92" d="100"/>
        </p:scale>
        <p:origin x="54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 ($B)</c:v>
                </c:pt>
              </c:strCache>
            </c:strRef>
          </c:tx>
          <c:spPr>
            <a:solidFill>
              <a:srgbClr val="F5C518"/>
            </a:solidFill>
            <a:effectLst/>
          </c:spPr>
          <c:invertIfNegative val="0"/>
          <c:dPt>
            <c:idx val="0"/>
            <c:invertIfNegative val="0"/>
            <c:bubble3D val="0"/>
            <c:spPr>
              <a:solidFill>
                <a:srgbClr val="F5C518"/>
              </a:solidFill>
              <a:effectLst/>
            </c:spPr>
            <c:extLst>
              <c:ext xmlns:c16="http://schemas.microsoft.com/office/drawing/2014/chart" uri="{C3380CC4-5D6E-409C-BE32-E72D297353CC}">
                <c16:uniqueId val="{00000001-D410-4887-9FCC-C0E0B34F148B}"/>
              </c:ext>
            </c:extLst>
          </c:dPt>
          <c:dPt>
            <c:idx val="1"/>
            <c:invertIfNegative val="0"/>
            <c:bubble3D val="0"/>
            <c:spPr>
              <a:solidFill>
                <a:srgbClr val="E05555"/>
              </a:solidFill>
              <a:effectLst/>
            </c:spPr>
            <c:extLst>
              <c:ext xmlns:c16="http://schemas.microsoft.com/office/drawing/2014/chart" uri="{C3380CC4-5D6E-409C-BE32-E72D297353CC}">
                <c16:uniqueId val="{00000003-D410-4887-9FCC-C0E0B34F148B}"/>
              </c:ext>
            </c:extLst>
          </c:dPt>
          <c:dPt>
            <c:idx val="2"/>
            <c:invertIfNegative val="0"/>
            <c:bubble3D val="0"/>
            <c:spPr>
              <a:solidFill>
                <a:srgbClr val="E67E22"/>
              </a:solidFill>
              <a:effectLst/>
            </c:spPr>
            <c:extLst>
              <c:ext xmlns:c16="http://schemas.microsoft.com/office/drawing/2014/chart" uri="{C3380CC4-5D6E-409C-BE32-E72D297353CC}">
                <c16:uniqueId val="{00000005-D410-4887-9FCC-C0E0B34F148B}"/>
              </c:ext>
            </c:extLst>
          </c:dPt>
          <c:dPt>
            <c:idx val="3"/>
            <c:invertIfNegative val="0"/>
            <c:bubble3D val="0"/>
            <c:spPr>
              <a:solidFill>
                <a:srgbClr val="E67E22"/>
              </a:solidFill>
              <a:effectLst/>
            </c:spPr>
            <c:extLst>
              <c:ext xmlns:c16="http://schemas.microsoft.com/office/drawing/2014/chart" uri="{C3380CC4-5D6E-409C-BE32-E72D297353CC}">
                <c16:uniqueId val="{00000007-D410-4887-9FCC-C0E0B34F148B}"/>
              </c:ext>
            </c:extLst>
          </c:dPt>
          <c:dPt>
            <c:idx val="4"/>
            <c:invertIfNegative val="0"/>
            <c:bubble3D val="0"/>
            <c:spPr>
              <a:solidFill>
                <a:srgbClr val="E67E22"/>
              </a:solidFill>
              <a:effectLst/>
            </c:spPr>
            <c:extLst>
              <c:ext xmlns:c16="http://schemas.microsoft.com/office/drawing/2014/chart" uri="{C3380CC4-5D6E-409C-BE32-E72D297353CC}">
                <c16:uniqueId val="{00000009-D410-4887-9FCC-C0E0B34F148B}"/>
              </c:ext>
            </c:extLst>
          </c:dPt>
          <c:dPt>
            <c:idx val="5"/>
            <c:invertIfNegative val="0"/>
            <c:bubble3D val="0"/>
            <c:spPr>
              <a:solidFill>
                <a:srgbClr val="D4A017"/>
              </a:solidFill>
              <a:effectLst/>
            </c:spPr>
            <c:extLst>
              <c:ext xmlns:c16="http://schemas.microsoft.com/office/drawing/2014/chart" uri="{C3380CC4-5D6E-409C-BE32-E72D297353CC}">
                <c16:uniqueId val="{0000000B-D410-4887-9FCC-C0E0B34F148B}"/>
              </c:ext>
            </c:extLst>
          </c:dPt>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2019</c:v>
                </c:pt>
                <c:pt idx="1">
                  <c:v>2020</c:v>
                </c:pt>
                <c:pt idx="2">
                  <c:v>2021</c:v>
                </c:pt>
                <c:pt idx="3">
                  <c:v>2022</c:v>
                </c:pt>
                <c:pt idx="4">
                  <c:v>2023</c:v>
                </c:pt>
                <c:pt idx="5">
                  <c:v>2024</c:v>
                </c:pt>
              </c:strCache>
            </c:strRef>
          </c:cat>
          <c:val>
            <c:numRef>
              <c:f>Sheet1!$B$2:$B$7</c:f>
              <c:numCache>
                <c:formatCode>General</c:formatCode>
                <c:ptCount val="6"/>
                <c:pt idx="0">
                  <c:v>42.5</c:v>
                </c:pt>
                <c:pt idx="1">
                  <c:v>12</c:v>
                </c:pt>
                <c:pt idx="2">
                  <c:v>21.3</c:v>
                </c:pt>
                <c:pt idx="3">
                  <c:v>26</c:v>
                </c:pt>
                <c:pt idx="4">
                  <c:v>33.9</c:v>
                </c:pt>
                <c:pt idx="5">
                  <c:v>30</c:v>
                </c:pt>
              </c:numCache>
            </c:numRef>
          </c:val>
          <c:extLst>
            <c:ext xmlns:c16="http://schemas.microsoft.com/office/drawing/2014/chart" uri="{C3380CC4-5D6E-409C-BE32-E72D297353CC}">
              <c16:uniqueId val="{0000000C-D410-4887-9FCC-C0E0B34F148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888AA"/>
                </a:solidFill>
                <a:latin typeface="Arial"/>
              </a:defRPr>
            </a:pPr>
            <a:endParaRPr lang="en-US"/>
          </a:p>
        </c:txPr>
        <c:crossAx val="2094734552"/>
        <c:crosses val="autoZero"/>
        <c:auto val="1"/>
        <c:lblAlgn val="ctr"/>
        <c:lblOffset val="100"/>
        <c:noMultiLvlLbl val="1"/>
      </c:catAx>
      <c:valAx>
        <c:axId val="2094734552"/>
        <c:scaling>
          <c:orientation val="minMax"/>
          <c:max val="50"/>
          <c:min val="0"/>
        </c:scaling>
        <c:delete val="0"/>
        <c:axPos val="l"/>
        <c:majorGridlines>
          <c:spPr>
            <a:ln w="6350" cap="flat">
              <a:solidFill>
                <a:srgbClr val="2A2D5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888AA"/>
                </a:solidFill>
                <a:latin typeface="Arial"/>
              </a:defRPr>
            </a:pPr>
            <a:endParaRPr lang="en-US"/>
          </a:p>
        </c:txPr>
        <c:crossAx val="2094734554"/>
        <c:crosses val="autoZero"/>
        <c:crossBetween val="between"/>
      </c:valAx>
      <c:spPr>
        <a:solidFill>
          <a:srgbClr val="0F1020"/>
        </a:solidFill>
        <a:ln>
          <a:noFill/>
        </a:ln>
        <a:effectLst/>
      </c:spPr>
    </c:plotArea>
    <c:plotVisOnly val="1"/>
    <c:dispBlanksAs val="span"/>
    <c:showDLblsOverMax val="1"/>
  </c:chart>
  <c:spPr>
    <a:solidFill>
      <a:srgbClr val="0F1020"/>
    </a:solidFill>
    <a:ln w="6350" cap="flat">
      <a:solidFill>
        <a:srgbClr val="2A2D50"/>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ROI (x budget)</c:v>
                </c:pt>
              </c:strCache>
            </c:strRef>
          </c:tx>
          <c:spPr>
            <a:solidFill>
              <a:srgbClr val="27AE60"/>
            </a:solidFill>
            <a:effectLst/>
          </c:spPr>
          <c:invertIfNegative val="0"/>
          <c:dPt>
            <c:idx val="0"/>
            <c:invertIfNegative val="0"/>
            <c:bubble3D val="0"/>
            <c:extLst>
              <c:ext xmlns:c16="http://schemas.microsoft.com/office/drawing/2014/chart" uri="{C3380CC4-5D6E-409C-BE32-E72D297353CC}">
                <c16:uniqueId val="{00000001-CF8E-4997-944C-4901FEF99C12}"/>
              </c:ext>
            </c:extLst>
          </c:dPt>
          <c:dPt>
            <c:idx val="1"/>
            <c:invertIfNegative val="0"/>
            <c:bubble3D val="0"/>
            <c:extLst>
              <c:ext xmlns:c16="http://schemas.microsoft.com/office/drawing/2014/chart" uri="{C3380CC4-5D6E-409C-BE32-E72D297353CC}">
                <c16:uniqueId val="{00000003-CF8E-4997-944C-4901FEF99C12}"/>
              </c:ext>
            </c:extLst>
          </c:dPt>
          <c:dPt>
            <c:idx val="2"/>
            <c:invertIfNegative val="0"/>
            <c:bubble3D val="0"/>
            <c:spPr>
              <a:solidFill>
                <a:srgbClr val="4A90D9"/>
              </a:solidFill>
              <a:effectLst/>
            </c:spPr>
            <c:extLst>
              <c:ext xmlns:c16="http://schemas.microsoft.com/office/drawing/2014/chart" uri="{C3380CC4-5D6E-409C-BE32-E72D297353CC}">
                <c16:uniqueId val="{00000005-CF8E-4997-944C-4901FEF99C12}"/>
              </c:ext>
            </c:extLst>
          </c:dPt>
          <c:dPt>
            <c:idx val="3"/>
            <c:invertIfNegative val="0"/>
            <c:bubble3D val="0"/>
            <c:spPr>
              <a:solidFill>
                <a:srgbClr val="4A90D9"/>
              </a:solidFill>
              <a:effectLst/>
            </c:spPr>
            <c:extLst>
              <c:ext xmlns:c16="http://schemas.microsoft.com/office/drawing/2014/chart" uri="{C3380CC4-5D6E-409C-BE32-E72D297353CC}">
                <c16:uniqueId val="{00000007-CF8E-4997-944C-4901FEF99C12}"/>
              </c:ext>
            </c:extLst>
          </c:dPt>
          <c:dPt>
            <c:idx val="4"/>
            <c:invertIfNegative val="0"/>
            <c:bubble3D val="0"/>
            <c:spPr>
              <a:solidFill>
                <a:srgbClr val="E05555"/>
              </a:solidFill>
              <a:effectLst/>
            </c:spPr>
            <c:extLst>
              <c:ext xmlns:c16="http://schemas.microsoft.com/office/drawing/2014/chart" uri="{C3380CC4-5D6E-409C-BE32-E72D297353CC}">
                <c16:uniqueId val="{00000009-CF8E-4997-944C-4901FEF99C12}"/>
              </c:ext>
            </c:extLst>
          </c:dPt>
          <c:dPt>
            <c:idx val="5"/>
            <c:invertIfNegative val="0"/>
            <c:bubble3D val="0"/>
            <c:spPr>
              <a:solidFill>
                <a:srgbClr val="E05555"/>
              </a:solidFill>
              <a:effectLst/>
            </c:spPr>
            <c:extLst>
              <c:ext xmlns:c16="http://schemas.microsoft.com/office/drawing/2014/chart" uri="{C3380CC4-5D6E-409C-BE32-E72D297353CC}">
                <c16:uniqueId val="{0000000B-CF8E-4997-944C-4901FEF99C12}"/>
              </c:ext>
            </c:extLst>
          </c:dPt>
          <c:dLbls>
            <c:numFmt formatCode="#,##0" sourceLinked="0"/>
            <c:spPr>
              <a:noFill/>
              <a:ln>
                <a:noFill/>
              </a:ln>
              <a:effectLst/>
            </c:spPr>
            <c:txPr>
              <a:bodyPr/>
              <a:lstStyle/>
              <a:p>
                <a:pPr>
                  <a:defRPr sz="8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Blair Witch Project</c:v>
                </c:pt>
                <c:pt idx="1">
                  <c:v>Paranormal Activity</c:v>
                </c:pt>
                <c:pt idx="2">
                  <c:v>Get Out</c:v>
                </c:pt>
                <c:pt idx="3">
                  <c:v>Top Gun: Maverick</c:v>
                </c:pt>
                <c:pt idx="4">
                  <c:v>Joker: Folie a Deux</c:v>
                </c:pt>
                <c:pt idx="5">
                  <c:v>The Flash</c:v>
                </c:pt>
              </c:strCache>
            </c:strRef>
          </c:cat>
          <c:val>
            <c:numRef>
              <c:f>Sheet1!$B$2:$B$7</c:f>
              <c:numCache>
                <c:formatCode>General</c:formatCode>
                <c:ptCount val="6"/>
                <c:pt idx="0">
                  <c:v>4133</c:v>
                </c:pt>
                <c:pt idx="1">
                  <c:v>12933</c:v>
                </c:pt>
                <c:pt idx="2">
                  <c:v>3933</c:v>
                </c:pt>
                <c:pt idx="3">
                  <c:v>1614</c:v>
                </c:pt>
                <c:pt idx="4">
                  <c:v>114</c:v>
                </c:pt>
                <c:pt idx="5">
                  <c:v>93</c:v>
                </c:pt>
              </c:numCache>
            </c:numRef>
          </c:val>
          <c:extLst>
            <c:ext xmlns:c16="http://schemas.microsoft.com/office/drawing/2014/chart" uri="{C3380CC4-5D6E-409C-BE32-E72D297353CC}">
              <c16:uniqueId val="{0000000C-CF8E-4997-944C-4901FEF99C1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8888AA"/>
                </a:solidFill>
                <a:latin typeface="Arial"/>
              </a:defRPr>
            </a:pPr>
            <a:endParaRPr lang="en-US"/>
          </a:p>
        </c:txPr>
        <c:crossAx val="2094734552"/>
        <c:crosses val="autoZero"/>
        <c:auto val="1"/>
        <c:lblAlgn val="ctr"/>
        <c:lblOffset val="100"/>
        <c:noMultiLvlLbl val="1"/>
      </c:catAx>
      <c:valAx>
        <c:axId val="2094734552"/>
        <c:scaling>
          <c:orientation val="minMax"/>
          <c:min val="0"/>
        </c:scaling>
        <c:delete val="0"/>
        <c:axPos val="b"/>
        <c:majorGridlines>
          <c:spPr>
            <a:ln w="6350" cap="flat">
              <a:solidFill>
                <a:srgbClr val="2A2D5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8888AA"/>
                </a:solidFill>
                <a:latin typeface="Arial"/>
              </a:defRPr>
            </a:pPr>
            <a:endParaRPr lang="en-US"/>
          </a:p>
        </c:txPr>
        <c:crossAx val="2094734554"/>
        <c:crosses val="autoZero"/>
        <c:crossBetween val="between"/>
      </c:valAx>
      <c:spPr>
        <a:solidFill>
          <a:srgbClr val="0F1020"/>
        </a:solidFill>
        <a:ln>
          <a:noFill/>
        </a:ln>
        <a:effectLst/>
      </c:spPr>
    </c:plotArea>
    <c:plotVisOnly val="1"/>
    <c:dispBlanksAs val="span"/>
    <c:showDLblsOverMax val="1"/>
  </c:chart>
  <c:spPr>
    <a:solidFill>
      <a:srgbClr val="0F1020"/>
    </a:solidFill>
    <a:ln w="6350" cap="flat">
      <a:solidFill>
        <a:srgbClr val="2A2D50"/>
      </a:solid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9127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1A"/>
        </a:solidFill>
        <a:effectLst/>
      </p:bgPr>
    </p:bg>
    <p:spTree>
      <p:nvGrpSpPr>
        <p:cNvPr id="1" name=""/>
        <p:cNvGrpSpPr/>
        <p:nvPr/>
      </p:nvGrpSpPr>
      <p:grpSpPr>
        <a:xfrm>
          <a:off x="0" y="0"/>
          <a:ext cx="0" cy="0"/>
          <a:chOff x="0" y="0"/>
          <a:chExt cx="0" cy="0"/>
        </a:xfrm>
      </p:grpSpPr>
      <p:sp>
        <p:nvSpPr>
          <p:cNvPr id="2" name="Shape 0"/>
          <p:cNvSpPr/>
          <p:nvPr/>
        </p:nvSpPr>
        <p:spPr>
          <a:xfrm>
            <a:off x="0" y="365760"/>
            <a:ext cx="502920" cy="411480"/>
          </a:xfrm>
          <a:prstGeom prst="rect">
            <a:avLst/>
          </a:prstGeom>
          <a:solidFill>
            <a:srgbClr val="1E2040"/>
          </a:solidFill>
          <a:ln w="6350">
            <a:solidFill>
              <a:srgbClr val="2A2D50"/>
            </a:solidFill>
            <a:prstDash val="solid"/>
          </a:ln>
        </p:spPr>
      </p:sp>
      <p:sp>
        <p:nvSpPr>
          <p:cNvPr id="3" name="Shape 1"/>
          <p:cNvSpPr/>
          <p:nvPr/>
        </p:nvSpPr>
        <p:spPr>
          <a:xfrm>
            <a:off x="0" y="987552"/>
            <a:ext cx="502920" cy="411480"/>
          </a:xfrm>
          <a:prstGeom prst="rect">
            <a:avLst/>
          </a:prstGeom>
          <a:solidFill>
            <a:srgbClr val="0D0D1A"/>
          </a:solidFill>
          <a:ln w="6350">
            <a:solidFill>
              <a:srgbClr val="2A2D50"/>
            </a:solidFill>
            <a:prstDash val="solid"/>
          </a:ln>
        </p:spPr>
      </p:sp>
      <p:sp>
        <p:nvSpPr>
          <p:cNvPr id="4" name="Shape 2"/>
          <p:cNvSpPr/>
          <p:nvPr/>
        </p:nvSpPr>
        <p:spPr>
          <a:xfrm>
            <a:off x="0" y="1609344"/>
            <a:ext cx="502920" cy="411480"/>
          </a:xfrm>
          <a:prstGeom prst="rect">
            <a:avLst/>
          </a:prstGeom>
          <a:solidFill>
            <a:srgbClr val="1E2040"/>
          </a:solidFill>
          <a:ln w="6350">
            <a:solidFill>
              <a:srgbClr val="2A2D50"/>
            </a:solidFill>
            <a:prstDash val="solid"/>
          </a:ln>
        </p:spPr>
      </p:sp>
      <p:sp>
        <p:nvSpPr>
          <p:cNvPr id="5" name="Shape 3"/>
          <p:cNvSpPr/>
          <p:nvPr/>
        </p:nvSpPr>
        <p:spPr>
          <a:xfrm>
            <a:off x="0" y="2231136"/>
            <a:ext cx="502920" cy="411480"/>
          </a:xfrm>
          <a:prstGeom prst="rect">
            <a:avLst/>
          </a:prstGeom>
          <a:solidFill>
            <a:srgbClr val="0D0D1A"/>
          </a:solidFill>
          <a:ln w="6350">
            <a:solidFill>
              <a:srgbClr val="2A2D50"/>
            </a:solidFill>
            <a:prstDash val="solid"/>
          </a:ln>
        </p:spPr>
      </p:sp>
      <p:sp>
        <p:nvSpPr>
          <p:cNvPr id="6" name="Shape 4"/>
          <p:cNvSpPr/>
          <p:nvPr/>
        </p:nvSpPr>
        <p:spPr>
          <a:xfrm>
            <a:off x="0" y="2852928"/>
            <a:ext cx="502920" cy="411480"/>
          </a:xfrm>
          <a:prstGeom prst="rect">
            <a:avLst/>
          </a:prstGeom>
          <a:solidFill>
            <a:srgbClr val="1E2040"/>
          </a:solidFill>
          <a:ln w="6350">
            <a:solidFill>
              <a:srgbClr val="2A2D50"/>
            </a:solidFill>
            <a:prstDash val="solid"/>
          </a:ln>
        </p:spPr>
      </p:sp>
      <p:sp>
        <p:nvSpPr>
          <p:cNvPr id="7" name="Shape 5"/>
          <p:cNvSpPr/>
          <p:nvPr/>
        </p:nvSpPr>
        <p:spPr>
          <a:xfrm>
            <a:off x="0" y="3474720"/>
            <a:ext cx="502920" cy="411480"/>
          </a:xfrm>
          <a:prstGeom prst="rect">
            <a:avLst/>
          </a:prstGeom>
          <a:solidFill>
            <a:srgbClr val="0D0D1A"/>
          </a:solidFill>
          <a:ln w="6350">
            <a:solidFill>
              <a:srgbClr val="2A2D50"/>
            </a:solidFill>
            <a:prstDash val="solid"/>
          </a:ln>
        </p:spPr>
      </p:sp>
      <p:sp>
        <p:nvSpPr>
          <p:cNvPr id="8" name="Shape 6"/>
          <p:cNvSpPr/>
          <p:nvPr/>
        </p:nvSpPr>
        <p:spPr>
          <a:xfrm>
            <a:off x="0" y="4096512"/>
            <a:ext cx="502920" cy="411480"/>
          </a:xfrm>
          <a:prstGeom prst="rect">
            <a:avLst/>
          </a:prstGeom>
          <a:solidFill>
            <a:srgbClr val="1E2040"/>
          </a:solidFill>
          <a:ln w="6350">
            <a:solidFill>
              <a:srgbClr val="2A2D50"/>
            </a:solidFill>
            <a:prstDash val="solid"/>
          </a:ln>
        </p:spPr>
      </p:sp>
      <p:sp>
        <p:nvSpPr>
          <p:cNvPr id="9" name="Shape 7"/>
          <p:cNvSpPr/>
          <p:nvPr/>
        </p:nvSpPr>
        <p:spPr>
          <a:xfrm>
            <a:off x="0" y="4718304"/>
            <a:ext cx="502920" cy="411480"/>
          </a:xfrm>
          <a:prstGeom prst="rect">
            <a:avLst/>
          </a:prstGeom>
          <a:solidFill>
            <a:srgbClr val="0D0D1A"/>
          </a:solidFill>
          <a:ln w="6350">
            <a:solidFill>
              <a:srgbClr val="2A2D50"/>
            </a:solidFill>
            <a:prstDash val="solid"/>
          </a:ln>
        </p:spPr>
      </p:sp>
      <p:sp>
        <p:nvSpPr>
          <p:cNvPr id="10" name="Shape 8"/>
          <p:cNvSpPr/>
          <p:nvPr/>
        </p:nvSpPr>
        <p:spPr>
          <a:xfrm>
            <a:off x="8641080" y="365760"/>
            <a:ext cx="502920" cy="411480"/>
          </a:xfrm>
          <a:prstGeom prst="rect">
            <a:avLst/>
          </a:prstGeom>
          <a:solidFill>
            <a:srgbClr val="1E2040"/>
          </a:solidFill>
          <a:ln w="6350">
            <a:solidFill>
              <a:srgbClr val="2A2D50"/>
            </a:solidFill>
            <a:prstDash val="solid"/>
          </a:ln>
        </p:spPr>
      </p:sp>
      <p:sp>
        <p:nvSpPr>
          <p:cNvPr id="11" name="Shape 9"/>
          <p:cNvSpPr/>
          <p:nvPr/>
        </p:nvSpPr>
        <p:spPr>
          <a:xfrm>
            <a:off x="8641080" y="987552"/>
            <a:ext cx="502920" cy="411480"/>
          </a:xfrm>
          <a:prstGeom prst="rect">
            <a:avLst/>
          </a:prstGeom>
          <a:solidFill>
            <a:srgbClr val="0D0D1A"/>
          </a:solidFill>
          <a:ln w="6350">
            <a:solidFill>
              <a:srgbClr val="2A2D50"/>
            </a:solidFill>
            <a:prstDash val="solid"/>
          </a:ln>
        </p:spPr>
      </p:sp>
      <p:sp>
        <p:nvSpPr>
          <p:cNvPr id="12" name="Shape 10"/>
          <p:cNvSpPr/>
          <p:nvPr/>
        </p:nvSpPr>
        <p:spPr>
          <a:xfrm>
            <a:off x="8641080" y="1609344"/>
            <a:ext cx="502920" cy="411480"/>
          </a:xfrm>
          <a:prstGeom prst="rect">
            <a:avLst/>
          </a:prstGeom>
          <a:solidFill>
            <a:srgbClr val="1E2040"/>
          </a:solidFill>
          <a:ln w="6350">
            <a:solidFill>
              <a:srgbClr val="2A2D50"/>
            </a:solidFill>
            <a:prstDash val="solid"/>
          </a:ln>
        </p:spPr>
      </p:sp>
      <p:sp>
        <p:nvSpPr>
          <p:cNvPr id="13" name="Shape 11"/>
          <p:cNvSpPr/>
          <p:nvPr/>
        </p:nvSpPr>
        <p:spPr>
          <a:xfrm>
            <a:off x="8641080" y="2231136"/>
            <a:ext cx="502920" cy="411480"/>
          </a:xfrm>
          <a:prstGeom prst="rect">
            <a:avLst/>
          </a:prstGeom>
          <a:solidFill>
            <a:srgbClr val="0D0D1A"/>
          </a:solidFill>
          <a:ln w="6350">
            <a:solidFill>
              <a:srgbClr val="2A2D50"/>
            </a:solidFill>
            <a:prstDash val="solid"/>
          </a:ln>
        </p:spPr>
      </p:sp>
      <p:sp>
        <p:nvSpPr>
          <p:cNvPr id="14" name="Shape 12"/>
          <p:cNvSpPr/>
          <p:nvPr/>
        </p:nvSpPr>
        <p:spPr>
          <a:xfrm>
            <a:off x="8641080" y="2852928"/>
            <a:ext cx="502920" cy="411480"/>
          </a:xfrm>
          <a:prstGeom prst="rect">
            <a:avLst/>
          </a:prstGeom>
          <a:solidFill>
            <a:srgbClr val="1E2040"/>
          </a:solidFill>
          <a:ln w="6350">
            <a:solidFill>
              <a:srgbClr val="2A2D50"/>
            </a:solidFill>
            <a:prstDash val="solid"/>
          </a:ln>
        </p:spPr>
      </p:sp>
      <p:sp>
        <p:nvSpPr>
          <p:cNvPr id="15" name="Shape 13"/>
          <p:cNvSpPr/>
          <p:nvPr/>
        </p:nvSpPr>
        <p:spPr>
          <a:xfrm>
            <a:off x="8641080" y="3474720"/>
            <a:ext cx="502920" cy="411480"/>
          </a:xfrm>
          <a:prstGeom prst="rect">
            <a:avLst/>
          </a:prstGeom>
          <a:solidFill>
            <a:srgbClr val="0D0D1A"/>
          </a:solidFill>
          <a:ln w="6350">
            <a:solidFill>
              <a:srgbClr val="2A2D50"/>
            </a:solidFill>
            <a:prstDash val="solid"/>
          </a:ln>
        </p:spPr>
      </p:sp>
      <p:sp>
        <p:nvSpPr>
          <p:cNvPr id="16" name="Shape 14"/>
          <p:cNvSpPr/>
          <p:nvPr/>
        </p:nvSpPr>
        <p:spPr>
          <a:xfrm>
            <a:off x="8641080" y="4096512"/>
            <a:ext cx="502920" cy="411480"/>
          </a:xfrm>
          <a:prstGeom prst="rect">
            <a:avLst/>
          </a:prstGeom>
          <a:solidFill>
            <a:srgbClr val="1E2040"/>
          </a:solidFill>
          <a:ln w="6350">
            <a:solidFill>
              <a:srgbClr val="2A2D50"/>
            </a:solidFill>
            <a:prstDash val="solid"/>
          </a:ln>
        </p:spPr>
      </p:sp>
      <p:sp>
        <p:nvSpPr>
          <p:cNvPr id="17" name="Shape 15"/>
          <p:cNvSpPr/>
          <p:nvPr/>
        </p:nvSpPr>
        <p:spPr>
          <a:xfrm>
            <a:off x="8641080" y="4718304"/>
            <a:ext cx="502920" cy="411480"/>
          </a:xfrm>
          <a:prstGeom prst="rect">
            <a:avLst/>
          </a:prstGeom>
          <a:solidFill>
            <a:srgbClr val="0D0D1A"/>
          </a:solidFill>
          <a:ln w="6350">
            <a:solidFill>
              <a:srgbClr val="2A2D50"/>
            </a:solidFill>
            <a:prstDash val="solid"/>
          </a:ln>
        </p:spPr>
      </p:sp>
      <p:sp>
        <p:nvSpPr>
          <p:cNvPr id="18" name="Shape 16"/>
          <p:cNvSpPr/>
          <p:nvPr/>
        </p:nvSpPr>
        <p:spPr>
          <a:xfrm>
            <a:off x="1371600" y="1371600"/>
            <a:ext cx="6400800" cy="54864"/>
          </a:xfrm>
          <a:prstGeom prst="rect">
            <a:avLst/>
          </a:prstGeom>
          <a:solidFill>
            <a:srgbClr val="F5C518"/>
          </a:solidFill>
          <a:ln w="12700">
            <a:solidFill>
              <a:srgbClr val="F5C518"/>
            </a:solidFill>
            <a:prstDash val="solid"/>
          </a:ln>
        </p:spPr>
      </p:sp>
      <p:sp>
        <p:nvSpPr>
          <p:cNvPr id="19" name="Text 17"/>
          <p:cNvSpPr/>
          <p:nvPr/>
        </p:nvSpPr>
        <p:spPr>
          <a:xfrm>
            <a:off x="1097280" y="1554480"/>
            <a:ext cx="6949440" cy="822960"/>
          </a:xfrm>
          <a:prstGeom prst="rect">
            <a:avLst/>
          </a:prstGeom>
          <a:noFill/>
          <a:ln/>
        </p:spPr>
        <p:txBody>
          <a:bodyPr wrap="square" rtlCol="0" anchor="ctr"/>
          <a:lstStyle/>
          <a:p>
            <a:pPr marL="0" indent="0" algn="ctr">
              <a:buNone/>
            </a:pPr>
            <a:r>
              <a:rPr lang="en-US" sz="4400" b="1" kern="0" spc="400" dirty="0">
                <a:solidFill>
                  <a:srgbClr val="FFFFFF"/>
                </a:solidFill>
                <a:latin typeface="Calibri" pitchFamily="34" charset="0"/>
                <a:ea typeface="Calibri" pitchFamily="34" charset="-122"/>
                <a:cs typeface="Calibri" pitchFamily="34" charset="-120"/>
              </a:rPr>
              <a:t>BUDGET vs SUCCESS</a:t>
            </a:r>
            <a:endParaRPr lang="en-US" sz="4400" dirty="0"/>
          </a:p>
        </p:txBody>
      </p:sp>
      <p:sp>
        <p:nvSpPr>
          <p:cNvPr id="20" name="Text 18"/>
          <p:cNvSpPr/>
          <p:nvPr/>
        </p:nvSpPr>
        <p:spPr>
          <a:xfrm>
            <a:off x="1097280" y="2423160"/>
            <a:ext cx="6949440" cy="822960"/>
          </a:xfrm>
          <a:prstGeom prst="rect">
            <a:avLst/>
          </a:prstGeom>
          <a:noFill/>
          <a:ln/>
        </p:spPr>
        <p:txBody>
          <a:bodyPr wrap="square" rtlCol="0" anchor="ctr"/>
          <a:lstStyle/>
          <a:p>
            <a:pPr marL="0" indent="0" algn="ctr">
              <a:buNone/>
            </a:pPr>
            <a:r>
              <a:rPr lang="en-US" sz="1600" i="1" dirty="0">
                <a:solidFill>
                  <a:srgbClr val="F5C518"/>
                </a:solidFill>
                <a:latin typeface="Calibri" pitchFamily="34" charset="0"/>
                <a:ea typeface="Calibri" pitchFamily="34" charset="-122"/>
                <a:cs typeface="Calibri" pitchFamily="34" charset="-120"/>
              </a:rPr>
              <a:t>Does a Bigger Budget Lead to Better Ratings</a:t>
            </a:r>
            <a:endParaRPr lang="en-US" sz="1600" dirty="0"/>
          </a:p>
          <a:p>
            <a:pPr marL="0" indent="0" algn="ctr">
              <a:buNone/>
            </a:pPr>
            <a:r>
              <a:rPr lang="en-US" sz="1600" i="1" dirty="0">
                <a:solidFill>
                  <a:srgbClr val="F5C518"/>
                </a:solidFill>
                <a:latin typeface="Calibri" pitchFamily="34" charset="0"/>
                <a:ea typeface="Calibri" pitchFamily="34" charset="-122"/>
                <a:cs typeface="Calibri" pitchFamily="34" charset="-120"/>
              </a:rPr>
              <a:t>and Stronger Box Office Results?</a:t>
            </a:r>
            <a:endParaRPr lang="en-US" sz="1600" dirty="0"/>
          </a:p>
        </p:txBody>
      </p:sp>
      <p:sp>
        <p:nvSpPr>
          <p:cNvPr id="21" name="Shape 19"/>
          <p:cNvSpPr/>
          <p:nvPr/>
        </p:nvSpPr>
        <p:spPr>
          <a:xfrm>
            <a:off x="1371600" y="3337560"/>
            <a:ext cx="6400800" cy="36576"/>
          </a:xfrm>
          <a:prstGeom prst="rect">
            <a:avLst/>
          </a:prstGeom>
          <a:solidFill>
            <a:srgbClr val="F5C518"/>
          </a:solidFill>
          <a:ln w="12700">
            <a:solidFill>
              <a:srgbClr val="F5C518"/>
            </a:solidFill>
            <a:prstDash val="solid"/>
          </a:ln>
        </p:spPr>
      </p:sp>
      <p:sp>
        <p:nvSpPr>
          <p:cNvPr id="22" name="Text 20"/>
          <p:cNvSpPr/>
          <p:nvPr/>
        </p:nvSpPr>
        <p:spPr>
          <a:xfrm>
            <a:off x="1097280" y="3520440"/>
            <a:ext cx="6949440" cy="411480"/>
          </a:xfrm>
          <a:prstGeom prst="rect">
            <a:avLst/>
          </a:prstGeom>
          <a:noFill/>
          <a:ln/>
        </p:spPr>
        <p:txBody>
          <a:bodyPr wrap="square" rtlCol="0" anchor="ctr"/>
          <a:lstStyle/>
          <a:p>
            <a:pPr marL="0" indent="0" algn="ctr">
              <a:buNone/>
            </a:pPr>
            <a:r>
              <a:rPr lang="en-US" sz="2200" b="1" kern="0" spc="600" dirty="0">
                <a:solidFill>
                  <a:srgbClr val="00C2CB"/>
                </a:solidFill>
                <a:latin typeface="Calibri" pitchFamily="34" charset="0"/>
                <a:ea typeface="Calibri" pitchFamily="34" charset="-122"/>
                <a:cs typeface="Calibri" pitchFamily="34" charset="-120"/>
              </a:rPr>
              <a:t>DATA AVENGERS</a:t>
            </a:r>
            <a:endParaRPr lang="en-US" sz="2200" dirty="0"/>
          </a:p>
        </p:txBody>
      </p:sp>
      <p:sp>
        <p:nvSpPr>
          <p:cNvPr id="23" name="Text 21"/>
          <p:cNvSpPr/>
          <p:nvPr/>
        </p:nvSpPr>
        <p:spPr>
          <a:xfrm>
            <a:off x="274320" y="4114800"/>
            <a:ext cx="2011680" cy="274320"/>
          </a:xfrm>
          <a:prstGeom prst="rect">
            <a:avLst/>
          </a:prstGeom>
          <a:noFill/>
          <a:ln/>
        </p:spPr>
        <p:txBody>
          <a:bodyPr wrap="square" rtlCol="0" anchor="ctr"/>
          <a:lstStyle/>
          <a:p>
            <a:pPr marL="0" indent="0" algn="ctr">
              <a:buNone/>
            </a:pPr>
            <a:r>
              <a:rPr lang="en-US" sz="1100" dirty="0">
                <a:solidFill>
                  <a:srgbClr val="8888AA"/>
                </a:solidFill>
                <a:latin typeface="Calibri" pitchFamily="34" charset="0"/>
                <a:ea typeface="Calibri" pitchFamily="34" charset="-122"/>
                <a:cs typeface="Calibri" pitchFamily="34" charset="-120"/>
              </a:rPr>
              <a:t>Abdulhadi Kirkici</a:t>
            </a:r>
            <a:endParaRPr lang="en-US" sz="1100" dirty="0"/>
          </a:p>
        </p:txBody>
      </p:sp>
      <p:sp>
        <p:nvSpPr>
          <p:cNvPr id="24" name="Text 22"/>
          <p:cNvSpPr/>
          <p:nvPr/>
        </p:nvSpPr>
        <p:spPr>
          <a:xfrm>
            <a:off x="2450592" y="4114800"/>
            <a:ext cx="2011680" cy="274320"/>
          </a:xfrm>
          <a:prstGeom prst="rect">
            <a:avLst/>
          </a:prstGeom>
          <a:noFill/>
          <a:ln/>
        </p:spPr>
        <p:txBody>
          <a:bodyPr wrap="square" rtlCol="0" anchor="ctr"/>
          <a:lstStyle/>
          <a:p>
            <a:pPr marL="0" indent="0" algn="ctr">
              <a:buNone/>
            </a:pPr>
            <a:r>
              <a:rPr lang="en-US" sz="1100" dirty="0">
                <a:solidFill>
                  <a:srgbClr val="8888AA"/>
                </a:solidFill>
                <a:latin typeface="Calibri" pitchFamily="34" charset="0"/>
                <a:ea typeface="Calibri" pitchFamily="34" charset="-122"/>
                <a:cs typeface="Calibri" pitchFamily="34" charset="-120"/>
              </a:rPr>
              <a:t>Fatih Ridvan Kizik</a:t>
            </a:r>
            <a:endParaRPr lang="en-US" sz="1100" dirty="0"/>
          </a:p>
        </p:txBody>
      </p:sp>
      <p:sp>
        <p:nvSpPr>
          <p:cNvPr id="25" name="Text 23"/>
          <p:cNvSpPr/>
          <p:nvPr/>
        </p:nvSpPr>
        <p:spPr>
          <a:xfrm>
            <a:off x="4626864" y="4114800"/>
            <a:ext cx="2011680" cy="274320"/>
          </a:xfrm>
          <a:prstGeom prst="rect">
            <a:avLst/>
          </a:prstGeom>
          <a:noFill/>
          <a:ln/>
        </p:spPr>
        <p:txBody>
          <a:bodyPr wrap="square" rtlCol="0" anchor="ctr"/>
          <a:lstStyle/>
          <a:p>
            <a:pPr marL="0" indent="0" algn="ctr">
              <a:buNone/>
            </a:pPr>
            <a:r>
              <a:rPr lang="en-US" sz="1100" dirty="0">
                <a:solidFill>
                  <a:srgbClr val="8888AA"/>
                </a:solidFill>
                <a:latin typeface="Calibri" pitchFamily="34" charset="0"/>
                <a:ea typeface="Calibri" pitchFamily="34" charset="-122"/>
                <a:cs typeface="Calibri" pitchFamily="34" charset="-120"/>
              </a:rPr>
              <a:t>Numrah Khan</a:t>
            </a:r>
            <a:endParaRPr lang="en-US" sz="1100" dirty="0"/>
          </a:p>
        </p:txBody>
      </p:sp>
      <p:sp>
        <p:nvSpPr>
          <p:cNvPr id="26" name="Text 24"/>
          <p:cNvSpPr/>
          <p:nvPr/>
        </p:nvSpPr>
        <p:spPr>
          <a:xfrm>
            <a:off x="6803136" y="4114800"/>
            <a:ext cx="2011680" cy="274320"/>
          </a:xfrm>
          <a:prstGeom prst="rect">
            <a:avLst/>
          </a:prstGeom>
          <a:noFill/>
          <a:ln/>
        </p:spPr>
        <p:txBody>
          <a:bodyPr wrap="square" rtlCol="0" anchor="ctr"/>
          <a:lstStyle/>
          <a:p>
            <a:pPr marL="0" indent="0" algn="ctr">
              <a:buNone/>
            </a:pPr>
            <a:r>
              <a:rPr lang="en-US" sz="1100" dirty="0">
                <a:solidFill>
                  <a:srgbClr val="8888AA"/>
                </a:solidFill>
                <a:latin typeface="Calibri" pitchFamily="34" charset="0"/>
                <a:ea typeface="Calibri" pitchFamily="34" charset="-122"/>
                <a:cs typeface="Calibri" pitchFamily="34" charset="-120"/>
              </a:rPr>
              <a:t>Yash Tiwari</a:t>
            </a:r>
            <a:endParaRPr lang="en-US" sz="1100" dirty="0"/>
          </a:p>
        </p:txBody>
      </p:sp>
      <p:sp>
        <p:nvSpPr>
          <p:cNvPr id="27" name="Text 25"/>
          <p:cNvSpPr/>
          <p:nvPr/>
        </p:nvSpPr>
        <p:spPr>
          <a:xfrm>
            <a:off x="1097280" y="4572000"/>
            <a:ext cx="6949440" cy="274320"/>
          </a:xfrm>
          <a:prstGeom prst="rect">
            <a:avLst/>
          </a:prstGeom>
          <a:noFill/>
          <a:ln/>
        </p:spPr>
        <p:txBody>
          <a:bodyPr wrap="square" rtlCol="0" anchor="ctr"/>
          <a:lstStyle/>
          <a:p>
            <a:pPr marL="0" indent="0" algn="ctr">
              <a:buNone/>
            </a:pPr>
            <a:r>
              <a:rPr lang="en-US" sz="1000" dirty="0">
                <a:solidFill>
                  <a:srgbClr val="2A2D50"/>
                </a:solidFill>
                <a:latin typeface="Calibri" pitchFamily="34" charset="0"/>
                <a:ea typeface="Calibri" pitchFamily="34" charset="-122"/>
                <a:cs typeface="Calibri" pitchFamily="34" charset="-120"/>
              </a:rPr>
              <a:t>Data Science for Business  •  Mid-Project Presentation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Problem Statement</a:t>
            </a:r>
            <a:endParaRPr lang="en-US" sz="2800" dirty="0"/>
          </a:p>
        </p:txBody>
      </p:sp>
      <p:sp>
        <p:nvSpPr>
          <p:cNvPr id="3" name="Shape 1"/>
          <p:cNvSpPr/>
          <p:nvPr/>
        </p:nvSpPr>
        <p:spPr>
          <a:xfrm>
            <a:off x="457200" y="804672"/>
            <a:ext cx="1005840" cy="45720"/>
          </a:xfrm>
          <a:prstGeom prst="rect">
            <a:avLst/>
          </a:prstGeom>
          <a:solidFill>
            <a:srgbClr val="F5C518"/>
          </a:solidFill>
          <a:ln w="12700">
            <a:solidFill>
              <a:srgbClr val="F5C518"/>
            </a:solidFill>
            <a:prstDash val="solid"/>
          </a:ln>
        </p:spPr>
      </p:sp>
      <p:sp>
        <p:nvSpPr>
          <p:cNvPr id="4" name="Shape 2"/>
          <p:cNvSpPr/>
          <p:nvPr/>
        </p:nvSpPr>
        <p:spPr>
          <a:xfrm>
            <a:off x="457200" y="1005840"/>
            <a:ext cx="8229600" cy="1170432"/>
          </a:xfrm>
          <a:prstGeom prst="rect">
            <a:avLst/>
          </a:prstGeom>
          <a:solidFill>
            <a:srgbClr val="1A1C35"/>
          </a:solidFill>
          <a:ln w="10160">
            <a:solidFill>
              <a:srgbClr val="2A2D50"/>
            </a:solidFill>
            <a:prstDash val="solid"/>
          </a:ln>
          <a:effectLst>
            <a:outerShdw blurRad="101600" dist="38100" dir="8100000" algn="bl" rotWithShape="0">
              <a:srgbClr val="000000">
                <a:alpha val="30000"/>
              </a:srgbClr>
            </a:outerShdw>
          </a:effectLst>
        </p:spPr>
      </p:sp>
      <p:sp>
        <p:nvSpPr>
          <p:cNvPr id="5" name="Shape 3"/>
          <p:cNvSpPr/>
          <p:nvPr/>
        </p:nvSpPr>
        <p:spPr>
          <a:xfrm>
            <a:off x="457200" y="1005840"/>
            <a:ext cx="64008" cy="1170432"/>
          </a:xfrm>
          <a:prstGeom prst="rect">
            <a:avLst/>
          </a:prstGeom>
          <a:solidFill>
            <a:srgbClr val="F5C518"/>
          </a:solidFill>
          <a:ln w="12700">
            <a:solidFill>
              <a:srgbClr val="F5C518"/>
            </a:solidFill>
            <a:prstDash val="solid"/>
          </a:ln>
        </p:spPr>
      </p:sp>
      <p:sp>
        <p:nvSpPr>
          <p:cNvPr id="6" name="Text 4"/>
          <p:cNvSpPr/>
          <p:nvPr/>
        </p:nvSpPr>
        <p:spPr>
          <a:xfrm>
            <a:off x="658368" y="1042416"/>
            <a:ext cx="7909560" cy="1097280"/>
          </a:xfrm>
          <a:prstGeom prst="rect">
            <a:avLst/>
          </a:prstGeom>
          <a:noFill/>
          <a:ln/>
        </p:spPr>
        <p:txBody>
          <a:bodyPr wrap="square" rtlCol="0" anchor="ctr"/>
          <a:lstStyle/>
          <a:p>
            <a:pPr marL="0" indent="0">
              <a:buNone/>
            </a:pPr>
            <a:r>
              <a:rPr lang="en-US" sz="1250" dirty="0">
                <a:solidFill>
                  <a:srgbClr val="E8E8F0"/>
                </a:solidFill>
                <a:latin typeface="Calibri" pitchFamily="34" charset="0"/>
                <a:ea typeface="Calibri" pitchFamily="34" charset="-122"/>
                <a:cs typeface="Calibri" pitchFamily="34" charset="-120"/>
              </a:rPr>
              <a:t>Every year, movie studios pour heavy amounts of money into productions, betting that bigger budgets will draw bigger crowds and better reviews. But anyone who follows movies knows that's not always how it plays out. Some of the most expensive films in history have flopped, while smaller productions made on a fraction of the budget have gone on to become cultural phenomena.</a:t>
            </a:r>
            <a:endParaRPr lang="en-US" sz="1250" dirty="0"/>
          </a:p>
        </p:txBody>
      </p:sp>
      <p:sp>
        <p:nvSpPr>
          <p:cNvPr id="7" name="Shape 5"/>
          <p:cNvSpPr/>
          <p:nvPr/>
        </p:nvSpPr>
        <p:spPr>
          <a:xfrm>
            <a:off x="457200" y="2331720"/>
            <a:ext cx="8229600" cy="1170432"/>
          </a:xfrm>
          <a:prstGeom prst="rect">
            <a:avLst/>
          </a:prstGeom>
          <a:solidFill>
            <a:srgbClr val="1A1C35"/>
          </a:solidFill>
          <a:ln w="10160">
            <a:solidFill>
              <a:srgbClr val="2A2D50"/>
            </a:solidFill>
            <a:prstDash val="solid"/>
          </a:ln>
          <a:effectLst>
            <a:outerShdw blurRad="101600" dist="38100" dir="8100000" algn="bl" rotWithShape="0">
              <a:srgbClr val="000000">
                <a:alpha val="30000"/>
              </a:srgbClr>
            </a:outerShdw>
          </a:effectLst>
        </p:spPr>
      </p:sp>
      <p:sp>
        <p:nvSpPr>
          <p:cNvPr id="8" name="Shape 6"/>
          <p:cNvSpPr/>
          <p:nvPr/>
        </p:nvSpPr>
        <p:spPr>
          <a:xfrm>
            <a:off x="457200" y="2331720"/>
            <a:ext cx="64008" cy="1170432"/>
          </a:xfrm>
          <a:prstGeom prst="rect">
            <a:avLst/>
          </a:prstGeom>
          <a:solidFill>
            <a:srgbClr val="00C2CB"/>
          </a:solidFill>
          <a:ln w="12700">
            <a:solidFill>
              <a:srgbClr val="00C2CB"/>
            </a:solidFill>
            <a:prstDash val="solid"/>
          </a:ln>
        </p:spPr>
      </p:sp>
      <p:sp>
        <p:nvSpPr>
          <p:cNvPr id="9" name="Text 7"/>
          <p:cNvSpPr/>
          <p:nvPr/>
        </p:nvSpPr>
        <p:spPr>
          <a:xfrm>
            <a:off x="658368" y="2368296"/>
            <a:ext cx="7909560" cy="1097280"/>
          </a:xfrm>
          <a:prstGeom prst="rect">
            <a:avLst/>
          </a:prstGeom>
          <a:noFill/>
          <a:ln/>
        </p:spPr>
        <p:txBody>
          <a:bodyPr wrap="square" rtlCol="0" anchor="ctr"/>
          <a:lstStyle/>
          <a:p>
            <a:pPr marL="0" indent="0">
              <a:buNone/>
            </a:pPr>
            <a:r>
              <a:rPr lang="en-US" sz="1250" dirty="0">
                <a:solidFill>
                  <a:srgbClr val="E8E8F0"/>
                </a:solidFill>
                <a:latin typeface="Calibri" pitchFamily="34" charset="0"/>
                <a:ea typeface="Calibri" pitchFamily="34" charset="-122"/>
                <a:cs typeface="Calibri" pitchFamily="34" charset="-120"/>
              </a:rPr>
              <a:t>So the question we want to dig into is simple: does spending more actually lead to better outcomes? We'll look at this through real data, examining how production budgets relate to box office earnings, audience ratings, and critic scores across hundreds of films. We'll also explore whether the answer changes depending on the genre or the era the film was made in, because the industry today looks very different from even a decade ago.</a:t>
            </a:r>
            <a:endParaRPr lang="en-US" sz="1250" dirty="0"/>
          </a:p>
        </p:txBody>
      </p:sp>
      <p:sp>
        <p:nvSpPr>
          <p:cNvPr id="10" name="Shape 8"/>
          <p:cNvSpPr/>
          <p:nvPr/>
        </p:nvSpPr>
        <p:spPr>
          <a:xfrm>
            <a:off x="457200" y="3657600"/>
            <a:ext cx="8229600" cy="1051560"/>
          </a:xfrm>
          <a:prstGeom prst="rect">
            <a:avLst/>
          </a:prstGeom>
          <a:solidFill>
            <a:srgbClr val="1A1C35"/>
          </a:solidFill>
          <a:ln w="10160">
            <a:solidFill>
              <a:srgbClr val="2A2D50"/>
            </a:solidFill>
            <a:prstDash val="solid"/>
          </a:ln>
          <a:effectLst>
            <a:outerShdw blurRad="101600" dist="38100" dir="8100000" algn="bl" rotWithShape="0">
              <a:srgbClr val="000000">
                <a:alpha val="30000"/>
              </a:srgbClr>
            </a:outerShdw>
          </a:effectLst>
        </p:spPr>
      </p:sp>
      <p:sp>
        <p:nvSpPr>
          <p:cNvPr id="11" name="Shape 9"/>
          <p:cNvSpPr/>
          <p:nvPr/>
        </p:nvSpPr>
        <p:spPr>
          <a:xfrm>
            <a:off x="457200" y="3657600"/>
            <a:ext cx="64008" cy="1051560"/>
          </a:xfrm>
          <a:prstGeom prst="rect">
            <a:avLst/>
          </a:prstGeom>
          <a:solidFill>
            <a:srgbClr val="9B59B6"/>
          </a:solidFill>
          <a:ln w="12700">
            <a:solidFill>
              <a:srgbClr val="9B59B6"/>
            </a:solidFill>
            <a:prstDash val="solid"/>
          </a:ln>
        </p:spPr>
      </p:sp>
      <p:sp>
        <p:nvSpPr>
          <p:cNvPr id="12" name="Text 10"/>
          <p:cNvSpPr/>
          <p:nvPr/>
        </p:nvSpPr>
        <p:spPr>
          <a:xfrm>
            <a:off x="658368" y="3694176"/>
            <a:ext cx="7909560" cy="960120"/>
          </a:xfrm>
          <a:prstGeom prst="rect">
            <a:avLst/>
          </a:prstGeom>
          <a:noFill/>
          <a:ln/>
        </p:spPr>
        <p:txBody>
          <a:bodyPr wrap="square" rtlCol="0" anchor="ctr"/>
          <a:lstStyle/>
          <a:p>
            <a:pPr marL="0" indent="0">
              <a:buNone/>
            </a:pPr>
            <a:r>
              <a:rPr lang="en-US" sz="1250" dirty="0">
                <a:solidFill>
                  <a:srgbClr val="E8E8F0"/>
                </a:solidFill>
                <a:latin typeface="Calibri" pitchFamily="34" charset="0"/>
                <a:ea typeface="Calibri" pitchFamily="34" charset="-122"/>
                <a:cs typeface="Calibri" pitchFamily="34" charset="-120"/>
              </a:rPr>
              <a:t>Using four combined datasets from sources like </a:t>
            </a:r>
            <a:r>
              <a:rPr lang="en-US" sz="1250" b="1" dirty="0">
                <a:solidFill>
                  <a:srgbClr val="F5C518"/>
                </a:solidFill>
                <a:latin typeface="Calibri" pitchFamily="34" charset="0"/>
                <a:ea typeface="Calibri" pitchFamily="34" charset="-122"/>
                <a:cs typeface="Calibri" pitchFamily="34" charset="-120"/>
              </a:rPr>
              <a:t>Kaggle, TMDB, Rotten Tomatoes, and IMDb</a:t>
            </a:r>
            <a:r>
              <a:rPr lang="en-US" sz="1250" dirty="0">
                <a:solidFill>
                  <a:srgbClr val="E8E8F0"/>
                </a:solidFill>
                <a:latin typeface="Calibri" pitchFamily="34" charset="0"/>
                <a:ea typeface="Calibri" pitchFamily="34" charset="-122"/>
                <a:cs typeface="Calibri" pitchFamily="34" charset="-120"/>
              </a:rPr>
              <a:t>, we'll build a data pipeline to bring this all together and find out what the numbers actually say.</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438912"/>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Why This Question Matters — The Numbers Don't Lie</a:t>
            </a:r>
            <a:endParaRPr lang="en-US" sz="2200" dirty="0"/>
          </a:p>
        </p:txBody>
      </p:sp>
      <p:sp>
        <p:nvSpPr>
          <p:cNvPr id="3" name="Shape 1"/>
          <p:cNvSpPr/>
          <p:nvPr/>
        </p:nvSpPr>
        <p:spPr>
          <a:xfrm>
            <a:off x="365760" y="621792"/>
            <a:ext cx="1463040" cy="45720"/>
          </a:xfrm>
          <a:prstGeom prst="rect">
            <a:avLst/>
          </a:prstGeom>
          <a:solidFill>
            <a:srgbClr val="F5C518"/>
          </a:solidFill>
          <a:ln w="12700">
            <a:solidFill>
              <a:srgbClr val="F5C518"/>
            </a:solidFill>
            <a:prstDash val="solid"/>
          </a:ln>
        </p:spPr>
      </p:sp>
      <p:sp>
        <p:nvSpPr>
          <p:cNvPr id="4" name="Text 2"/>
          <p:cNvSpPr/>
          <p:nvPr/>
        </p:nvSpPr>
        <p:spPr>
          <a:xfrm>
            <a:off x="365760" y="749808"/>
            <a:ext cx="4206240" cy="274320"/>
          </a:xfrm>
          <a:prstGeom prst="rect">
            <a:avLst/>
          </a:prstGeom>
          <a:noFill/>
          <a:ln/>
        </p:spPr>
        <p:txBody>
          <a:bodyPr wrap="square" rtlCol="0" anchor="ctr"/>
          <a:lstStyle/>
          <a:p>
            <a:pPr marL="0" indent="0">
              <a:buNone/>
            </a:pPr>
            <a:r>
              <a:rPr lang="en-US" sz="1100" b="1" dirty="0">
                <a:solidFill>
                  <a:srgbClr val="00C2CB"/>
                </a:solidFill>
                <a:latin typeface="Calibri" pitchFamily="34" charset="0"/>
                <a:ea typeface="Calibri" pitchFamily="34" charset="-122"/>
                <a:cs typeface="Calibri" pitchFamily="34" charset="-120"/>
              </a:rPr>
              <a:t>Global Box Office Revenue 2019–2024</a:t>
            </a:r>
            <a:endParaRPr lang="en-US" sz="1100" dirty="0"/>
          </a:p>
        </p:txBody>
      </p:sp>
      <p:graphicFrame>
        <p:nvGraphicFramePr>
          <p:cNvPr id="5" name="Chart 0"/>
          <p:cNvGraphicFramePr/>
          <p:nvPr/>
        </p:nvGraphicFramePr>
        <p:xfrm>
          <a:off x="274320" y="1051560"/>
          <a:ext cx="420624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1188720" y="2697480"/>
            <a:ext cx="640080" cy="347472"/>
          </a:xfrm>
          <a:prstGeom prst="rect">
            <a:avLst/>
          </a:prstGeom>
          <a:noFill/>
          <a:ln/>
        </p:spPr>
        <p:txBody>
          <a:bodyPr wrap="square" rtlCol="0" anchor="ctr"/>
          <a:lstStyle/>
          <a:p>
            <a:pPr marL="0" indent="0" algn="ctr">
              <a:buNone/>
            </a:pPr>
            <a:r>
              <a:rPr lang="en-US" sz="800" b="1" i="1" dirty="0">
                <a:solidFill>
                  <a:srgbClr val="E05555"/>
                </a:solidFill>
                <a:latin typeface="Calibri" pitchFamily="34" charset="0"/>
                <a:ea typeface="Calibri" pitchFamily="34" charset="-122"/>
                <a:cs typeface="Calibri" pitchFamily="34" charset="-120"/>
              </a:rPr>
              <a:t>COVID</a:t>
            </a:r>
            <a:endParaRPr lang="en-US" sz="800" dirty="0"/>
          </a:p>
          <a:p>
            <a:pPr marL="0" indent="0" algn="ctr">
              <a:buNone/>
            </a:pPr>
            <a:r>
              <a:rPr lang="en-US" sz="800" b="1" i="1" dirty="0">
                <a:solidFill>
                  <a:srgbClr val="E05555"/>
                </a:solidFill>
                <a:latin typeface="Calibri" pitchFamily="34" charset="0"/>
                <a:ea typeface="Calibri" pitchFamily="34" charset="-122"/>
                <a:cs typeface="Calibri" pitchFamily="34" charset="-120"/>
              </a:rPr>
              <a:t>crash</a:t>
            </a:r>
            <a:endParaRPr lang="en-US" sz="800" dirty="0"/>
          </a:p>
        </p:txBody>
      </p:sp>
      <p:sp>
        <p:nvSpPr>
          <p:cNvPr id="7" name="Text 4"/>
          <p:cNvSpPr/>
          <p:nvPr/>
        </p:nvSpPr>
        <p:spPr>
          <a:xfrm>
            <a:off x="4663440" y="749808"/>
            <a:ext cx="4114800" cy="274320"/>
          </a:xfrm>
          <a:prstGeom prst="rect">
            <a:avLst/>
          </a:prstGeom>
          <a:noFill/>
          <a:ln/>
        </p:spPr>
        <p:txBody>
          <a:bodyPr wrap="square" rtlCol="0" anchor="ctr"/>
          <a:lstStyle/>
          <a:p>
            <a:pPr marL="0" indent="0">
              <a:buNone/>
            </a:pPr>
            <a:r>
              <a:rPr lang="en-US" sz="1100" b="1" dirty="0">
                <a:solidFill>
                  <a:srgbClr val="00C2CB"/>
                </a:solidFill>
                <a:latin typeface="Calibri" pitchFamily="34" charset="0"/>
                <a:ea typeface="Calibri" pitchFamily="34" charset="-122"/>
                <a:cs typeface="Calibri" pitchFamily="34" charset="-120"/>
              </a:rPr>
              <a:t>Box Office ROI by Film (Budget vs Gross)</a:t>
            </a:r>
            <a:endParaRPr lang="en-US" sz="1100" dirty="0"/>
          </a:p>
        </p:txBody>
      </p:sp>
      <p:graphicFrame>
        <p:nvGraphicFramePr>
          <p:cNvPr id="8" name="Chart 1"/>
          <p:cNvGraphicFramePr/>
          <p:nvPr/>
        </p:nvGraphicFramePr>
        <p:xfrm>
          <a:off x="4572000" y="1051560"/>
          <a:ext cx="4297680" cy="306324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p:nvPr/>
        </p:nvSpPr>
        <p:spPr>
          <a:xfrm>
            <a:off x="365760" y="4224528"/>
            <a:ext cx="1005840" cy="292608"/>
          </a:xfrm>
          <a:prstGeom prst="rect">
            <a:avLst/>
          </a:prstGeom>
          <a:noFill/>
          <a:ln/>
        </p:spPr>
        <p:txBody>
          <a:bodyPr wrap="square" rtlCol="0" anchor="ctr"/>
          <a:lstStyle/>
          <a:p>
            <a:pPr marL="0" indent="0">
              <a:buNone/>
            </a:pPr>
            <a:r>
              <a:rPr lang="en-US" sz="850" b="1" dirty="0">
                <a:solidFill>
                  <a:srgbClr val="F5C518"/>
                </a:solidFill>
                <a:latin typeface="Calibri" pitchFamily="34" charset="0"/>
                <a:ea typeface="Calibri" pitchFamily="34" charset="-122"/>
                <a:cs typeface="Calibri" pitchFamily="34" charset="-120"/>
              </a:rPr>
              <a:t>Our datasets:</a:t>
            </a:r>
            <a:endParaRPr lang="en-US" sz="850" dirty="0"/>
          </a:p>
        </p:txBody>
      </p:sp>
      <p:sp>
        <p:nvSpPr>
          <p:cNvPr id="10" name="Shape 6"/>
          <p:cNvSpPr/>
          <p:nvPr/>
        </p:nvSpPr>
        <p:spPr>
          <a:xfrm>
            <a:off x="1417320" y="4224528"/>
            <a:ext cx="1783080" cy="329184"/>
          </a:xfrm>
          <a:prstGeom prst="rect">
            <a:avLst/>
          </a:prstGeom>
          <a:solidFill>
            <a:srgbClr val="1A1C35"/>
          </a:solidFill>
          <a:ln w="12700">
            <a:solidFill>
              <a:srgbClr val="4A90D9"/>
            </a:solidFill>
            <a:prstDash val="solid"/>
          </a:ln>
        </p:spPr>
      </p:sp>
      <p:sp>
        <p:nvSpPr>
          <p:cNvPr id="11" name="Shape 7"/>
          <p:cNvSpPr/>
          <p:nvPr/>
        </p:nvSpPr>
        <p:spPr>
          <a:xfrm>
            <a:off x="1417320" y="4224528"/>
            <a:ext cx="54864" cy="329184"/>
          </a:xfrm>
          <a:prstGeom prst="rect">
            <a:avLst/>
          </a:prstGeom>
          <a:solidFill>
            <a:srgbClr val="4A90D9"/>
          </a:solidFill>
          <a:ln w="12700">
            <a:solidFill>
              <a:srgbClr val="4A90D9"/>
            </a:solidFill>
            <a:prstDash val="solid"/>
          </a:ln>
        </p:spPr>
      </p:sp>
      <p:sp>
        <p:nvSpPr>
          <p:cNvPr id="12" name="Text 8"/>
          <p:cNvSpPr/>
          <p:nvPr/>
        </p:nvSpPr>
        <p:spPr>
          <a:xfrm>
            <a:off x="1508760" y="4224528"/>
            <a:ext cx="1627632" cy="164592"/>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The Movies Dataset</a:t>
            </a:r>
            <a:endParaRPr lang="en-US" sz="800" dirty="0"/>
          </a:p>
        </p:txBody>
      </p:sp>
      <p:sp>
        <p:nvSpPr>
          <p:cNvPr id="13" name="Text 9"/>
          <p:cNvSpPr/>
          <p:nvPr/>
        </p:nvSpPr>
        <p:spPr>
          <a:xfrm>
            <a:off x="1508760" y="4389120"/>
            <a:ext cx="1627632" cy="146304"/>
          </a:xfrm>
          <a:prstGeom prst="rect">
            <a:avLst/>
          </a:prstGeom>
          <a:noFill/>
          <a:ln/>
        </p:spPr>
        <p:txBody>
          <a:bodyPr wrap="square" rtlCol="0" anchor="ctr"/>
          <a:lstStyle/>
          <a:p>
            <a:pPr marL="0" indent="0">
              <a:buNone/>
            </a:pPr>
            <a:r>
              <a:rPr lang="en-US" sz="700" dirty="0">
                <a:solidFill>
                  <a:srgbClr val="8888AA"/>
                </a:solidFill>
                <a:latin typeface="Calibri" pitchFamily="34" charset="0"/>
                <a:ea typeface="Calibri" pitchFamily="34" charset="-122"/>
                <a:cs typeface="Calibri" pitchFamily="34" charset="-120"/>
              </a:rPr>
              <a:t>45K films · budget + revenue</a:t>
            </a:r>
            <a:endParaRPr lang="en-US" sz="700" dirty="0"/>
          </a:p>
        </p:txBody>
      </p:sp>
      <p:sp>
        <p:nvSpPr>
          <p:cNvPr id="14" name="Shape 10"/>
          <p:cNvSpPr/>
          <p:nvPr/>
        </p:nvSpPr>
        <p:spPr>
          <a:xfrm>
            <a:off x="3291840" y="4224528"/>
            <a:ext cx="1783080" cy="329184"/>
          </a:xfrm>
          <a:prstGeom prst="rect">
            <a:avLst/>
          </a:prstGeom>
          <a:solidFill>
            <a:srgbClr val="1A1C35"/>
          </a:solidFill>
          <a:ln w="12700">
            <a:solidFill>
              <a:srgbClr val="00C2CB"/>
            </a:solidFill>
            <a:prstDash val="solid"/>
          </a:ln>
        </p:spPr>
      </p:sp>
      <p:sp>
        <p:nvSpPr>
          <p:cNvPr id="15" name="Shape 11"/>
          <p:cNvSpPr/>
          <p:nvPr/>
        </p:nvSpPr>
        <p:spPr>
          <a:xfrm>
            <a:off x="3291840" y="4224528"/>
            <a:ext cx="54864" cy="329184"/>
          </a:xfrm>
          <a:prstGeom prst="rect">
            <a:avLst/>
          </a:prstGeom>
          <a:solidFill>
            <a:srgbClr val="00C2CB"/>
          </a:solidFill>
          <a:ln w="12700">
            <a:solidFill>
              <a:srgbClr val="00C2CB"/>
            </a:solidFill>
            <a:prstDash val="solid"/>
          </a:ln>
        </p:spPr>
      </p:sp>
      <p:sp>
        <p:nvSpPr>
          <p:cNvPr id="16" name="Text 12"/>
          <p:cNvSpPr/>
          <p:nvPr/>
        </p:nvSpPr>
        <p:spPr>
          <a:xfrm>
            <a:off x="3383280" y="4224528"/>
            <a:ext cx="1627632" cy="164592"/>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TMDB 5000</a:t>
            </a:r>
            <a:endParaRPr lang="en-US" sz="800" dirty="0"/>
          </a:p>
        </p:txBody>
      </p:sp>
      <p:sp>
        <p:nvSpPr>
          <p:cNvPr id="17" name="Text 13"/>
          <p:cNvSpPr/>
          <p:nvPr/>
        </p:nvSpPr>
        <p:spPr>
          <a:xfrm>
            <a:off x="3383280" y="4389120"/>
            <a:ext cx="1627632" cy="146304"/>
          </a:xfrm>
          <a:prstGeom prst="rect">
            <a:avLst/>
          </a:prstGeom>
          <a:noFill/>
          <a:ln/>
        </p:spPr>
        <p:txBody>
          <a:bodyPr wrap="square" rtlCol="0" anchor="ctr"/>
          <a:lstStyle/>
          <a:p>
            <a:pPr marL="0" indent="0">
              <a:buNone/>
            </a:pPr>
            <a:r>
              <a:rPr lang="en-US" sz="700" dirty="0">
                <a:solidFill>
                  <a:srgbClr val="8888AA"/>
                </a:solidFill>
                <a:latin typeface="Calibri" pitchFamily="34" charset="0"/>
                <a:ea typeface="Calibri" pitchFamily="34" charset="-122"/>
                <a:cs typeface="Calibri" pitchFamily="34" charset="-120"/>
              </a:rPr>
              <a:t>5K films · cast, crew, genres</a:t>
            </a:r>
            <a:endParaRPr lang="en-US" sz="700" dirty="0"/>
          </a:p>
        </p:txBody>
      </p:sp>
      <p:sp>
        <p:nvSpPr>
          <p:cNvPr id="18" name="Shape 14"/>
          <p:cNvSpPr/>
          <p:nvPr/>
        </p:nvSpPr>
        <p:spPr>
          <a:xfrm>
            <a:off x="5166360" y="4224528"/>
            <a:ext cx="1783080" cy="329184"/>
          </a:xfrm>
          <a:prstGeom prst="rect">
            <a:avLst/>
          </a:prstGeom>
          <a:solidFill>
            <a:srgbClr val="1A1C35"/>
          </a:solidFill>
          <a:ln w="12700">
            <a:solidFill>
              <a:srgbClr val="E05555"/>
            </a:solidFill>
            <a:prstDash val="solid"/>
          </a:ln>
        </p:spPr>
      </p:sp>
      <p:sp>
        <p:nvSpPr>
          <p:cNvPr id="19" name="Shape 15"/>
          <p:cNvSpPr/>
          <p:nvPr/>
        </p:nvSpPr>
        <p:spPr>
          <a:xfrm>
            <a:off x="5166360" y="4224528"/>
            <a:ext cx="54864" cy="329184"/>
          </a:xfrm>
          <a:prstGeom prst="rect">
            <a:avLst/>
          </a:prstGeom>
          <a:solidFill>
            <a:srgbClr val="E05555"/>
          </a:solidFill>
          <a:ln w="12700">
            <a:solidFill>
              <a:srgbClr val="E05555"/>
            </a:solidFill>
            <a:prstDash val="solid"/>
          </a:ln>
        </p:spPr>
      </p:sp>
      <p:sp>
        <p:nvSpPr>
          <p:cNvPr id="20" name="Text 16"/>
          <p:cNvSpPr/>
          <p:nvPr/>
        </p:nvSpPr>
        <p:spPr>
          <a:xfrm>
            <a:off x="5257800" y="4224528"/>
            <a:ext cx="1627632" cy="164592"/>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Rotten Tomatoes</a:t>
            </a:r>
            <a:endParaRPr lang="en-US" sz="800" dirty="0"/>
          </a:p>
        </p:txBody>
      </p:sp>
      <p:sp>
        <p:nvSpPr>
          <p:cNvPr id="21" name="Text 17"/>
          <p:cNvSpPr/>
          <p:nvPr/>
        </p:nvSpPr>
        <p:spPr>
          <a:xfrm>
            <a:off x="5257800" y="4389120"/>
            <a:ext cx="1627632" cy="146304"/>
          </a:xfrm>
          <a:prstGeom prst="rect">
            <a:avLst/>
          </a:prstGeom>
          <a:noFill/>
          <a:ln/>
        </p:spPr>
        <p:txBody>
          <a:bodyPr wrap="square" rtlCol="0" anchor="ctr"/>
          <a:lstStyle/>
          <a:p>
            <a:pPr marL="0" indent="0">
              <a:buNone/>
            </a:pPr>
            <a:r>
              <a:rPr lang="en-US" sz="700" dirty="0">
                <a:solidFill>
                  <a:srgbClr val="8888AA"/>
                </a:solidFill>
                <a:latin typeface="Calibri" pitchFamily="34" charset="0"/>
                <a:ea typeface="Calibri" pitchFamily="34" charset="-122"/>
                <a:cs typeface="Calibri" pitchFamily="34" charset="-120"/>
              </a:rPr>
              <a:t>17K films · critic + audience</a:t>
            </a:r>
            <a:endParaRPr lang="en-US" sz="700" dirty="0"/>
          </a:p>
        </p:txBody>
      </p:sp>
      <p:sp>
        <p:nvSpPr>
          <p:cNvPr id="22" name="Shape 18"/>
          <p:cNvSpPr/>
          <p:nvPr/>
        </p:nvSpPr>
        <p:spPr>
          <a:xfrm>
            <a:off x="7040880" y="4224528"/>
            <a:ext cx="1783080" cy="329184"/>
          </a:xfrm>
          <a:prstGeom prst="rect">
            <a:avLst/>
          </a:prstGeom>
          <a:solidFill>
            <a:srgbClr val="1A1C35"/>
          </a:solidFill>
          <a:ln w="12700">
            <a:solidFill>
              <a:srgbClr val="F5C518"/>
            </a:solidFill>
            <a:prstDash val="solid"/>
          </a:ln>
        </p:spPr>
      </p:sp>
      <p:sp>
        <p:nvSpPr>
          <p:cNvPr id="23" name="Shape 19"/>
          <p:cNvSpPr/>
          <p:nvPr/>
        </p:nvSpPr>
        <p:spPr>
          <a:xfrm>
            <a:off x="7040880" y="4224528"/>
            <a:ext cx="54864" cy="329184"/>
          </a:xfrm>
          <a:prstGeom prst="rect">
            <a:avLst/>
          </a:prstGeom>
          <a:solidFill>
            <a:srgbClr val="F5C518"/>
          </a:solidFill>
          <a:ln w="12700">
            <a:solidFill>
              <a:srgbClr val="F5C518"/>
            </a:solidFill>
            <a:prstDash val="solid"/>
          </a:ln>
        </p:spPr>
      </p:sp>
      <p:sp>
        <p:nvSpPr>
          <p:cNvPr id="24" name="Text 20"/>
          <p:cNvSpPr/>
          <p:nvPr/>
        </p:nvSpPr>
        <p:spPr>
          <a:xfrm>
            <a:off x="7132320" y="4224528"/>
            <a:ext cx="1627632" cy="164592"/>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IMDb Dataset</a:t>
            </a:r>
            <a:endParaRPr lang="en-US" sz="800" dirty="0"/>
          </a:p>
        </p:txBody>
      </p:sp>
      <p:sp>
        <p:nvSpPr>
          <p:cNvPr id="25" name="Text 21"/>
          <p:cNvSpPr/>
          <p:nvPr/>
        </p:nvSpPr>
        <p:spPr>
          <a:xfrm>
            <a:off x="7132320" y="4389120"/>
            <a:ext cx="1627632" cy="146304"/>
          </a:xfrm>
          <a:prstGeom prst="rect">
            <a:avLst/>
          </a:prstGeom>
          <a:noFill/>
          <a:ln/>
        </p:spPr>
        <p:txBody>
          <a:bodyPr wrap="square" rtlCol="0" anchor="ctr"/>
          <a:lstStyle/>
          <a:p>
            <a:pPr marL="0" indent="0">
              <a:buNone/>
            </a:pPr>
            <a:r>
              <a:rPr lang="en-US" sz="700" dirty="0">
                <a:solidFill>
                  <a:srgbClr val="8888AA"/>
                </a:solidFill>
                <a:latin typeface="Calibri" pitchFamily="34" charset="0"/>
                <a:ea typeface="Calibri" pitchFamily="34" charset="-122"/>
                <a:cs typeface="Calibri" pitchFamily="34" charset="-120"/>
              </a:rPr>
              <a:t>Broad ratings + vote counts</a:t>
            </a:r>
            <a:endParaRPr lang="en-US" sz="700" dirty="0"/>
          </a:p>
        </p:txBody>
      </p:sp>
      <p:sp>
        <p:nvSpPr>
          <p:cNvPr id="26" name="Text 22"/>
          <p:cNvSpPr/>
          <p:nvPr/>
        </p:nvSpPr>
        <p:spPr>
          <a:xfrm>
            <a:off x="365760" y="4645152"/>
            <a:ext cx="8412480" cy="164592"/>
          </a:xfrm>
          <a:prstGeom prst="rect">
            <a:avLst/>
          </a:prstGeom>
          <a:noFill/>
          <a:ln/>
        </p:spPr>
        <p:txBody>
          <a:bodyPr wrap="square" rtlCol="0" anchor="ctr"/>
          <a:lstStyle/>
          <a:p>
            <a:pPr marL="0" indent="0">
              <a:buNone/>
            </a:pPr>
            <a:r>
              <a:rPr lang="en-US" sz="700" i="1" dirty="0">
                <a:solidFill>
                  <a:srgbClr val="8888AA"/>
                </a:solidFill>
                <a:latin typeface="Calibri" pitchFamily="34" charset="0"/>
                <a:ea typeface="Calibri" pitchFamily="34" charset="-122"/>
                <a:cs typeface="Calibri" pitchFamily="34" charset="-120"/>
              </a:rPr>
              <a:t>Sources: Statista · The Numbers · Deadline · FilmDB — 2024</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7548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Meet the Team</a:t>
            </a:r>
            <a:endParaRPr lang="en-US" sz="2800" dirty="0"/>
          </a:p>
        </p:txBody>
      </p:sp>
      <p:sp>
        <p:nvSpPr>
          <p:cNvPr id="3" name="Shape 1"/>
          <p:cNvSpPr/>
          <p:nvPr/>
        </p:nvSpPr>
        <p:spPr>
          <a:xfrm>
            <a:off x="457200" y="758952"/>
            <a:ext cx="822960" cy="45720"/>
          </a:xfrm>
          <a:prstGeom prst="rect">
            <a:avLst/>
          </a:prstGeom>
          <a:solidFill>
            <a:srgbClr val="F5C518"/>
          </a:solidFill>
          <a:ln w="12700">
            <a:solidFill>
              <a:srgbClr val="F5C518"/>
            </a:solidFill>
            <a:prstDash val="solid"/>
          </a:ln>
        </p:spPr>
      </p:sp>
      <p:sp>
        <p:nvSpPr>
          <p:cNvPr id="4" name="Text 2"/>
          <p:cNvSpPr/>
          <p:nvPr/>
        </p:nvSpPr>
        <p:spPr>
          <a:xfrm>
            <a:off x="457200" y="850392"/>
            <a:ext cx="8229600" cy="256032"/>
          </a:xfrm>
          <a:prstGeom prst="rect">
            <a:avLst/>
          </a:prstGeom>
          <a:noFill/>
          <a:ln/>
        </p:spPr>
        <p:txBody>
          <a:bodyPr wrap="square" rtlCol="0" anchor="ctr"/>
          <a:lstStyle/>
          <a:p>
            <a:pPr marL="0" indent="0">
              <a:buNone/>
            </a:pPr>
            <a:r>
              <a:rPr lang="en-US" sz="1100" i="1" dirty="0">
                <a:solidFill>
                  <a:srgbClr val="8888AA"/>
                </a:solidFill>
                <a:latin typeface="Calibri" pitchFamily="34" charset="0"/>
                <a:ea typeface="Calibri" pitchFamily="34" charset="-122"/>
                <a:cs typeface="Calibri" pitchFamily="34" charset="-120"/>
              </a:rPr>
              <a:t>Data Avengers  •  Data Science for Business</a:t>
            </a:r>
            <a:endParaRPr lang="en-US" sz="1100" dirty="0"/>
          </a:p>
        </p:txBody>
      </p:sp>
      <p:sp>
        <p:nvSpPr>
          <p:cNvPr id="5" name="Shape 3"/>
          <p:cNvSpPr/>
          <p:nvPr/>
        </p:nvSpPr>
        <p:spPr>
          <a:xfrm>
            <a:off x="274320" y="1207008"/>
            <a:ext cx="2011680" cy="3566160"/>
          </a:xfrm>
          <a:prstGeom prst="rect">
            <a:avLst/>
          </a:prstGeom>
          <a:solidFill>
            <a:srgbClr val="1A1C35"/>
          </a:solidFill>
          <a:ln w="19050">
            <a:solidFill>
              <a:srgbClr val="4A90D9"/>
            </a:solidFill>
            <a:prstDash val="solid"/>
          </a:ln>
          <a:effectLst>
            <a:outerShdw blurRad="101600" dist="38100" dir="8100000" algn="bl" rotWithShape="0">
              <a:srgbClr val="000000">
                <a:alpha val="30000"/>
              </a:srgbClr>
            </a:outerShdw>
          </a:effectLst>
        </p:spPr>
      </p:sp>
      <p:sp>
        <p:nvSpPr>
          <p:cNvPr id="6" name="Shape 4"/>
          <p:cNvSpPr/>
          <p:nvPr/>
        </p:nvSpPr>
        <p:spPr>
          <a:xfrm>
            <a:off x="274320" y="1207008"/>
            <a:ext cx="2011680" cy="64008"/>
          </a:xfrm>
          <a:prstGeom prst="rect">
            <a:avLst/>
          </a:prstGeom>
          <a:solidFill>
            <a:srgbClr val="4A90D9"/>
          </a:solidFill>
          <a:ln w="12700">
            <a:solidFill>
              <a:srgbClr val="4A90D9"/>
            </a:solidFill>
            <a:prstDash val="solid"/>
          </a:ln>
        </p:spPr>
      </p:sp>
      <p:sp>
        <p:nvSpPr>
          <p:cNvPr id="7" name="Shape 5"/>
          <p:cNvSpPr/>
          <p:nvPr/>
        </p:nvSpPr>
        <p:spPr>
          <a:xfrm>
            <a:off x="804672" y="1335024"/>
            <a:ext cx="950976" cy="950976"/>
          </a:xfrm>
          <a:prstGeom prst="ellipse">
            <a:avLst/>
          </a:prstGeom>
          <a:solidFill>
            <a:srgbClr val="4A90D9">
              <a:alpha val="20000"/>
            </a:srgbClr>
          </a:solidFill>
          <a:ln w="25400">
            <a:solidFill>
              <a:srgbClr val="4A90D9"/>
            </a:solidFill>
            <a:prstDash val="solid"/>
          </a:ln>
        </p:spPr>
      </p:sp>
      <p:sp>
        <p:nvSpPr>
          <p:cNvPr id="8" name="Text 6"/>
          <p:cNvSpPr/>
          <p:nvPr/>
        </p:nvSpPr>
        <p:spPr>
          <a:xfrm>
            <a:off x="804672" y="1335024"/>
            <a:ext cx="950976" cy="950976"/>
          </a:xfrm>
          <a:prstGeom prst="rect">
            <a:avLst/>
          </a:prstGeom>
          <a:noFill/>
          <a:ln/>
        </p:spPr>
        <p:txBody>
          <a:bodyPr wrap="square" rtlCol="0" anchor="ctr"/>
          <a:lstStyle/>
          <a:p>
            <a:pPr marL="0" indent="0" algn="ctr">
              <a:buNone/>
            </a:pPr>
            <a:r>
              <a:rPr lang="en-US" sz="2600" b="1" dirty="0">
                <a:solidFill>
                  <a:srgbClr val="4A90D9"/>
                </a:solidFill>
                <a:latin typeface="Calibri" pitchFamily="34" charset="0"/>
                <a:ea typeface="Calibri" pitchFamily="34" charset="-122"/>
                <a:cs typeface="Calibri" pitchFamily="34" charset="-120"/>
              </a:rPr>
              <a:t>AK</a:t>
            </a:r>
            <a:endParaRPr lang="en-US" sz="2600" dirty="0"/>
          </a:p>
        </p:txBody>
      </p:sp>
      <p:sp>
        <p:nvSpPr>
          <p:cNvPr id="9" name="Text 7"/>
          <p:cNvSpPr/>
          <p:nvPr/>
        </p:nvSpPr>
        <p:spPr>
          <a:xfrm>
            <a:off x="365760" y="2359152"/>
            <a:ext cx="182880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Abdulhadi Kirkici</a:t>
            </a:r>
            <a:endParaRPr lang="en-US" sz="1100" dirty="0"/>
          </a:p>
        </p:txBody>
      </p:sp>
      <p:sp>
        <p:nvSpPr>
          <p:cNvPr id="10" name="Shape 8"/>
          <p:cNvSpPr/>
          <p:nvPr/>
        </p:nvSpPr>
        <p:spPr>
          <a:xfrm>
            <a:off x="411480" y="2743200"/>
            <a:ext cx="1737360" cy="274320"/>
          </a:xfrm>
          <a:prstGeom prst="rect">
            <a:avLst/>
          </a:prstGeom>
          <a:solidFill>
            <a:srgbClr val="4A90D9">
              <a:alpha val="22000"/>
            </a:srgbClr>
          </a:solidFill>
          <a:ln w="10160">
            <a:solidFill>
              <a:srgbClr val="4A90D9"/>
            </a:solidFill>
            <a:prstDash val="solid"/>
          </a:ln>
        </p:spPr>
      </p:sp>
      <p:sp>
        <p:nvSpPr>
          <p:cNvPr id="11" name="Text 9"/>
          <p:cNvSpPr/>
          <p:nvPr/>
        </p:nvSpPr>
        <p:spPr>
          <a:xfrm>
            <a:off x="411480" y="2743200"/>
            <a:ext cx="1737360" cy="274320"/>
          </a:xfrm>
          <a:prstGeom prst="rect">
            <a:avLst/>
          </a:prstGeom>
          <a:noFill/>
          <a:ln/>
        </p:spPr>
        <p:txBody>
          <a:bodyPr wrap="square" rtlCol="0" anchor="ctr"/>
          <a:lstStyle/>
          <a:p>
            <a:pPr marL="0" indent="0" algn="ctr">
              <a:buNone/>
            </a:pPr>
            <a:r>
              <a:rPr lang="en-US" sz="850" b="1" dirty="0">
                <a:solidFill>
                  <a:srgbClr val="4A90D9"/>
                </a:solidFill>
                <a:latin typeface="Calibri" pitchFamily="34" charset="0"/>
                <a:ea typeface="Calibri" pitchFamily="34" charset="-122"/>
                <a:cs typeface="Calibri" pitchFamily="34" charset="-120"/>
              </a:rPr>
              <a:t>Data Engineering Lead</a:t>
            </a:r>
            <a:endParaRPr lang="en-US" sz="850" dirty="0"/>
          </a:p>
        </p:txBody>
      </p:sp>
      <p:sp>
        <p:nvSpPr>
          <p:cNvPr id="12" name="Text 10"/>
          <p:cNvSpPr/>
          <p:nvPr/>
        </p:nvSpPr>
        <p:spPr>
          <a:xfrm>
            <a:off x="365760" y="3090672"/>
            <a:ext cx="1828800" cy="228600"/>
          </a:xfrm>
          <a:prstGeom prst="rect">
            <a:avLst/>
          </a:prstGeom>
          <a:noFill/>
          <a:ln/>
        </p:spPr>
        <p:txBody>
          <a:bodyPr wrap="square" rtlCol="0" anchor="ctr"/>
          <a:lstStyle/>
          <a:p>
            <a:pPr marL="0" indent="0" algn="ctr">
              <a:buNone/>
            </a:pPr>
            <a:r>
              <a:rPr lang="en-US" sz="850" b="1" dirty="0">
                <a:solidFill>
                  <a:srgbClr val="F5C518"/>
                </a:solidFill>
                <a:latin typeface="Calibri" pitchFamily="34" charset="0"/>
                <a:ea typeface="Calibri" pitchFamily="34" charset="-122"/>
                <a:cs typeface="Calibri" pitchFamily="34" charset="-120"/>
              </a:rPr>
              <a:t>★  Pipeline &amp; Infra</a:t>
            </a:r>
            <a:endParaRPr lang="en-US" sz="850" dirty="0"/>
          </a:p>
        </p:txBody>
      </p:sp>
      <p:sp>
        <p:nvSpPr>
          <p:cNvPr id="13" name="Shape 11"/>
          <p:cNvSpPr/>
          <p:nvPr/>
        </p:nvSpPr>
        <p:spPr>
          <a:xfrm>
            <a:off x="438912" y="3364992"/>
            <a:ext cx="1682496" cy="18288"/>
          </a:xfrm>
          <a:prstGeom prst="rect">
            <a:avLst/>
          </a:prstGeom>
          <a:solidFill>
            <a:srgbClr val="4A90D9">
              <a:alpha val="45000"/>
            </a:srgbClr>
          </a:solidFill>
          <a:ln w="12700">
            <a:solidFill>
              <a:srgbClr val="4A90D9"/>
            </a:solidFill>
            <a:prstDash val="solid"/>
          </a:ln>
        </p:spPr>
      </p:sp>
      <p:sp>
        <p:nvSpPr>
          <p:cNvPr id="14" name="Text 12"/>
          <p:cNvSpPr/>
          <p:nvPr/>
        </p:nvSpPr>
        <p:spPr>
          <a:xfrm>
            <a:off x="402336" y="3438144"/>
            <a:ext cx="1773936" cy="1188720"/>
          </a:xfrm>
          <a:prstGeom prst="rect">
            <a:avLst/>
          </a:prstGeom>
          <a:noFill/>
          <a:ln/>
        </p:spPr>
        <p:txBody>
          <a:bodyPr wrap="square" rtlCol="0" anchor="t"/>
          <a:lstStyle/>
          <a:p>
            <a:pPr marL="0" indent="0" algn="ctr">
              <a:buNone/>
            </a:pPr>
            <a:r>
              <a:rPr lang="en-US" sz="900" dirty="0">
                <a:solidFill>
                  <a:srgbClr val="8888AA"/>
                </a:solidFill>
                <a:latin typeface="Calibri" pitchFamily="34" charset="0"/>
                <a:ea typeface="Calibri" pitchFamily="34" charset="-122"/>
                <a:cs typeface="Calibri" pitchFamily="34" charset="-120"/>
              </a:rPr>
              <a:t>Owns the technical backbone — from data ingestion to GitHub infrastructure.</a:t>
            </a:r>
            <a:endParaRPr lang="en-US" sz="900" dirty="0"/>
          </a:p>
        </p:txBody>
      </p:sp>
      <p:sp>
        <p:nvSpPr>
          <p:cNvPr id="15" name="Shape 13"/>
          <p:cNvSpPr/>
          <p:nvPr/>
        </p:nvSpPr>
        <p:spPr>
          <a:xfrm>
            <a:off x="2423160" y="1207008"/>
            <a:ext cx="2011680" cy="3566160"/>
          </a:xfrm>
          <a:prstGeom prst="rect">
            <a:avLst/>
          </a:prstGeom>
          <a:solidFill>
            <a:srgbClr val="1A1C35"/>
          </a:solidFill>
          <a:ln w="19050">
            <a:solidFill>
              <a:srgbClr val="00C2CB"/>
            </a:solidFill>
            <a:prstDash val="solid"/>
          </a:ln>
          <a:effectLst>
            <a:outerShdw blurRad="101600" dist="38100" dir="8100000" algn="bl" rotWithShape="0">
              <a:srgbClr val="000000">
                <a:alpha val="30000"/>
              </a:srgbClr>
            </a:outerShdw>
          </a:effectLst>
        </p:spPr>
      </p:sp>
      <p:sp>
        <p:nvSpPr>
          <p:cNvPr id="16" name="Shape 14"/>
          <p:cNvSpPr/>
          <p:nvPr/>
        </p:nvSpPr>
        <p:spPr>
          <a:xfrm>
            <a:off x="2423160" y="1207008"/>
            <a:ext cx="2011680" cy="64008"/>
          </a:xfrm>
          <a:prstGeom prst="rect">
            <a:avLst/>
          </a:prstGeom>
          <a:solidFill>
            <a:srgbClr val="00C2CB"/>
          </a:solidFill>
          <a:ln w="12700">
            <a:solidFill>
              <a:srgbClr val="00C2CB"/>
            </a:solidFill>
            <a:prstDash val="solid"/>
          </a:ln>
        </p:spPr>
      </p:sp>
      <p:sp>
        <p:nvSpPr>
          <p:cNvPr id="17" name="Shape 15"/>
          <p:cNvSpPr/>
          <p:nvPr/>
        </p:nvSpPr>
        <p:spPr>
          <a:xfrm>
            <a:off x="2953512" y="1335024"/>
            <a:ext cx="950976" cy="950976"/>
          </a:xfrm>
          <a:prstGeom prst="ellipse">
            <a:avLst/>
          </a:prstGeom>
          <a:solidFill>
            <a:srgbClr val="00C2CB">
              <a:alpha val="20000"/>
            </a:srgbClr>
          </a:solidFill>
          <a:ln w="25400">
            <a:solidFill>
              <a:srgbClr val="00C2CB"/>
            </a:solidFill>
            <a:prstDash val="solid"/>
          </a:ln>
        </p:spPr>
      </p:sp>
      <p:sp>
        <p:nvSpPr>
          <p:cNvPr id="18" name="Text 16"/>
          <p:cNvSpPr/>
          <p:nvPr/>
        </p:nvSpPr>
        <p:spPr>
          <a:xfrm>
            <a:off x="2953512" y="1335024"/>
            <a:ext cx="950976" cy="950976"/>
          </a:xfrm>
          <a:prstGeom prst="rect">
            <a:avLst/>
          </a:prstGeom>
          <a:noFill/>
          <a:ln/>
        </p:spPr>
        <p:txBody>
          <a:bodyPr wrap="square" rtlCol="0" anchor="ctr"/>
          <a:lstStyle/>
          <a:p>
            <a:pPr marL="0" indent="0" algn="ctr">
              <a:buNone/>
            </a:pPr>
            <a:r>
              <a:rPr lang="en-US" sz="2600" b="1" dirty="0">
                <a:solidFill>
                  <a:srgbClr val="00C2CB"/>
                </a:solidFill>
                <a:latin typeface="Calibri" pitchFamily="34" charset="0"/>
                <a:ea typeface="Calibri" pitchFamily="34" charset="-122"/>
                <a:cs typeface="Calibri" pitchFamily="34" charset="-120"/>
              </a:rPr>
              <a:t>FR</a:t>
            </a:r>
            <a:endParaRPr lang="en-US" sz="2600" dirty="0"/>
          </a:p>
        </p:txBody>
      </p:sp>
      <p:sp>
        <p:nvSpPr>
          <p:cNvPr id="19" name="Text 17"/>
          <p:cNvSpPr/>
          <p:nvPr/>
        </p:nvSpPr>
        <p:spPr>
          <a:xfrm>
            <a:off x="2514600" y="2359152"/>
            <a:ext cx="182880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Fatih Ridvan Kizik</a:t>
            </a:r>
            <a:endParaRPr lang="en-US" sz="1100" dirty="0"/>
          </a:p>
        </p:txBody>
      </p:sp>
      <p:sp>
        <p:nvSpPr>
          <p:cNvPr id="20" name="Shape 18"/>
          <p:cNvSpPr/>
          <p:nvPr/>
        </p:nvSpPr>
        <p:spPr>
          <a:xfrm>
            <a:off x="2560320" y="2743200"/>
            <a:ext cx="1737360" cy="274320"/>
          </a:xfrm>
          <a:prstGeom prst="rect">
            <a:avLst/>
          </a:prstGeom>
          <a:solidFill>
            <a:srgbClr val="00C2CB">
              <a:alpha val="22000"/>
            </a:srgbClr>
          </a:solidFill>
          <a:ln w="10160">
            <a:solidFill>
              <a:srgbClr val="00C2CB"/>
            </a:solidFill>
            <a:prstDash val="solid"/>
          </a:ln>
        </p:spPr>
      </p:sp>
      <p:sp>
        <p:nvSpPr>
          <p:cNvPr id="21" name="Text 19"/>
          <p:cNvSpPr/>
          <p:nvPr/>
        </p:nvSpPr>
        <p:spPr>
          <a:xfrm>
            <a:off x="2560320" y="2743200"/>
            <a:ext cx="1737360" cy="274320"/>
          </a:xfrm>
          <a:prstGeom prst="rect">
            <a:avLst/>
          </a:prstGeom>
          <a:noFill/>
          <a:ln/>
        </p:spPr>
        <p:txBody>
          <a:bodyPr wrap="square" rtlCol="0" anchor="ctr"/>
          <a:lstStyle/>
          <a:p>
            <a:pPr marL="0" indent="0" algn="ctr">
              <a:buNone/>
            </a:pPr>
            <a:r>
              <a:rPr lang="en-US" sz="850" b="1" dirty="0">
                <a:solidFill>
                  <a:srgbClr val="00C2CB"/>
                </a:solidFill>
                <a:latin typeface="Calibri" pitchFamily="34" charset="0"/>
                <a:ea typeface="Calibri" pitchFamily="34" charset="-122"/>
                <a:cs typeface="Calibri" pitchFamily="34" charset="-120"/>
              </a:rPr>
              <a:t>Analysis and Modeling</a:t>
            </a:r>
            <a:endParaRPr lang="en-US" sz="850" dirty="0"/>
          </a:p>
        </p:txBody>
      </p:sp>
      <p:sp>
        <p:nvSpPr>
          <p:cNvPr id="22" name="Text 20"/>
          <p:cNvSpPr/>
          <p:nvPr/>
        </p:nvSpPr>
        <p:spPr>
          <a:xfrm>
            <a:off x="2514600" y="3090672"/>
            <a:ext cx="1828800" cy="228600"/>
          </a:xfrm>
          <a:prstGeom prst="rect">
            <a:avLst/>
          </a:prstGeom>
          <a:noFill/>
          <a:ln/>
        </p:spPr>
        <p:txBody>
          <a:bodyPr wrap="square" rtlCol="0" anchor="ctr"/>
          <a:lstStyle/>
          <a:p>
            <a:pPr marL="0" indent="0" algn="ctr">
              <a:buNone/>
            </a:pPr>
            <a:r>
              <a:rPr lang="en-US" sz="850" b="1" dirty="0">
                <a:solidFill>
                  <a:srgbClr val="F5C518"/>
                </a:solidFill>
                <a:latin typeface="Calibri" pitchFamily="34" charset="0"/>
                <a:ea typeface="Calibri" pitchFamily="34" charset="-122"/>
                <a:cs typeface="Calibri" pitchFamily="34" charset="-120"/>
              </a:rPr>
              <a:t>★  Stats and ML</a:t>
            </a:r>
            <a:endParaRPr lang="en-US" sz="850" dirty="0"/>
          </a:p>
        </p:txBody>
      </p:sp>
      <p:sp>
        <p:nvSpPr>
          <p:cNvPr id="23" name="Shape 21"/>
          <p:cNvSpPr/>
          <p:nvPr/>
        </p:nvSpPr>
        <p:spPr>
          <a:xfrm>
            <a:off x="2587752" y="3364992"/>
            <a:ext cx="1682496" cy="18288"/>
          </a:xfrm>
          <a:prstGeom prst="rect">
            <a:avLst/>
          </a:prstGeom>
          <a:solidFill>
            <a:srgbClr val="00C2CB">
              <a:alpha val="45000"/>
            </a:srgbClr>
          </a:solidFill>
          <a:ln w="12700">
            <a:solidFill>
              <a:srgbClr val="00C2CB"/>
            </a:solidFill>
            <a:prstDash val="solid"/>
          </a:ln>
        </p:spPr>
      </p:sp>
      <p:sp>
        <p:nvSpPr>
          <p:cNvPr id="24" name="Text 22"/>
          <p:cNvSpPr/>
          <p:nvPr/>
        </p:nvSpPr>
        <p:spPr>
          <a:xfrm>
            <a:off x="2551176" y="3438144"/>
            <a:ext cx="1773936" cy="1188720"/>
          </a:xfrm>
          <a:prstGeom prst="rect">
            <a:avLst/>
          </a:prstGeom>
          <a:noFill/>
          <a:ln/>
        </p:spPr>
        <p:txBody>
          <a:bodyPr wrap="square" rtlCol="0" anchor="t"/>
          <a:lstStyle/>
          <a:p>
            <a:pPr marL="0" indent="0" algn="ctr">
              <a:buNone/>
            </a:pPr>
            <a:r>
              <a:rPr lang="en-US" sz="900" dirty="0">
                <a:solidFill>
                  <a:srgbClr val="8888AA"/>
                </a:solidFill>
                <a:latin typeface="Calibri" pitchFamily="34" charset="0"/>
                <a:ea typeface="Calibri" pitchFamily="34" charset="-122"/>
                <a:cs typeface="Calibri" pitchFamily="34" charset="-120"/>
              </a:rPr>
              <a:t>Turns raw data into insight — statistical analysis, modeling, and EDA.</a:t>
            </a:r>
            <a:endParaRPr lang="en-US" sz="900" dirty="0"/>
          </a:p>
        </p:txBody>
      </p:sp>
      <p:sp>
        <p:nvSpPr>
          <p:cNvPr id="25" name="Shape 23"/>
          <p:cNvSpPr/>
          <p:nvPr/>
        </p:nvSpPr>
        <p:spPr>
          <a:xfrm>
            <a:off x="4572000" y="1207008"/>
            <a:ext cx="2011680" cy="3566160"/>
          </a:xfrm>
          <a:prstGeom prst="rect">
            <a:avLst/>
          </a:prstGeom>
          <a:solidFill>
            <a:srgbClr val="1A1C35"/>
          </a:solidFill>
          <a:ln w="19050">
            <a:solidFill>
              <a:srgbClr val="9B59B6"/>
            </a:solidFill>
            <a:prstDash val="solid"/>
          </a:ln>
          <a:effectLst>
            <a:outerShdw blurRad="101600" dist="38100" dir="8100000" algn="bl" rotWithShape="0">
              <a:srgbClr val="000000">
                <a:alpha val="30000"/>
              </a:srgbClr>
            </a:outerShdw>
          </a:effectLst>
        </p:spPr>
      </p:sp>
      <p:sp>
        <p:nvSpPr>
          <p:cNvPr id="26" name="Shape 24"/>
          <p:cNvSpPr/>
          <p:nvPr/>
        </p:nvSpPr>
        <p:spPr>
          <a:xfrm>
            <a:off x="4572000" y="1207008"/>
            <a:ext cx="2011680" cy="64008"/>
          </a:xfrm>
          <a:prstGeom prst="rect">
            <a:avLst/>
          </a:prstGeom>
          <a:solidFill>
            <a:srgbClr val="9B59B6"/>
          </a:solidFill>
          <a:ln w="12700">
            <a:solidFill>
              <a:srgbClr val="9B59B6"/>
            </a:solidFill>
            <a:prstDash val="solid"/>
          </a:ln>
        </p:spPr>
      </p:sp>
      <p:sp>
        <p:nvSpPr>
          <p:cNvPr id="27" name="Shape 25"/>
          <p:cNvSpPr/>
          <p:nvPr/>
        </p:nvSpPr>
        <p:spPr>
          <a:xfrm>
            <a:off x="5102352" y="1335024"/>
            <a:ext cx="950976" cy="950976"/>
          </a:xfrm>
          <a:prstGeom prst="ellipse">
            <a:avLst/>
          </a:prstGeom>
          <a:solidFill>
            <a:srgbClr val="9B59B6">
              <a:alpha val="20000"/>
            </a:srgbClr>
          </a:solidFill>
          <a:ln w="25400">
            <a:solidFill>
              <a:srgbClr val="9B59B6"/>
            </a:solidFill>
            <a:prstDash val="solid"/>
          </a:ln>
        </p:spPr>
      </p:sp>
      <p:sp>
        <p:nvSpPr>
          <p:cNvPr id="28" name="Text 26"/>
          <p:cNvSpPr/>
          <p:nvPr/>
        </p:nvSpPr>
        <p:spPr>
          <a:xfrm>
            <a:off x="5102352" y="1335024"/>
            <a:ext cx="950976" cy="950976"/>
          </a:xfrm>
          <a:prstGeom prst="rect">
            <a:avLst/>
          </a:prstGeom>
          <a:noFill/>
          <a:ln/>
        </p:spPr>
        <p:txBody>
          <a:bodyPr wrap="square" rtlCol="0" anchor="ctr"/>
          <a:lstStyle/>
          <a:p>
            <a:pPr marL="0" indent="0" algn="ctr">
              <a:buNone/>
            </a:pPr>
            <a:r>
              <a:rPr lang="en-US" sz="2600" b="1" dirty="0">
                <a:solidFill>
                  <a:srgbClr val="9B59B6"/>
                </a:solidFill>
                <a:latin typeface="Calibri" pitchFamily="34" charset="0"/>
                <a:ea typeface="Calibri" pitchFamily="34" charset="-122"/>
                <a:cs typeface="Calibri" pitchFamily="34" charset="-120"/>
              </a:rPr>
              <a:t>NK</a:t>
            </a:r>
            <a:endParaRPr lang="en-US" sz="2600" dirty="0"/>
          </a:p>
        </p:txBody>
      </p:sp>
      <p:sp>
        <p:nvSpPr>
          <p:cNvPr id="29" name="Text 27"/>
          <p:cNvSpPr/>
          <p:nvPr/>
        </p:nvSpPr>
        <p:spPr>
          <a:xfrm>
            <a:off x="4663440" y="2359152"/>
            <a:ext cx="182880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Numrah Khan</a:t>
            </a:r>
            <a:endParaRPr lang="en-US" sz="1100" dirty="0"/>
          </a:p>
        </p:txBody>
      </p:sp>
      <p:sp>
        <p:nvSpPr>
          <p:cNvPr id="30" name="Shape 28"/>
          <p:cNvSpPr/>
          <p:nvPr/>
        </p:nvSpPr>
        <p:spPr>
          <a:xfrm>
            <a:off x="4709160" y="2743200"/>
            <a:ext cx="1737360" cy="274320"/>
          </a:xfrm>
          <a:prstGeom prst="rect">
            <a:avLst/>
          </a:prstGeom>
          <a:solidFill>
            <a:srgbClr val="9B59B6">
              <a:alpha val="22000"/>
            </a:srgbClr>
          </a:solidFill>
          <a:ln w="10160">
            <a:solidFill>
              <a:srgbClr val="9B59B6"/>
            </a:solidFill>
            <a:prstDash val="solid"/>
          </a:ln>
        </p:spPr>
      </p:sp>
      <p:sp>
        <p:nvSpPr>
          <p:cNvPr id="31" name="Text 29"/>
          <p:cNvSpPr/>
          <p:nvPr/>
        </p:nvSpPr>
        <p:spPr>
          <a:xfrm>
            <a:off x="4709160" y="2743200"/>
            <a:ext cx="1737360" cy="274320"/>
          </a:xfrm>
          <a:prstGeom prst="rect">
            <a:avLst/>
          </a:prstGeom>
          <a:noFill/>
          <a:ln/>
        </p:spPr>
        <p:txBody>
          <a:bodyPr wrap="square" rtlCol="0" anchor="ctr"/>
          <a:lstStyle/>
          <a:p>
            <a:pPr marL="0" indent="0" algn="ctr">
              <a:buNone/>
            </a:pPr>
            <a:r>
              <a:rPr lang="en-US" sz="850" b="1" dirty="0">
                <a:solidFill>
                  <a:srgbClr val="9B59B6"/>
                </a:solidFill>
                <a:latin typeface="Calibri" pitchFamily="34" charset="0"/>
                <a:ea typeface="Calibri" pitchFamily="34" charset="-122"/>
                <a:cs typeface="Calibri" pitchFamily="34" charset="-120"/>
              </a:rPr>
              <a:t>Planning and Coordination</a:t>
            </a:r>
            <a:endParaRPr lang="en-US" sz="850" dirty="0"/>
          </a:p>
        </p:txBody>
      </p:sp>
      <p:sp>
        <p:nvSpPr>
          <p:cNvPr id="32" name="Text 30"/>
          <p:cNvSpPr/>
          <p:nvPr/>
        </p:nvSpPr>
        <p:spPr>
          <a:xfrm>
            <a:off x="4663440" y="3090672"/>
            <a:ext cx="1828800" cy="228600"/>
          </a:xfrm>
          <a:prstGeom prst="rect">
            <a:avLst/>
          </a:prstGeom>
          <a:noFill/>
          <a:ln/>
        </p:spPr>
        <p:txBody>
          <a:bodyPr wrap="square" rtlCol="0" anchor="ctr"/>
          <a:lstStyle/>
          <a:p>
            <a:pPr marL="0" indent="0" algn="ctr">
              <a:buNone/>
            </a:pPr>
            <a:r>
              <a:rPr lang="en-US" sz="850" b="1" dirty="0">
                <a:solidFill>
                  <a:srgbClr val="F5C518"/>
                </a:solidFill>
                <a:latin typeface="Calibri" pitchFamily="34" charset="0"/>
                <a:ea typeface="Calibri" pitchFamily="34" charset="-122"/>
                <a:cs typeface="Calibri" pitchFamily="34" charset="-120"/>
              </a:rPr>
              <a:t>★  Strategy and PM</a:t>
            </a:r>
            <a:endParaRPr lang="en-US" sz="850" dirty="0"/>
          </a:p>
        </p:txBody>
      </p:sp>
      <p:sp>
        <p:nvSpPr>
          <p:cNvPr id="33" name="Shape 31"/>
          <p:cNvSpPr/>
          <p:nvPr/>
        </p:nvSpPr>
        <p:spPr>
          <a:xfrm>
            <a:off x="4736592" y="3364992"/>
            <a:ext cx="1682496" cy="18288"/>
          </a:xfrm>
          <a:prstGeom prst="rect">
            <a:avLst/>
          </a:prstGeom>
          <a:solidFill>
            <a:srgbClr val="9B59B6">
              <a:alpha val="45000"/>
            </a:srgbClr>
          </a:solidFill>
          <a:ln w="12700">
            <a:solidFill>
              <a:srgbClr val="9B59B6"/>
            </a:solidFill>
            <a:prstDash val="solid"/>
          </a:ln>
        </p:spPr>
      </p:sp>
      <p:sp>
        <p:nvSpPr>
          <p:cNvPr id="34" name="Text 32"/>
          <p:cNvSpPr/>
          <p:nvPr/>
        </p:nvSpPr>
        <p:spPr>
          <a:xfrm>
            <a:off x="4700016" y="3438144"/>
            <a:ext cx="1773936" cy="1188720"/>
          </a:xfrm>
          <a:prstGeom prst="rect">
            <a:avLst/>
          </a:prstGeom>
          <a:noFill/>
          <a:ln/>
        </p:spPr>
        <p:txBody>
          <a:bodyPr wrap="square" rtlCol="0" anchor="t"/>
          <a:lstStyle/>
          <a:p>
            <a:pPr marL="0" indent="0" algn="ctr">
              <a:buNone/>
            </a:pPr>
            <a:r>
              <a:rPr lang="en-US" sz="900" dirty="0">
                <a:solidFill>
                  <a:srgbClr val="8888AA"/>
                </a:solidFill>
                <a:latin typeface="Calibri" pitchFamily="34" charset="0"/>
                <a:ea typeface="Calibri" pitchFamily="34" charset="-122"/>
                <a:cs typeface="Calibri" pitchFamily="34" charset="-120"/>
              </a:rPr>
              <a:t>Keeps the team on track — milestones, documentation, and project structure.</a:t>
            </a:r>
            <a:endParaRPr lang="en-US" sz="900" dirty="0"/>
          </a:p>
        </p:txBody>
      </p:sp>
      <p:sp>
        <p:nvSpPr>
          <p:cNvPr id="35" name="Shape 33"/>
          <p:cNvSpPr/>
          <p:nvPr/>
        </p:nvSpPr>
        <p:spPr>
          <a:xfrm>
            <a:off x="6720840" y="1207008"/>
            <a:ext cx="2011680" cy="3566160"/>
          </a:xfrm>
          <a:prstGeom prst="rect">
            <a:avLst/>
          </a:prstGeom>
          <a:solidFill>
            <a:srgbClr val="1A1C35"/>
          </a:solidFill>
          <a:ln w="19050">
            <a:solidFill>
              <a:srgbClr val="F5C518"/>
            </a:solidFill>
            <a:prstDash val="solid"/>
          </a:ln>
          <a:effectLst>
            <a:outerShdw blurRad="101600" dist="38100" dir="8100000" algn="bl" rotWithShape="0">
              <a:srgbClr val="000000">
                <a:alpha val="30000"/>
              </a:srgbClr>
            </a:outerShdw>
          </a:effectLst>
        </p:spPr>
      </p:sp>
      <p:sp>
        <p:nvSpPr>
          <p:cNvPr id="36" name="Shape 34"/>
          <p:cNvSpPr/>
          <p:nvPr/>
        </p:nvSpPr>
        <p:spPr>
          <a:xfrm>
            <a:off x="6720840" y="1207008"/>
            <a:ext cx="2011680" cy="64008"/>
          </a:xfrm>
          <a:prstGeom prst="rect">
            <a:avLst/>
          </a:prstGeom>
          <a:solidFill>
            <a:srgbClr val="F5C518"/>
          </a:solidFill>
          <a:ln w="12700">
            <a:solidFill>
              <a:srgbClr val="F5C518"/>
            </a:solidFill>
            <a:prstDash val="solid"/>
          </a:ln>
        </p:spPr>
      </p:sp>
      <p:sp>
        <p:nvSpPr>
          <p:cNvPr id="37" name="Shape 35"/>
          <p:cNvSpPr/>
          <p:nvPr/>
        </p:nvSpPr>
        <p:spPr>
          <a:xfrm>
            <a:off x="7251192" y="1335024"/>
            <a:ext cx="950976" cy="950976"/>
          </a:xfrm>
          <a:prstGeom prst="ellipse">
            <a:avLst/>
          </a:prstGeom>
          <a:solidFill>
            <a:srgbClr val="F5C518">
              <a:alpha val="20000"/>
            </a:srgbClr>
          </a:solidFill>
          <a:ln w="25400">
            <a:solidFill>
              <a:srgbClr val="F5C518"/>
            </a:solidFill>
            <a:prstDash val="solid"/>
          </a:ln>
        </p:spPr>
      </p:sp>
      <p:sp>
        <p:nvSpPr>
          <p:cNvPr id="38" name="Text 36"/>
          <p:cNvSpPr/>
          <p:nvPr/>
        </p:nvSpPr>
        <p:spPr>
          <a:xfrm>
            <a:off x="7251192" y="1335024"/>
            <a:ext cx="950976" cy="950976"/>
          </a:xfrm>
          <a:prstGeom prst="rect">
            <a:avLst/>
          </a:prstGeom>
          <a:noFill/>
          <a:ln/>
        </p:spPr>
        <p:txBody>
          <a:bodyPr wrap="square" rtlCol="0" anchor="ctr"/>
          <a:lstStyle/>
          <a:p>
            <a:pPr marL="0" indent="0" algn="ctr">
              <a:buNone/>
            </a:pPr>
            <a:r>
              <a:rPr lang="en-US" sz="2600" b="1" dirty="0">
                <a:solidFill>
                  <a:srgbClr val="F5C518"/>
                </a:solidFill>
                <a:latin typeface="Calibri" pitchFamily="34" charset="0"/>
                <a:ea typeface="Calibri" pitchFamily="34" charset="-122"/>
                <a:cs typeface="Calibri" pitchFamily="34" charset="-120"/>
              </a:rPr>
              <a:t>YT</a:t>
            </a:r>
            <a:endParaRPr lang="en-US" sz="2600" dirty="0"/>
          </a:p>
        </p:txBody>
      </p:sp>
      <p:sp>
        <p:nvSpPr>
          <p:cNvPr id="39" name="Text 37"/>
          <p:cNvSpPr/>
          <p:nvPr/>
        </p:nvSpPr>
        <p:spPr>
          <a:xfrm>
            <a:off x="6812280" y="2359152"/>
            <a:ext cx="182880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Yash Tiwari</a:t>
            </a:r>
            <a:endParaRPr lang="en-US" sz="1100" dirty="0"/>
          </a:p>
        </p:txBody>
      </p:sp>
      <p:sp>
        <p:nvSpPr>
          <p:cNvPr id="40" name="Shape 38"/>
          <p:cNvSpPr/>
          <p:nvPr/>
        </p:nvSpPr>
        <p:spPr>
          <a:xfrm>
            <a:off x="6858000" y="2743200"/>
            <a:ext cx="1737360" cy="274320"/>
          </a:xfrm>
          <a:prstGeom prst="rect">
            <a:avLst/>
          </a:prstGeom>
          <a:solidFill>
            <a:srgbClr val="F5C518">
              <a:alpha val="22000"/>
            </a:srgbClr>
          </a:solidFill>
          <a:ln w="10160">
            <a:solidFill>
              <a:srgbClr val="F5C518"/>
            </a:solidFill>
            <a:prstDash val="solid"/>
          </a:ln>
        </p:spPr>
      </p:sp>
      <p:sp>
        <p:nvSpPr>
          <p:cNvPr id="41" name="Text 39"/>
          <p:cNvSpPr/>
          <p:nvPr/>
        </p:nvSpPr>
        <p:spPr>
          <a:xfrm>
            <a:off x="6858000" y="2743200"/>
            <a:ext cx="1737360" cy="274320"/>
          </a:xfrm>
          <a:prstGeom prst="rect">
            <a:avLst/>
          </a:prstGeom>
          <a:noFill/>
          <a:ln/>
        </p:spPr>
        <p:txBody>
          <a:bodyPr wrap="square" rtlCol="0" anchor="ctr"/>
          <a:lstStyle/>
          <a:p>
            <a:pPr marL="0" indent="0" algn="ctr">
              <a:buNone/>
            </a:pPr>
            <a:r>
              <a:rPr lang="en-US" sz="850" b="1" dirty="0">
                <a:solidFill>
                  <a:srgbClr val="F5C518"/>
                </a:solidFill>
                <a:latin typeface="Calibri" pitchFamily="34" charset="0"/>
                <a:ea typeface="Calibri" pitchFamily="34" charset="-122"/>
                <a:cs typeface="Calibri" pitchFamily="34" charset="-120"/>
              </a:rPr>
              <a:t>Data Sourcing and Reporting</a:t>
            </a:r>
            <a:endParaRPr lang="en-US" sz="850" dirty="0"/>
          </a:p>
        </p:txBody>
      </p:sp>
      <p:sp>
        <p:nvSpPr>
          <p:cNvPr id="42" name="Text 40"/>
          <p:cNvSpPr/>
          <p:nvPr/>
        </p:nvSpPr>
        <p:spPr>
          <a:xfrm>
            <a:off x="6812280" y="3090672"/>
            <a:ext cx="1828800" cy="228600"/>
          </a:xfrm>
          <a:prstGeom prst="rect">
            <a:avLst/>
          </a:prstGeom>
          <a:noFill/>
          <a:ln/>
        </p:spPr>
        <p:txBody>
          <a:bodyPr wrap="square" rtlCol="0" anchor="ctr"/>
          <a:lstStyle/>
          <a:p>
            <a:pPr marL="0" indent="0" algn="ctr">
              <a:buNone/>
            </a:pPr>
            <a:r>
              <a:rPr lang="en-US" sz="850" b="1" dirty="0">
                <a:solidFill>
                  <a:srgbClr val="F5C518"/>
                </a:solidFill>
                <a:latin typeface="Calibri" pitchFamily="34" charset="0"/>
                <a:ea typeface="Calibri" pitchFamily="34" charset="-122"/>
                <a:cs typeface="Calibri" pitchFamily="34" charset="-120"/>
              </a:rPr>
              <a:t>★  NLP and Reporting</a:t>
            </a:r>
            <a:endParaRPr lang="en-US" sz="850" dirty="0"/>
          </a:p>
        </p:txBody>
      </p:sp>
      <p:sp>
        <p:nvSpPr>
          <p:cNvPr id="43" name="Shape 41"/>
          <p:cNvSpPr/>
          <p:nvPr/>
        </p:nvSpPr>
        <p:spPr>
          <a:xfrm>
            <a:off x="6885432" y="3364992"/>
            <a:ext cx="1682496" cy="18288"/>
          </a:xfrm>
          <a:prstGeom prst="rect">
            <a:avLst/>
          </a:prstGeom>
          <a:solidFill>
            <a:srgbClr val="F5C518">
              <a:alpha val="45000"/>
            </a:srgbClr>
          </a:solidFill>
          <a:ln w="12700">
            <a:solidFill>
              <a:srgbClr val="F5C518"/>
            </a:solidFill>
            <a:prstDash val="solid"/>
          </a:ln>
        </p:spPr>
      </p:sp>
      <p:sp>
        <p:nvSpPr>
          <p:cNvPr id="44" name="Text 42"/>
          <p:cNvSpPr/>
          <p:nvPr/>
        </p:nvSpPr>
        <p:spPr>
          <a:xfrm>
            <a:off x="6848856" y="3438144"/>
            <a:ext cx="1773936" cy="1188720"/>
          </a:xfrm>
          <a:prstGeom prst="rect">
            <a:avLst/>
          </a:prstGeom>
          <a:noFill/>
          <a:ln/>
        </p:spPr>
        <p:txBody>
          <a:bodyPr wrap="square" rtlCol="0" anchor="t"/>
          <a:lstStyle/>
          <a:p>
            <a:pPr marL="0" indent="0" algn="ctr">
              <a:buNone/>
            </a:pPr>
            <a:r>
              <a:rPr lang="en-US" sz="900" dirty="0">
                <a:solidFill>
                  <a:srgbClr val="8888AA"/>
                </a:solidFill>
                <a:latin typeface="Calibri" pitchFamily="34" charset="0"/>
                <a:ea typeface="Calibri" pitchFamily="34" charset="-122"/>
                <a:cs typeface="Calibri" pitchFamily="34" charset="-120"/>
              </a:rPr>
              <a:t>Bridges data and delivery — sourcing, validation, reporting, and presentation.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The Question We're Investigating</a:t>
            </a:r>
            <a:endParaRPr lang="en-US" sz="2800" dirty="0"/>
          </a:p>
        </p:txBody>
      </p:sp>
      <p:sp>
        <p:nvSpPr>
          <p:cNvPr id="3" name="Shape 1"/>
          <p:cNvSpPr/>
          <p:nvPr/>
        </p:nvSpPr>
        <p:spPr>
          <a:xfrm>
            <a:off x="457200" y="804672"/>
            <a:ext cx="1097280" cy="45720"/>
          </a:xfrm>
          <a:prstGeom prst="rect">
            <a:avLst/>
          </a:prstGeom>
          <a:solidFill>
            <a:srgbClr val="F5C518"/>
          </a:solidFill>
          <a:ln w="12700">
            <a:solidFill>
              <a:srgbClr val="F5C518"/>
            </a:solidFill>
            <a:prstDash val="solid"/>
          </a:ln>
        </p:spPr>
      </p:sp>
      <p:sp>
        <p:nvSpPr>
          <p:cNvPr id="4" name="Shape 2"/>
          <p:cNvSpPr/>
          <p:nvPr/>
        </p:nvSpPr>
        <p:spPr>
          <a:xfrm>
            <a:off x="457200" y="1005840"/>
            <a:ext cx="8229600" cy="1371600"/>
          </a:xfrm>
          <a:prstGeom prst="rect">
            <a:avLst/>
          </a:prstGeom>
          <a:solidFill>
            <a:srgbClr val="1A1C35"/>
          </a:solidFill>
          <a:ln w="19050">
            <a:solidFill>
              <a:srgbClr val="F5C518"/>
            </a:solidFill>
            <a:prstDash val="solid"/>
          </a:ln>
          <a:effectLst>
            <a:outerShdw blurRad="101600" dist="38100" dir="8100000" algn="bl" rotWithShape="0">
              <a:srgbClr val="000000">
                <a:alpha val="30000"/>
              </a:srgbClr>
            </a:outerShdw>
          </a:effectLst>
        </p:spPr>
      </p:sp>
      <p:sp>
        <p:nvSpPr>
          <p:cNvPr id="5" name="Text 3"/>
          <p:cNvSpPr/>
          <p:nvPr/>
        </p:nvSpPr>
        <p:spPr>
          <a:xfrm>
            <a:off x="640080" y="1143000"/>
            <a:ext cx="7863840" cy="548640"/>
          </a:xfrm>
          <a:prstGeom prst="rect">
            <a:avLst/>
          </a:prstGeom>
          <a:noFill/>
          <a:ln/>
        </p:spPr>
        <p:txBody>
          <a:bodyPr wrap="square" rtlCol="0" anchor="ctr"/>
          <a:lstStyle/>
          <a:p>
            <a:pPr marL="0" indent="0" algn="ctr">
              <a:buNone/>
            </a:pPr>
            <a:r>
              <a:rPr lang="en-US" sz="2200" b="1" dirty="0">
                <a:solidFill>
                  <a:srgbClr val="F5C518"/>
                </a:solidFill>
                <a:latin typeface="Calibri" pitchFamily="34" charset="0"/>
                <a:ea typeface="Calibri" pitchFamily="34" charset="-122"/>
                <a:cs typeface="Calibri" pitchFamily="34" charset="-120"/>
              </a:rPr>
              <a:t>Do movie studios actually get what they pay for?</a:t>
            </a:r>
            <a:endParaRPr lang="en-US" sz="2200" dirty="0"/>
          </a:p>
        </p:txBody>
      </p:sp>
      <p:sp>
        <p:nvSpPr>
          <p:cNvPr id="6" name="Text 4"/>
          <p:cNvSpPr/>
          <p:nvPr/>
        </p:nvSpPr>
        <p:spPr>
          <a:xfrm>
            <a:off x="640080" y="1691640"/>
            <a:ext cx="7863840" cy="548640"/>
          </a:xfrm>
          <a:prstGeom prst="rect">
            <a:avLst/>
          </a:prstGeom>
          <a:noFill/>
          <a:ln/>
        </p:spPr>
        <p:txBody>
          <a:bodyPr wrap="square" rtlCol="0" anchor="ctr"/>
          <a:lstStyle/>
          <a:p>
            <a:pPr marL="0" indent="0" algn="ctr">
              <a:buNone/>
            </a:pPr>
            <a:r>
              <a:rPr lang="en-US" sz="1300" dirty="0">
                <a:solidFill>
                  <a:srgbClr val="E8E8F0"/>
                </a:solidFill>
                <a:latin typeface="Calibri" pitchFamily="34" charset="0"/>
                <a:ea typeface="Calibri" pitchFamily="34" charset="-122"/>
                <a:cs typeface="Calibri" pitchFamily="34" charset="-120"/>
              </a:rPr>
              <a:t>We explore whether production budget reliably predicts box office revenue,</a:t>
            </a:r>
            <a:endParaRPr lang="en-US" sz="1300" dirty="0"/>
          </a:p>
          <a:p>
            <a:pPr marL="0" indent="0" algn="ctr">
              <a:buNone/>
            </a:pPr>
            <a:r>
              <a:rPr lang="en-US" sz="1300" dirty="0">
                <a:solidFill>
                  <a:srgbClr val="E8E8F0"/>
                </a:solidFill>
                <a:latin typeface="Calibri" pitchFamily="34" charset="0"/>
                <a:ea typeface="Calibri" pitchFamily="34" charset="-122"/>
                <a:cs typeface="Calibri" pitchFamily="34" charset="-120"/>
              </a:rPr>
              <a:t>audience ratings, and critical reception — or whether the relationship is far messier.</a:t>
            </a:r>
            <a:endParaRPr lang="en-US" sz="1300" dirty="0"/>
          </a:p>
        </p:txBody>
      </p:sp>
      <p:sp>
        <p:nvSpPr>
          <p:cNvPr id="7" name="Shape 5"/>
          <p:cNvSpPr/>
          <p:nvPr/>
        </p:nvSpPr>
        <p:spPr>
          <a:xfrm>
            <a:off x="457200" y="2606040"/>
            <a:ext cx="2651760" cy="2103120"/>
          </a:xfrm>
          <a:prstGeom prst="rect">
            <a:avLst/>
          </a:prstGeom>
          <a:solidFill>
            <a:srgbClr val="1A1C35"/>
          </a:solidFill>
          <a:ln w="10160">
            <a:solidFill>
              <a:srgbClr val="2A2D50"/>
            </a:solidFill>
            <a:prstDash val="solid"/>
          </a:ln>
          <a:effectLst>
            <a:outerShdw blurRad="101600" dist="38100" dir="8100000" algn="bl" rotWithShape="0">
              <a:srgbClr val="000000">
                <a:alpha val="30000"/>
              </a:srgbClr>
            </a:outerShdw>
          </a:effectLst>
        </p:spPr>
      </p:sp>
      <p:sp>
        <p:nvSpPr>
          <p:cNvPr id="8" name="Shape 6"/>
          <p:cNvSpPr/>
          <p:nvPr/>
        </p:nvSpPr>
        <p:spPr>
          <a:xfrm>
            <a:off x="457200" y="2606040"/>
            <a:ext cx="2651760" cy="64008"/>
          </a:xfrm>
          <a:prstGeom prst="rect">
            <a:avLst/>
          </a:prstGeom>
          <a:solidFill>
            <a:srgbClr val="00C2CB"/>
          </a:solidFill>
          <a:ln w="12700">
            <a:solidFill>
              <a:srgbClr val="00C2CB"/>
            </a:solidFill>
            <a:prstDash val="solid"/>
          </a:ln>
        </p:spPr>
      </p:sp>
      <p:sp>
        <p:nvSpPr>
          <p:cNvPr id="9" name="Text 7"/>
          <p:cNvSpPr/>
          <p:nvPr/>
        </p:nvSpPr>
        <p:spPr>
          <a:xfrm>
            <a:off x="457200" y="2788920"/>
            <a:ext cx="2651760" cy="4572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0" name="Text 8"/>
          <p:cNvSpPr/>
          <p:nvPr/>
        </p:nvSpPr>
        <p:spPr>
          <a:xfrm>
            <a:off x="548640" y="3291840"/>
            <a:ext cx="246888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Budget → Revenue</a:t>
            </a:r>
            <a:endParaRPr lang="en-US" sz="1400" dirty="0"/>
          </a:p>
        </p:txBody>
      </p:sp>
      <p:sp>
        <p:nvSpPr>
          <p:cNvPr id="11" name="Text 9"/>
          <p:cNvSpPr/>
          <p:nvPr/>
        </p:nvSpPr>
        <p:spPr>
          <a:xfrm>
            <a:off x="548640" y="3703320"/>
            <a:ext cx="2468880" cy="731520"/>
          </a:xfrm>
          <a:prstGeom prst="rect">
            <a:avLst/>
          </a:prstGeom>
          <a:noFill/>
          <a:ln/>
        </p:spPr>
        <p:txBody>
          <a:bodyPr wrap="square" rtlCol="0" anchor="ctr"/>
          <a:lstStyle/>
          <a:p>
            <a:pPr marL="0" indent="0" algn="ctr">
              <a:buNone/>
            </a:pPr>
            <a:r>
              <a:rPr lang="en-US" sz="1100" dirty="0">
                <a:solidFill>
                  <a:srgbClr val="8888AA"/>
                </a:solidFill>
                <a:latin typeface="Calibri" pitchFamily="34" charset="0"/>
                <a:ea typeface="Calibri" pitchFamily="34" charset="-122"/>
                <a:cs typeface="Calibri" pitchFamily="34" charset="-120"/>
              </a:rPr>
              <a:t>Does spending more earn more?</a:t>
            </a:r>
            <a:endParaRPr lang="en-US" sz="1100" dirty="0"/>
          </a:p>
        </p:txBody>
      </p:sp>
      <p:sp>
        <p:nvSpPr>
          <p:cNvPr id="12" name="Shape 10"/>
          <p:cNvSpPr/>
          <p:nvPr/>
        </p:nvSpPr>
        <p:spPr>
          <a:xfrm>
            <a:off x="3291840" y="2606040"/>
            <a:ext cx="2651760" cy="2103120"/>
          </a:xfrm>
          <a:prstGeom prst="rect">
            <a:avLst/>
          </a:prstGeom>
          <a:solidFill>
            <a:srgbClr val="1A1C35"/>
          </a:solidFill>
          <a:ln w="10160">
            <a:solidFill>
              <a:srgbClr val="2A2D50"/>
            </a:solidFill>
            <a:prstDash val="solid"/>
          </a:ln>
          <a:effectLst>
            <a:outerShdw blurRad="101600" dist="38100" dir="8100000" algn="bl" rotWithShape="0">
              <a:srgbClr val="000000">
                <a:alpha val="30000"/>
              </a:srgbClr>
            </a:outerShdw>
          </a:effectLst>
        </p:spPr>
      </p:sp>
      <p:sp>
        <p:nvSpPr>
          <p:cNvPr id="13" name="Shape 11"/>
          <p:cNvSpPr/>
          <p:nvPr/>
        </p:nvSpPr>
        <p:spPr>
          <a:xfrm>
            <a:off x="3291840" y="2606040"/>
            <a:ext cx="2651760" cy="64008"/>
          </a:xfrm>
          <a:prstGeom prst="rect">
            <a:avLst/>
          </a:prstGeom>
          <a:solidFill>
            <a:srgbClr val="00C2CB"/>
          </a:solidFill>
          <a:ln w="12700">
            <a:solidFill>
              <a:srgbClr val="00C2CB"/>
            </a:solidFill>
            <a:prstDash val="solid"/>
          </a:ln>
        </p:spPr>
      </p:sp>
      <p:sp>
        <p:nvSpPr>
          <p:cNvPr id="14" name="Text 12"/>
          <p:cNvSpPr/>
          <p:nvPr/>
        </p:nvSpPr>
        <p:spPr>
          <a:xfrm>
            <a:off x="3291840" y="2788920"/>
            <a:ext cx="2651760" cy="4572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5" name="Text 13"/>
          <p:cNvSpPr/>
          <p:nvPr/>
        </p:nvSpPr>
        <p:spPr>
          <a:xfrm>
            <a:off x="3383280" y="3291840"/>
            <a:ext cx="246888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Budget → Ratings</a:t>
            </a:r>
            <a:endParaRPr lang="en-US" sz="1400" dirty="0"/>
          </a:p>
        </p:txBody>
      </p:sp>
      <p:sp>
        <p:nvSpPr>
          <p:cNvPr id="16" name="Text 14"/>
          <p:cNvSpPr/>
          <p:nvPr/>
        </p:nvSpPr>
        <p:spPr>
          <a:xfrm>
            <a:off x="3383280" y="3703320"/>
            <a:ext cx="2468880" cy="731520"/>
          </a:xfrm>
          <a:prstGeom prst="rect">
            <a:avLst/>
          </a:prstGeom>
          <a:noFill/>
          <a:ln/>
        </p:spPr>
        <p:txBody>
          <a:bodyPr wrap="square" rtlCol="0" anchor="ctr"/>
          <a:lstStyle/>
          <a:p>
            <a:pPr marL="0" indent="0" algn="ctr">
              <a:buNone/>
            </a:pPr>
            <a:r>
              <a:rPr lang="en-US" sz="1100" dirty="0">
                <a:solidFill>
                  <a:srgbClr val="8888AA"/>
                </a:solidFill>
                <a:latin typeface="Calibri" pitchFamily="34" charset="0"/>
                <a:ea typeface="Calibri" pitchFamily="34" charset="-122"/>
                <a:cs typeface="Calibri" pitchFamily="34" charset="-120"/>
              </a:rPr>
              <a:t>Do critics and audiences reward bigger films?</a:t>
            </a:r>
            <a:endParaRPr lang="en-US" sz="1100" dirty="0"/>
          </a:p>
        </p:txBody>
      </p:sp>
      <p:sp>
        <p:nvSpPr>
          <p:cNvPr id="17" name="Shape 15"/>
          <p:cNvSpPr/>
          <p:nvPr/>
        </p:nvSpPr>
        <p:spPr>
          <a:xfrm>
            <a:off x="6126480" y="2606040"/>
            <a:ext cx="2651760" cy="2103120"/>
          </a:xfrm>
          <a:prstGeom prst="rect">
            <a:avLst/>
          </a:prstGeom>
          <a:solidFill>
            <a:srgbClr val="1A1C35"/>
          </a:solidFill>
          <a:ln w="10160">
            <a:solidFill>
              <a:srgbClr val="2A2D50"/>
            </a:solidFill>
            <a:prstDash val="solid"/>
          </a:ln>
          <a:effectLst>
            <a:outerShdw blurRad="101600" dist="38100" dir="8100000" algn="bl" rotWithShape="0">
              <a:srgbClr val="000000">
                <a:alpha val="30000"/>
              </a:srgbClr>
            </a:outerShdw>
          </a:effectLst>
        </p:spPr>
      </p:sp>
      <p:sp>
        <p:nvSpPr>
          <p:cNvPr id="18" name="Shape 16"/>
          <p:cNvSpPr/>
          <p:nvPr/>
        </p:nvSpPr>
        <p:spPr>
          <a:xfrm>
            <a:off x="6126480" y="2606040"/>
            <a:ext cx="2651760" cy="64008"/>
          </a:xfrm>
          <a:prstGeom prst="rect">
            <a:avLst/>
          </a:prstGeom>
          <a:solidFill>
            <a:srgbClr val="00C2CB"/>
          </a:solidFill>
          <a:ln w="12700">
            <a:solidFill>
              <a:srgbClr val="00C2CB"/>
            </a:solidFill>
            <a:prstDash val="solid"/>
          </a:ln>
        </p:spPr>
      </p:sp>
      <p:sp>
        <p:nvSpPr>
          <p:cNvPr id="19" name="Text 17"/>
          <p:cNvSpPr/>
          <p:nvPr/>
        </p:nvSpPr>
        <p:spPr>
          <a:xfrm>
            <a:off x="6126480" y="2788920"/>
            <a:ext cx="2651760" cy="4572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0" name="Text 18"/>
          <p:cNvSpPr/>
          <p:nvPr/>
        </p:nvSpPr>
        <p:spPr>
          <a:xfrm>
            <a:off x="6217920" y="3291840"/>
            <a:ext cx="246888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Genre &amp; Era Effects</a:t>
            </a:r>
            <a:endParaRPr lang="en-US" sz="1400" dirty="0"/>
          </a:p>
        </p:txBody>
      </p:sp>
      <p:sp>
        <p:nvSpPr>
          <p:cNvPr id="21" name="Text 19"/>
          <p:cNvSpPr/>
          <p:nvPr/>
        </p:nvSpPr>
        <p:spPr>
          <a:xfrm>
            <a:off x="6217920" y="3703320"/>
            <a:ext cx="2468880" cy="731520"/>
          </a:xfrm>
          <a:prstGeom prst="rect">
            <a:avLst/>
          </a:prstGeom>
          <a:noFill/>
          <a:ln/>
        </p:spPr>
        <p:txBody>
          <a:bodyPr wrap="square" rtlCol="0" anchor="ctr"/>
          <a:lstStyle/>
          <a:p>
            <a:pPr marL="0" indent="0" algn="ctr">
              <a:buNone/>
            </a:pPr>
            <a:r>
              <a:rPr lang="en-US" sz="1100" dirty="0">
                <a:solidFill>
                  <a:srgbClr val="8888AA"/>
                </a:solidFill>
                <a:latin typeface="Calibri" pitchFamily="34" charset="0"/>
                <a:ea typeface="Calibri" pitchFamily="34" charset="-122"/>
                <a:cs typeface="Calibri" pitchFamily="34" charset="-120"/>
              </a:rPr>
              <a:t>Does the relationship change over time or genre?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Problem Analysis</a:t>
            </a:r>
            <a:endParaRPr lang="en-US" sz="2800" dirty="0"/>
          </a:p>
        </p:txBody>
      </p:sp>
      <p:sp>
        <p:nvSpPr>
          <p:cNvPr id="3" name="Shape 1"/>
          <p:cNvSpPr/>
          <p:nvPr/>
        </p:nvSpPr>
        <p:spPr>
          <a:xfrm>
            <a:off x="457200" y="804672"/>
            <a:ext cx="914400" cy="45720"/>
          </a:xfrm>
          <a:prstGeom prst="rect">
            <a:avLst/>
          </a:prstGeom>
          <a:solidFill>
            <a:srgbClr val="F5C518"/>
          </a:solidFill>
          <a:ln w="12700">
            <a:solidFill>
              <a:srgbClr val="F5C518"/>
            </a:solidFill>
            <a:prstDash val="solid"/>
          </a:ln>
        </p:spPr>
      </p:sp>
      <p:sp>
        <p:nvSpPr>
          <p:cNvPr id="4" name="Shape 2"/>
          <p:cNvSpPr/>
          <p:nvPr/>
        </p:nvSpPr>
        <p:spPr>
          <a:xfrm>
            <a:off x="457200" y="1005840"/>
            <a:ext cx="4114800" cy="1828800"/>
          </a:xfrm>
          <a:prstGeom prst="rect">
            <a:avLst/>
          </a:prstGeom>
          <a:solidFill>
            <a:srgbClr val="1A1C35"/>
          </a:solidFill>
          <a:ln w="10160">
            <a:solidFill>
              <a:srgbClr val="2A2D50"/>
            </a:solidFill>
            <a:prstDash val="solid"/>
          </a:ln>
        </p:spPr>
      </p:sp>
      <p:sp>
        <p:nvSpPr>
          <p:cNvPr id="5" name="Shape 3"/>
          <p:cNvSpPr/>
          <p:nvPr/>
        </p:nvSpPr>
        <p:spPr>
          <a:xfrm>
            <a:off x="457200" y="1005840"/>
            <a:ext cx="4114800" cy="347472"/>
          </a:xfrm>
          <a:prstGeom prst="rect">
            <a:avLst/>
          </a:prstGeom>
          <a:solidFill>
            <a:srgbClr val="1A3050"/>
          </a:solidFill>
          <a:ln w="12700">
            <a:solidFill>
              <a:srgbClr val="2A2D50"/>
            </a:solidFill>
            <a:prstDash val="solid"/>
          </a:ln>
        </p:spPr>
      </p:sp>
      <p:sp>
        <p:nvSpPr>
          <p:cNvPr id="6" name="Text 4"/>
          <p:cNvSpPr/>
          <p:nvPr/>
        </p:nvSpPr>
        <p:spPr>
          <a:xfrm>
            <a:off x="548640" y="1024128"/>
            <a:ext cx="3931920" cy="310896"/>
          </a:xfrm>
          <a:prstGeom prst="rect">
            <a:avLst/>
          </a:prstGeom>
          <a:noFill/>
          <a:ln/>
        </p:spPr>
        <p:txBody>
          <a:bodyPr wrap="square" rtlCol="0" anchor="ctr"/>
          <a:lstStyle/>
          <a:p>
            <a:pPr marL="0" indent="0">
              <a:buNone/>
            </a:pPr>
            <a:r>
              <a:rPr lang="en-US" sz="1300" b="1" dirty="0">
                <a:solidFill>
                  <a:srgbClr val="00C2CB"/>
                </a:solidFill>
                <a:latin typeface="Calibri" pitchFamily="34" charset="0"/>
                <a:ea typeface="Calibri" pitchFamily="34" charset="-122"/>
                <a:cs typeface="Calibri" pitchFamily="34" charset="-120"/>
              </a:rPr>
              <a:t>Root Cause</a:t>
            </a:r>
            <a:endParaRPr lang="en-US" sz="1300" dirty="0"/>
          </a:p>
        </p:txBody>
      </p:sp>
      <p:sp>
        <p:nvSpPr>
          <p:cNvPr id="7" name="Text 5"/>
          <p:cNvSpPr/>
          <p:nvPr/>
        </p:nvSpPr>
        <p:spPr>
          <a:xfrm>
            <a:off x="594360" y="1389888"/>
            <a:ext cx="3886200" cy="1371600"/>
          </a:xfrm>
          <a:prstGeom prst="rect">
            <a:avLst/>
          </a:prstGeom>
          <a:noFill/>
          <a:ln/>
        </p:spPr>
        <p:txBody>
          <a:bodyPr wrap="square" rtlCol="0" anchor="ctr"/>
          <a:lstStyle/>
          <a:p>
            <a:pPr marL="0" indent="0">
              <a:buNone/>
            </a:pPr>
            <a:r>
              <a:rPr lang="en-US" sz="1200" b="1" dirty="0">
                <a:solidFill>
                  <a:srgbClr val="F5C518"/>
                </a:solidFill>
                <a:latin typeface="Calibri" pitchFamily="34" charset="0"/>
                <a:ea typeface="Calibri" pitchFamily="34" charset="-122"/>
                <a:cs typeface="Calibri" pitchFamily="34" charset="-120"/>
              </a:rPr>
              <a:t>The core assumption: </a:t>
            </a:r>
            <a:r>
              <a:rPr lang="en-US" sz="1200" dirty="0">
                <a:solidFill>
                  <a:srgbClr val="E8E8F0"/>
                </a:solidFill>
                <a:latin typeface="Calibri" pitchFamily="34" charset="0"/>
                <a:ea typeface="Calibri" pitchFamily="34" charset="-122"/>
                <a:cs typeface="Calibri" pitchFamily="34" charset="-120"/>
              </a:rPr>
              <a:t>higher spend = better results.
</a:t>
            </a:r>
            <a:r>
              <a:rPr lang="en-US" sz="1200" b="1" dirty="0">
                <a:solidFill>
                  <a:srgbClr val="F5C518"/>
                </a:solidFill>
                <a:latin typeface="Calibri" pitchFamily="34" charset="0"/>
                <a:ea typeface="Calibri" pitchFamily="34" charset="-122"/>
                <a:cs typeface="Calibri" pitchFamily="34" charset="-120"/>
              </a:rPr>
              <a:t>Reality: </a:t>
            </a:r>
            <a:r>
              <a:rPr lang="en-US" sz="1200" dirty="0">
                <a:solidFill>
                  <a:srgbClr val="E8E8F0"/>
                </a:solidFill>
                <a:latin typeface="Calibri" pitchFamily="34" charset="0"/>
                <a:ea typeface="Calibri" pitchFamily="34" charset="-122"/>
                <a:cs typeface="Calibri" pitchFamily="34" charset="-120"/>
              </a:rPr>
              <a:t>Success is shaped by story, timing, genre, audience connection, and competition — not budget alone.</a:t>
            </a:r>
            <a:endParaRPr lang="en-US" sz="1200" dirty="0"/>
          </a:p>
        </p:txBody>
      </p:sp>
      <p:sp>
        <p:nvSpPr>
          <p:cNvPr id="8" name="Shape 6"/>
          <p:cNvSpPr/>
          <p:nvPr/>
        </p:nvSpPr>
        <p:spPr>
          <a:xfrm>
            <a:off x="4754880" y="1005840"/>
            <a:ext cx="3931920" cy="1828800"/>
          </a:xfrm>
          <a:prstGeom prst="rect">
            <a:avLst/>
          </a:prstGeom>
          <a:solidFill>
            <a:srgbClr val="1A1C35"/>
          </a:solidFill>
          <a:ln w="10160">
            <a:solidFill>
              <a:srgbClr val="2A2D50"/>
            </a:solidFill>
            <a:prstDash val="solid"/>
          </a:ln>
        </p:spPr>
      </p:sp>
      <p:sp>
        <p:nvSpPr>
          <p:cNvPr id="9" name="Shape 7"/>
          <p:cNvSpPr/>
          <p:nvPr/>
        </p:nvSpPr>
        <p:spPr>
          <a:xfrm>
            <a:off x="4754880" y="1005840"/>
            <a:ext cx="3931920" cy="347472"/>
          </a:xfrm>
          <a:prstGeom prst="rect">
            <a:avLst/>
          </a:prstGeom>
          <a:solidFill>
            <a:srgbClr val="1A3050"/>
          </a:solidFill>
          <a:ln w="12700">
            <a:solidFill>
              <a:srgbClr val="2A2D50"/>
            </a:solidFill>
            <a:prstDash val="solid"/>
          </a:ln>
        </p:spPr>
      </p:sp>
      <p:sp>
        <p:nvSpPr>
          <p:cNvPr id="10" name="Text 8"/>
          <p:cNvSpPr/>
          <p:nvPr/>
        </p:nvSpPr>
        <p:spPr>
          <a:xfrm>
            <a:off x="4846320" y="1024128"/>
            <a:ext cx="3749040" cy="310896"/>
          </a:xfrm>
          <a:prstGeom prst="rect">
            <a:avLst/>
          </a:prstGeom>
          <a:noFill/>
          <a:ln/>
        </p:spPr>
        <p:txBody>
          <a:bodyPr wrap="square" rtlCol="0" anchor="ctr"/>
          <a:lstStyle/>
          <a:p>
            <a:pPr marL="0" indent="0">
              <a:buNone/>
            </a:pPr>
            <a:r>
              <a:rPr lang="en-US" sz="1300" b="1" dirty="0">
                <a:solidFill>
                  <a:srgbClr val="00C2CB"/>
                </a:solidFill>
                <a:latin typeface="Calibri" pitchFamily="34" charset="0"/>
                <a:ea typeface="Calibri" pitchFamily="34" charset="-122"/>
                <a:cs typeface="Calibri" pitchFamily="34" charset="-120"/>
              </a:rPr>
              <a:t>5 Whys Analysis (Summary)</a:t>
            </a:r>
            <a:endParaRPr lang="en-US" sz="1300" dirty="0"/>
          </a:p>
        </p:txBody>
      </p:sp>
      <p:sp>
        <p:nvSpPr>
          <p:cNvPr id="11" name="Text 9"/>
          <p:cNvSpPr/>
          <p:nvPr/>
        </p:nvSpPr>
        <p:spPr>
          <a:xfrm>
            <a:off x="4846320" y="1417320"/>
            <a:ext cx="3749040" cy="1371600"/>
          </a:xfrm>
          <a:prstGeom prst="rect">
            <a:avLst/>
          </a:prstGeom>
          <a:noFill/>
          <a:ln/>
        </p:spPr>
        <p:txBody>
          <a:bodyPr wrap="square" rtlCol="0" anchor="ctr"/>
          <a:lstStyle/>
          <a:p>
            <a:pPr marL="0" indent="0">
              <a:buNone/>
            </a:pPr>
            <a:r>
              <a:rPr lang="en-US" sz="1050" dirty="0">
                <a:solidFill>
                  <a:srgbClr val="E8E8F0"/>
                </a:solidFill>
                <a:latin typeface="Calibri" pitchFamily="34" charset="0"/>
                <a:ea typeface="Calibri" pitchFamily="34" charset="-122"/>
                <a:cs typeface="Calibri" pitchFamily="34" charset="-120"/>
              </a:rPr>
              <a:t>Why do studios overspend? → Expect higher return
Why assume budget = success? → Industry precedent
Why is precedent misleading? → Outliers ignored
Why are outliers ignored? → Survivorship bias
</a:t>
            </a:r>
            <a:r>
              <a:rPr lang="en-US" sz="1050" dirty="0">
                <a:solidFill>
                  <a:srgbClr val="F5C518"/>
                </a:solidFill>
                <a:latin typeface="Calibri" pitchFamily="34" charset="0"/>
                <a:ea typeface="Calibri" pitchFamily="34" charset="-122"/>
                <a:cs typeface="Calibri" pitchFamily="34" charset="-120"/>
              </a:rPr>
              <a:t>Why does this matter? → Misallocated resources</a:t>
            </a:r>
            <a:endParaRPr lang="en-US" sz="1050" dirty="0"/>
          </a:p>
        </p:txBody>
      </p:sp>
      <p:sp>
        <p:nvSpPr>
          <p:cNvPr id="12" name="Shape 10"/>
          <p:cNvSpPr/>
          <p:nvPr/>
        </p:nvSpPr>
        <p:spPr>
          <a:xfrm>
            <a:off x="457200" y="3017520"/>
            <a:ext cx="1965960" cy="1645920"/>
          </a:xfrm>
          <a:prstGeom prst="rect">
            <a:avLst/>
          </a:prstGeom>
          <a:solidFill>
            <a:srgbClr val="1A1C35"/>
          </a:solidFill>
          <a:ln w="10160">
            <a:solidFill>
              <a:srgbClr val="2A2D50"/>
            </a:solidFill>
            <a:prstDash val="solid"/>
          </a:ln>
        </p:spPr>
      </p:sp>
      <p:sp>
        <p:nvSpPr>
          <p:cNvPr id="13" name="Text 11"/>
          <p:cNvSpPr/>
          <p:nvPr/>
        </p:nvSpPr>
        <p:spPr>
          <a:xfrm>
            <a:off x="457200" y="3063240"/>
            <a:ext cx="1965960" cy="457200"/>
          </a:xfrm>
          <a:prstGeom prst="rect">
            <a:avLst/>
          </a:prstGeom>
          <a:noFill/>
          <a:ln/>
        </p:spPr>
        <p:txBody>
          <a:bodyPr wrap="square" rtlCol="0" anchor="ctr"/>
          <a:lstStyle/>
          <a:p>
            <a:pPr marL="0" indent="0" algn="ctr">
              <a:buNone/>
            </a:pPr>
            <a:r>
              <a:rPr lang="en-US" sz="2600" b="1" dirty="0">
                <a:solidFill>
                  <a:srgbClr val="F5C518"/>
                </a:solidFill>
                <a:latin typeface="Calibri" pitchFamily="34" charset="0"/>
                <a:ea typeface="Calibri" pitchFamily="34" charset="-122"/>
                <a:cs typeface="Calibri" pitchFamily="34" charset="-120"/>
              </a:rPr>
              <a:t>01</a:t>
            </a:r>
            <a:endParaRPr lang="en-US" sz="2600" dirty="0"/>
          </a:p>
        </p:txBody>
      </p:sp>
      <p:sp>
        <p:nvSpPr>
          <p:cNvPr id="14" name="Text 12"/>
          <p:cNvSpPr/>
          <p:nvPr/>
        </p:nvSpPr>
        <p:spPr>
          <a:xfrm>
            <a:off x="457200" y="3520440"/>
            <a:ext cx="196596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Compare</a:t>
            </a:r>
            <a:endParaRPr lang="en-US" sz="1300" dirty="0"/>
          </a:p>
        </p:txBody>
      </p:sp>
      <p:sp>
        <p:nvSpPr>
          <p:cNvPr id="15" name="Text 13"/>
          <p:cNvSpPr/>
          <p:nvPr/>
        </p:nvSpPr>
        <p:spPr>
          <a:xfrm>
            <a:off x="548640" y="3840480"/>
            <a:ext cx="1783080" cy="640080"/>
          </a:xfrm>
          <a:prstGeom prst="rect">
            <a:avLst/>
          </a:prstGeom>
          <a:noFill/>
          <a:ln/>
        </p:spPr>
        <p:txBody>
          <a:bodyPr wrap="square" rtlCol="0" anchor="ctr"/>
          <a:lstStyle/>
          <a:p>
            <a:pPr marL="0" indent="0" algn="ctr">
              <a:buNone/>
            </a:pPr>
            <a:r>
              <a:rPr lang="en-US" sz="1000" dirty="0">
                <a:solidFill>
                  <a:srgbClr val="8888AA"/>
                </a:solidFill>
                <a:latin typeface="Calibri" pitchFamily="34" charset="0"/>
                <a:ea typeface="Calibri" pitchFamily="34" charset="-122"/>
                <a:cs typeface="Calibri" pitchFamily="34" charset="-120"/>
              </a:rPr>
              <a:t>High vs low budget film outcomes</a:t>
            </a:r>
            <a:endParaRPr lang="en-US" sz="1000" dirty="0"/>
          </a:p>
        </p:txBody>
      </p:sp>
      <p:sp>
        <p:nvSpPr>
          <p:cNvPr id="16" name="Shape 14"/>
          <p:cNvSpPr/>
          <p:nvPr/>
        </p:nvSpPr>
        <p:spPr>
          <a:xfrm>
            <a:off x="2587752" y="3017520"/>
            <a:ext cx="1965960" cy="1645920"/>
          </a:xfrm>
          <a:prstGeom prst="rect">
            <a:avLst/>
          </a:prstGeom>
          <a:solidFill>
            <a:srgbClr val="1A1C35"/>
          </a:solidFill>
          <a:ln w="10160">
            <a:solidFill>
              <a:srgbClr val="2A2D50"/>
            </a:solidFill>
            <a:prstDash val="solid"/>
          </a:ln>
        </p:spPr>
      </p:sp>
      <p:sp>
        <p:nvSpPr>
          <p:cNvPr id="17" name="Text 15"/>
          <p:cNvSpPr/>
          <p:nvPr/>
        </p:nvSpPr>
        <p:spPr>
          <a:xfrm>
            <a:off x="2587752" y="3063240"/>
            <a:ext cx="1965960" cy="457200"/>
          </a:xfrm>
          <a:prstGeom prst="rect">
            <a:avLst/>
          </a:prstGeom>
          <a:noFill/>
          <a:ln/>
        </p:spPr>
        <p:txBody>
          <a:bodyPr wrap="square" rtlCol="0" anchor="ctr"/>
          <a:lstStyle/>
          <a:p>
            <a:pPr marL="0" indent="0" algn="ctr">
              <a:buNone/>
            </a:pPr>
            <a:r>
              <a:rPr lang="en-US" sz="2600" b="1" dirty="0">
                <a:solidFill>
                  <a:srgbClr val="F5C518"/>
                </a:solidFill>
                <a:latin typeface="Calibri" pitchFamily="34" charset="0"/>
                <a:ea typeface="Calibri" pitchFamily="34" charset="-122"/>
                <a:cs typeface="Calibri" pitchFamily="34" charset="-120"/>
              </a:rPr>
              <a:t>02</a:t>
            </a:r>
            <a:endParaRPr lang="en-US" sz="2600" dirty="0"/>
          </a:p>
        </p:txBody>
      </p:sp>
      <p:sp>
        <p:nvSpPr>
          <p:cNvPr id="18" name="Text 16"/>
          <p:cNvSpPr/>
          <p:nvPr/>
        </p:nvSpPr>
        <p:spPr>
          <a:xfrm>
            <a:off x="2587752" y="3520440"/>
            <a:ext cx="196596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Correlate</a:t>
            </a:r>
            <a:endParaRPr lang="en-US" sz="1300" dirty="0"/>
          </a:p>
        </p:txBody>
      </p:sp>
      <p:sp>
        <p:nvSpPr>
          <p:cNvPr id="19" name="Text 17"/>
          <p:cNvSpPr/>
          <p:nvPr/>
        </p:nvSpPr>
        <p:spPr>
          <a:xfrm>
            <a:off x="2679192" y="3840480"/>
            <a:ext cx="1783080" cy="640080"/>
          </a:xfrm>
          <a:prstGeom prst="rect">
            <a:avLst/>
          </a:prstGeom>
          <a:noFill/>
          <a:ln/>
        </p:spPr>
        <p:txBody>
          <a:bodyPr wrap="square" rtlCol="0" anchor="ctr"/>
          <a:lstStyle/>
          <a:p>
            <a:pPr marL="0" indent="0" algn="ctr">
              <a:buNone/>
            </a:pPr>
            <a:r>
              <a:rPr lang="en-US" sz="1000" dirty="0">
                <a:solidFill>
                  <a:srgbClr val="8888AA"/>
                </a:solidFill>
                <a:latin typeface="Calibri" pitchFamily="34" charset="0"/>
                <a:ea typeface="Calibri" pitchFamily="34" charset="-122"/>
                <a:cs typeface="Calibri" pitchFamily="34" charset="-120"/>
              </a:rPr>
              <a:t>Budget, revenue, ratings statistically</a:t>
            </a:r>
            <a:endParaRPr lang="en-US" sz="1000" dirty="0"/>
          </a:p>
        </p:txBody>
      </p:sp>
      <p:sp>
        <p:nvSpPr>
          <p:cNvPr id="20" name="Shape 18"/>
          <p:cNvSpPr/>
          <p:nvPr/>
        </p:nvSpPr>
        <p:spPr>
          <a:xfrm>
            <a:off x="4718304" y="3017520"/>
            <a:ext cx="1965960" cy="1645920"/>
          </a:xfrm>
          <a:prstGeom prst="rect">
            <a:avLst/>
          </a:prstGeom>
          <a:solidFill>
            <a:srgbClr val="1A1C35"/>
          </a:solidFill>
          <a:ln w="10160">
            <a:solidFill>
              <a:srgbClr val="2A2D50"/>
            </a:solidFill>
            <a:prstDash val="solid"/>
          </a:ln>
        </p:spPr>
      </p:sp>
      <p:sp>
        <p:nvSpPr>
          <p:cNvPr id="21" name="Text 19"/>
          <p:cNvSpPr/>
          <p:nvPr/>
        </p:nvSpPr>
        <p:spPr>
          <a:xfrm>
            <a:off x="4718304" y="3063240"/>
            <a:ext cx="1965960" cy="457200"/>
          </a:xfrm>
          <a:prstGeom prst="rect">
            <a:avLst/>
          </a:prstGeom>
          <a:noFill/>
          <a:ln/>
        </p:spPr>
        <p:txBody>
          <a:bodyPr wrap="square" rtlCol="0" anchor="ctr"/>
          <a:lstStyle/>
          <a:p>
            <a:pPr marL="0" indent="0" algn="ctr">
              <a:buNone/>
            </a:pPr>
            <a:r>
              <a:rPr lang="en-US" sz="2600" b="1" dirty="0">
                <a:solidFill>
                  <a:srgbClr val="F5C518"/>
                </a:solidFill>
                <a:latin typeface="Calibri" pitchFamily="34" charset="0"/>
                <a:ea typeface="Calibri" pitchFamily="34" charset="-122"/>
                <a:cs typeface="Calibri" pitchFamily="34" charset="-120"/>
              </a:rPr>
              <a:t>03</a:t>
            </a:r>
            <a:endParaRPr lang="en-US" sz="2600" dirty="0"/>
          </a:p>
        </p:txBody>
      </p:sp>
      <p:sp>
        <p:nvSpPr>
          <p:cNvPr id="22" name="Text 20"/>
          <p:cNvSpPr/>
          <p:nvPr/>
        </p:nvSpPr>
        <p:spPr>
          <a:xfrm>
            <a:off x="4718304" y="3520440"/>
            <a:ext cx="196596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Visualize</a:t>
            </a:r>
            <a:endParaRPr lang="en-US" sz="1300" dirty="0"/>
          </a:p>
        </p:txBody>
      </p:sp>
      <p:sp>
        <p:nvSpPr>
          <p:cNvPr id="23" name="Text 21"/>
          <p:cNvSpPr/>
          <p:nvPr/>
        </p:nvSpPr>
        <p:spPr>
          <a:xfrm>
            <a:off x="4809744" y="3840480"/>
            <a:ext cx="1783080" cy="640080"/>
          </a:xfrm>
          <a:prstGeom prst="rect">
            <a:avLst/>
          </a:prstGeom>
          <a:noFill/>
          <a:ln/>
        </p:spPr>
        <p:txBody>
          <a:bodyPr wrap="square" rtlCol="0" anchor="ctr"/>
          <a:lstStyle/>
          <a:p>
            <a:pPr marL="0" indent="0" algn="ctr">
              <a:buNone/>
            </a:pPr>
            <a:r>
              <a:rPr lang="en-US" sz="1000" dirty="0">
                <a:solidFill>
                  <a:srgbClr val="8888AA"/>
                </a:solidFill>
                <a:latin typeface="Calibri" pitchFamily="34" charset="0"/>
                <a:ea typeface="Calibri" pitchFamily="34" charset="-122"/>
                <a:cs typeface="Calibri" pitchFamily="34" charset="-120"/>
              </a:rPr>
              <a:t>Patterns by genre, era, studio</a:t>
            </a:r>
            <a:endParaRPr lang="en-US" sz="1000" dirty="0"/>
          </a:p>
        </p:txBody>
      </p:sp>
      <p:sp>
        <p:nvSpPr>
          <p:cNvPr id="24" name="Shape 22"/>
          <p:cNvSpPr/>
          <p:nvPr/>
        </p:nvSpPr>
        <p:spPr>
          <a:xfrm>
            <a:off x="6848856" y="3017520"/>
            <a:ext cx="1965960" cy="1645920"/>
          </a:xfrm>
          <a:prstGeom prst="rect">
            <a:avLst/>
          </a:prstGeom>
          <a:solidFill>
            <a:srgbClr val="1A1C35"/>
          </a:solidFill>
          <a:ln w="10160">
            <a:solidFill>
              <a:srgbClr val="2A2D50"/>
            </a:solidFill>
            <a:prstDash val="solid"/>
          </a:ln>
        </p:spPr>
      </p:sp>
      <p:sp>
        <p:nvSpPr>
          <p:cNvPr id="25" name="Text 23"/>
          <p:cNvSpPr/>
          <p:nvPr/>
        </p:nvSpPr>
        <p:spPr>
          <a:xfrm>
            <a:off x="6848856" y="3063240"/>
            <a:ext cx="1965960" cy="457200"/>
          </a:xfrm>
          <a:prstGeom prst="rect">
            <a:avLst/>
          </a:prstGeom>
          <a:noFill/>
          <a:ln/>
        </p:spPr>
        <p:txBody>
          <a:bodyPr wrap="square" rtlCol="0" anchor="ctr"/>
          <a:lstStyle/>
          <a:p>
            <a:pPr marL="0" indent="0" algn="ctr">
              <a:buNone/>
            </a:pPr>
            <a:r>
              <a:rPr lang="en-US" sz="2600" b="1" dirty="0">
                <a:solidFill>
                  <a:srgbClr val="F5C518"/>
                </a:solidFill>
                <a:latin typeface="Calibri" pitchFamily="34" charset="0"/>
                <a:ea typeface="Calibri" pitchFamily="34" charset="-122"/>
                <a:cs typeface="Calibri" pitchFamily="34" charset="-120"/>
              </a:rPr>
              <a:t>04</a:t>
            </a:r>
            <a:endParaRPr lang="en-US" sz="2600" dirty="0"/>
          </a:p>
        </p:txBody>
      </p:sp>
      <p:sp>
        <p:nvSpPr>
          <p:cNvPr id="26" name="Text 24"/>
          <p:cNvSpPr/>
          <p:nvPr/>
        </p:nvSpPr>
        <p:spPr>
          <a:xfrm>
            <a:off x="6848856" y="3520440"/>
            <a:ext cx="196596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Conclude</a:t>
            </a:r>
            <a:endParaRPr lang="en-US" sz="1300" dirty="0"/>
          </a:p>
        </p:txBody>
      </p:sp>
      <p:sp>
        <p:nvSpPr>
          <p:cNvPr id="27" name="Text 25"/>
          <p:cNvSpPr/>
          <p:nvPr/>
        </p:nvSpPr>
        <p:spPr>
          <a:xfrm>
            <a:off x="6940296" y="3840480"/>
            <a:ext cx="1783080" cy="640080"/>
          </a:xfrm>
          <a:prstGeom prst="rect">
            <a:avLst/>
          </a:prstGeom>
          <a:noFill/>
          <a:ln/>
        </p:spPr>
        <p:txBody>
          <a:bodyPr wrap="square" rtlCol="0" anchor="ctr"/>
          <a:lstStyle/>
          <a:p>
            <a:pPr marL="0" indent="0" algn="ctr">
              <a:buNone/>
            </a:pPr>
            <a:r>
              <a:rPr lang="en-US" sz="1000" dirty="0">
                <a:solidFill>
                  <a:srgbClr val="8888AA"/>
                </a:solidFill>
                <a:latin typeface="Calibri" pitchFamily="34" charset="0"/>
                <a:ea typeface="Calibri" pitchFamily="34" charset="-122"/>
                <a:cs typeface="Calibri" pitchFamily="34" charset="-120"/>
              </a:rPr>
              <a:t>Is budget a predictor or a myth?</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Our Data Sources</a:t>
            </a:r>
            <a:endParaRPr lang="en-US" sz="2800" dirty="0"/>
          </a:p>
        </p:txBody>
      </p:sp>
      <p:sp>
        <p:nvSpPr>
          <p:cNvPr id="3" name="Shape 1"/>
          <p:cNvSpPr/>
          <p:nvPr/>
        </p:nvSpPr>
        <p:spPr>
          <a:xfrm>
            <a:off x="457200" y="804672"/>
            <a:ext cx="914400" cy="45720"/>
          </a:xfrm>
          <a:prstGeom prst="rect">
            <a:avLst/>
          </a:prstGeom>
          <a:solidFill>
            <a:srgbClr val="F5C518"/>
          </a:solidFill>
          <a:ln w="12700">
            <a:solidFill>
              <a:srgbClr val="F5C518"/>
            </a:solidFill>
            <a:prstDash val="solid"/>
          </a:ln>
        </p:spPr>
      </p:sp>
      <p:sp>
        <p:nvSpPr>
          <p:cNvPr id="4" name="Shape 2"/>
          <p:cNvSpPr/>
          <p:nvPr/>
        </p:nvSpPr>
        <p:spPr>
          <a:xfrm>
            <a:off x="320040" y="1005840"/>
            <a:ext cx="2011680" cy="3474720"/>
          </a:xfrm>
          <a:prstGeom prst="rect">
            <a:avLst/>
          </a:prstGeom>
          <a:solidFill>
            <a:srgbClr val="1E3A5F"/>
          </a:solidFill>
          <a:ln w="15240">
            <a:solidFill>
              <a:srgbClr val="4A90D9"/>
            </a:solidFill>
            <a:prstDash val="solid"/>
          </a:ln>
          <a:effectLst>
            <a:outerShdw blurRad="101600" dist="38100" dir="8100000" algn="bl" rotWithShape="0">
              <a:srgbClr val="000000">
                <a:alpha val="30000"/>
              </a:srgbClr>
            </a:outerShdw>
          </a:effectLst>
        </p:spPr>
      </p:sp>
      <p:sp>
        <p:nvSpPr>
          <p:cNvPr id="5" name="Shape 3"/>
          <p:cNvSpPr/>
          <p:nvPr/>
        </p:nvSpPr>
        <p:spPr>
          <a:xfrm>
            <a:off x="320040" y="1005840"/>
            <a:ext cx="2011680" cy="73152"/>
          </a:xfrm>
          <a:prstGeom prst="rect">
            <a:avLst/>
          </a:prstGeom>
          <a:solidFill>
            <a:srgbClr val="4A90D9"/>
          </a:solidFill>
          <a:ln w="12700">
            <a:solidFill>
              <a:srgbClr val="4A90D9"/>
            </a:solidFill>
            <a:prstDash val="solid"/>
          </a:ln>
        </p:spPr>
      </p:sp>
      <p:sp>
        <p:nvSpPr>
          <p:cNvPr id="6" name="Text 4"/>
          <p:cNvSpPr/>
          <p:nvPr/>
        </p:nvSpPr>
        <p:spPr>
          <a:xfrm>
            <a:off x="411480" y="1115568"/>
            <a:ext cx="182880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The Movies Dataset</a:t>
            </a:r>
            <a:endParaRPr lang="en-US" sz="1200" dirty="0"/>
          </a:p>
        </p:txBody>
      </p:sp>
      <p:sp>
        <p:nvSpPr>
          <p:cNvPr id="7" name="Text 5"/>
          <p:cNvSpPr/>
          <p:nvPr/>
        </p:nvSpPr>
        <p:spPr>
          <a:xfrm>
            <a:off x="411480" y="1572768"/>
            <a:ext cx="1828800" cy="256032"/>
          </a:xfrm>
          <a:prstGeom prst="rect">
            <a:avLst/>
          </a:prstGeom>
          <a:noFill/>
          <a:ln/>
        </p:spPr>
        <p:txBody>
          <a:bodyPr wrap="square" rtlCol="0" anchor="ctr"/>
          <a:lstStyle/>
          <a:p>
            <a:pPr marL="0" indent="0" algn="ctr">
              <a:buNone/>
            </a:pPr>
            <a:r>
              <a:rPr lang="en-US" sz="1000" i="1" dirty="0">
                <a:solidFill>
                  <a:srgbClr val="4A90D9"/>
                </a:solidFill>
                <a:latin typeface="Calibri" pitchFamily="34" charset="0"/>
                <a:ea typeface="Calibri" pitchFamily="34" charset="-122"/>
                <a:cs typeface="Calibri" pitchFamily="34" charset="-120"/>
              </a:rPr>
              <a:t>Kaggle</a:t>
            </a:r>
            <a:endParaRPr lang="en-US" sz="1000" dirty="0"/>
          </a:p>
        </p:txBody>
      </p:sp>
      <p:sp>
        <p:nvSpPr>
          <p:cNvPr id="8" name="Shape 6"/>
          <p:cNvSpPr/>
          <p:nvPr/>
        </p:nvSpPr>
        <p:spPr>
          <a:xfrm>
            <a:off x="457200" y="1874520"/>
            <a:ext cx="1737360" cy="27432"/>
          </a:xfrm>
          <a:prstGeom prst="rect">
            <a:avLst/>
          </a:prstGeom>
          <a:solidFill>
            <a:srgbClr val="4A90D9">
              <a:alpha val="40000"/>
            </a:srgbClr>
          </a:solidFill>
          <a:ln w="12700">
            <a:solidFill>
              <a:srgbClr val="4A90D9"/>
            </a:solidFill>
            <a:prstDash val="solid"/>
          </a:ln>
        </p:spPr>
      </p:sp>
      <p:sp>
        <p:nvSpPr>
          <p:cNvPr id="9" name="Text 7"/>
          <p:cNvSpPr/>
          <p:nvPr/>
        </p:nvSpPr>
        <p:spPr>
          <a:xfrm>
            <a:off x="429768" y="1965960"/>
            <a:ext cx="1828800" cy="23774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Production budget
Box office revenue
Genres, release dates
Production companies</a:t>
            </a:r>
            <a:endParaRPr lang="en-US" sz="1000" dirty="0"/>
          </a:p>
        </p:txBody>
      </p:sp>
      <p:sp>
        <p:nvSpPr>
          <p:cNvPr id="10" name="Shape 8"/>
          <p:cNvSpPr/>
          <p:nvPr/>
        </p:nvSpPr>
        <p:spPr>
          <a:xfrm>
            <a:off x="2468880" y="1005840"/>
            <a:ext cx="2011680" cy="3474720"/>
          </a:xfrm>
          <a:prstGeom prst="rect">
            <a:avLst/>
          </a:prstGeom>
          <a:solidFill>
            <a:srgbClr val="1E3A3A"/>
          </a:solidFill>
          <a:ln w="15240">
            <a:solidFill>
              <a:srgbClr val="00C2CB"/>
            </a:solidFill>
            <a:prstDash val="solid"/>
          </a:ln>
          <a:effectLst>
            <a:outerShdw blurRad="101600" dist="38100" dir="8100000" algn="bl" rotWithShape="0">
              <a:srgbClr val="000000">
                <a:alpha val="30000"/>
              </a:srgbClr>
            </a:outerShdw>
          </a:effectLst>
        </p:spPr>
      </p:sp>
      <p:sp>
        <p:nvSpPr>
          <p:cNvPr id="11" name="Shape 9"/>
          <p:cNvSpPr/>
          <p:nvPr/>
        </p:nvSpPr>
        <p:spPr>
          <a:xfrm>
            <a:off x="2468880" y="1005840"/>
            <a:ext cx="2011680" cy="73152"/>
          </a:xfrm>
          <a:prstGeom prst="rect">
            <a:avLst/>
          </a:prstGeom>
          <a:solidFill>
            <a:srgbClr val="00C2CB"/>
          </a:solidFill>
          <a:ln w="12700">
            <a:solidFill>
              <a:srgbClr val="00C2CB"/>
            </a:solidFill>
            <a:prstDash val="solid"/>
          </a:ln>
        </p:spPr>
      </p:sp>
      <p:sp>
        <p:nvSpPr>
          <p:cNvPr id="12" name="Text 10"/>
          <p:cNvSpPr/>
          <p:nvPr/>
        </p:nvSpPr>
        <p:spPr>
          <a:xfrm>
            <a:off x="2560320" y="1115568"/>
            <a:ext cx="182880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TMDB 5000</a:t>
            </a:r>
            <a:endParaRPr lang="en-US" sz="1200" dirty="0"/>
          </a:p>
        </p:txBody>
      </p:sp>
      <p:sp>
        <p:nvSpPr>
          <p:cNvPr id="13" name="Text 11"/>
          <p:cNvSpPr/>
          <p:nvPr/>
        </p:nvSpPr>
        <p:spPr>
          <a:xfrm>
            <a:off x="2560320" y="1572768"/>
            <a:ext cx="1828800" cy="256032"/>
          </a:xfrm>
          <a:prstGeom prst="rect">
            <a:avLst/>
          </a:prstGeom>
          <a:noFill/>
          <a:ln/>
        </p:spPr>
        <p:txBody>
          <a:bodyPr wrap="square" rtlCol="0" anchor="ctr"/>
          <a:lstStyle/>
          <a:p>
            <a:pPr marL="0" indent="0" algn="ctr">
              <a:buNone/>
            </a:pPr>
            <a:r>
              <a:rPr lang="en-US" sz="1000" i="1" dirty="0">
                <a:solidFill>
                  <a:srgbClr val="00C2CB"/>
                </a:solidFill>
                <a:latin typeface="Calibri" pitchFamily="34" charset="0"/>
                <a:ea typeface="Calibri" pitchFamily="34" charset="-122"/>
                <a:cs typeface="Calibri" pitchFamily="34" charset="-120"/>
              </a:rPr>
              <a:t>Kaggle</a:t>
            </a:r>
            <a:endParaRPr lang="en-US" sz="1000" dirty="0"/>
          </a:p>
        </p:txBody>
      </p:sp>
      <p:sp>
        <p:nvSpPr>
          <p:cNvPr id="14" name="Shape 12"/>
          <p:cNvSpPr/>
          <p:nvPr/>
        </p:nvSpPr>
        <p:spPr>
          <a:xfrm>
            <a:off x="2606040" y="1874520"/>
            <a:ext cx="1737360" cy="27432"/>
          </a:xfrm>
          <a:prstGeom prst="rect">
            <a:avLst/>
          </a:prstGeom>
          <a:solidFill>
            <a:srgbClr val="00C2CB">
              <a:alpha val="40000"/>
            </a:srgbClr>
          </a:solidFill>
          <a:ln w="12700">
            <a:solidFill>
              <a:srgbClr val="00C2CB"/>
            </a:solidFill>
            <a:prstDash val="solid"/>
          </a:ln>
        </p:spPr>
      </p:sp>
      <p:sp>
        <p:nvSpPr>
          <p:cNvPr id="15" name="Text 13"/>
          <p:cNvSpPr/>
          <p:nvPr/>
        </p:nvSpPr>
        <p:spPr>
          <a:xfrm>
            <a:off x="2578608" y="1965960"/>
            <a:ext cx="1828800" cy="23774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Cast &amp; crew details
Keywords &amp; taglines
Popularity scores
Fills budget gaps</a:t>
            </a:r>
            <a:endParaRPr lang="en-US" sz="1000" dirty="0"/>
          </a:p>
        </p:txBody>
      </p:sp>
      <p:sp>
        <p:nvSpPr>
          <p:cNvPr id="16" name="Shape 14"/>
          <p:cNvSpPr/>
          <p:nvPr/>
        </p:nvSpPr>
        <p:spPr>
          <a:xfrm>
            <a:off x="4617720" y="1005840"/>
            <a:ext cx="2011680" cy="3474720"/>
          </a:xfrm>
          <a:prstGeom prst="rect">
            <a:avLst/>
          </a:prstGeom>
          <a:solidFill>
            <a:srgbClr val="3A1E1E"/>
          </a:solidFill>
          <a:ln w="15240">
            <a:solidFill>
              <a:srgbClr val="E05555"/>
            </a:solidFill>
            <a:prstDash val="solid"/>
          </a:ln>
          <a:effectLst>
            <a:outerShdw blurRad="101600" dist="38100" dir="8100000" algn="bl" rotWithShape="0">
              <a:srgbClr val="000000">
                <a:alpha val="30000"/>
              </a:srgbClr>
            </a:outerShdw>
          </a:effectLst>
        </p:spPr>
      </p:sp>
      <p:sp>
        <p:nvSpPr>
          <p:cNvPr id="17" name="Shape 15"/>
          <p:cNvSpPr/>
          <p:nvPr/>
        </p:nvSpPr>
        <p:spPr>
          <a:xfrm>
            <a:off x="4617720" y="1005840"/>
            <a:ext cx="2011680" cy="73152"/>
          </a:xfrm>
          <a:prstGeom prst="rect">
            <a:avLst/>
          </a:prstGeom>
          <a:solidFill>
            <a:srgbClr val="E05555"/>
          </a:solidFill>
          <a:ln w="12700">
            <a:solidFill>
              <a:srgbClr val="E05555"/>
            </a:solidFill>
            <a:prstDash val="solid"/>
          </a:ln>
        </p:spPr>
      </p:sp>
      <p:sp>
        <p:nvSpPr>
          <p:cNvPr id="18" name="Text 16"/>
          <p:cNvSpPr/>
          <p:nvPr/>
        </p:nvSpPr>
        <p:spPr>
          <a:xfrm>
            <a:off x="4709160" y="1115568"/>
            <a:ext cx="182880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Rotten Tomatoes</a:t>
            </a:r>
            <a:endParaRPr lang="en-US" sz="1200" dirty="0"/>
          </a:p>
        </p:txBody>
      </p:sp>
      <p:sp>
        <p:nvSpPr>
          <p:cNvPr id="19" name="Text 17"/>
          <p:cNvSpPr/>
          <p:nvPr/>
        </p:nvSpPr>
        <p:spPr>
          <a:xfrm>
            <a:off x="4709160" y="1572768"/>
            <a:ext cx="1828800" cy="256032"/>
          </a:xfrm>
          <a:prstGeom prst="rect">
            <a:avLst/>
          </a:prstGeom>
          <a:noFill/>
          <a:ln/>
        </p:spPr>
        <p:txBody>
          <a:bodyPr wrap="square" rtlCol="0" anchor="ctr"/>
          <a:lstStyle/>
          <a:p>
            <a:pPr marL="0" indent="0" algn="ctr">
              <a:buNone/>
            </a:pPr>
            <a:r>
              <a:rPr lang="en-US" sz="1000" i="1" dirty="0">
                <a:solidFill>
                  <a:srgbClr val="E05555"/>
                </a:solidFill>
                <a:latin typeface="Calibri" pitchFamily="34" charset="0"/>
                <a:ea typeface="Calibri" pitchFamily="34" charset="-122"/>
                <a:cs typeface="Calibri" pitchFamily="34" charset="-120"/>
              </a:rPr>
              <a:t>Kaggle</a:t>
            </a:r>
            <a:endParaRPr lang="en-US" sz="1000" dirty="0"/>
          </a:p>
        </p:txBody>
      </p:sp>
      <p:sp>
        <p:nvSpPr>
          <p:cNvPr id="20" name="Shape 18"/>
          <p:cNvSpPr/>
          <p:nvPr/>
        </p:nvSpPr>
        <p:spPr>
          <a:xfrm>
            <a:off x="4754880" y="1874520"/>
            <a:ext cx="1737360" cy="27432"/>
          </a:xfrm>
          <a:prstGeom prst="rect">
            <a:avLst/>
          </a:prstGeom>
          <a:solidFill>
            <a:srgbClr val="E05555">
              <a:alpha val="40000"/>
            </a:srgbClr>
          </a:solidFill>
          <a:ln w="12700">
            <a:solidFill>
              <a:srgbClr val="E05555"/>
            </a:solidFill>
            <a:prstDash val="solid"/>
          </a:ln>
        </p:spPr>
      </p:sp>
      <p:sp>
        <p:nvSpPr>
          <p:cNvPr id="21" name="Text 19"/>
          <p:cNvSpPr/>
          <p:nvPr/>
        </p:nvSpPr>
        <p:spPr>
          <a:xfrm>
            <a:off x="4727448" y="1965960"/>
            <a:ext cx="1828800" cy="23774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Critic score (Tomatometer)
Audience score
Critic consensus text
Review counts</a:t>
            </a:r>
            <a:endParaRPr lang="en-US" sz="1000" dirty="0"/>
          </a:p>
        </p:txBody>
      </p:sp>
      <p:sp>
        <p:nvSpPr>
          <p:cNvPr id="22" name="Shape 20"/>
          <p:cNvSpPr/>
          <p:nvPr/>
        </p:nvSpPr>
        <p:spPr>
          <a:xfrm>
            <a:off x="6766560" y="1005840"/>
            <a:ext cx="2011680" cy="3474720"/>
          </a:xfrm>
          <a:prstGeom prst="rect">
            <a:avLst/>
          </a:prstGeom>
          <a:solidFill>
            <a:srgbClr val="3A2E1E"/>
          </a:solidFill>
          <a:ln w="15240">
            <a:solidFill>
              <a:srgbClr val="F5C518"/>
            </a:solidFill>
            <a:prstDash val="solid"/>
          </a:ln>
          <a:effectLst>
            <a:outerShdw blurRad="101600" dist="38100" dir="8100000" algn="bl" rotWithShape="0">
              <a:srgbClr val="000000">
                <a:alpha val="30000"/>
              </a:srgbClr>
            </a:outerShdw>
          </a:effectLst>
        </p:spPr>
      </p:sp>
      <p:sp>
        <p:nvSpPr>
          <p:cNvPr id="23" name="Shape 21"/>
          <p:cNvSpPr/>
          <p:nvPr/>
        </p:nvSpPr>
        <p:spPr>
          <a:xfrm>
            <a:off x="6766560" y="1005840"/>
            <a:ext cx="2011680" cy="73152"/>
          </a:xfrm>
          <a:prstGeom prst="rect">
            <a:avLst/>
          </a:prstGeom>
          <a:solidFill>
            <a:srgbClr val="F5C518"/>
          </a:solidFill>
          <a:ln w="12700">
            <a:solidFill>
              <a:srgbClr val="F5C518"/>
            </a:solidFill>
            <a:prstDash val="solid"/>
          </a:ln>
        </p:spPr>
      </p:sp>
      <p:sp>
        <p:nvSpPr>
          <p:cNvPr id="24" name="Text 22"/>
          <p:cNvSpPr/>
          <p:nvPr/>
        </p:nvSpPr>
        <p:spPr>
          <a:xfrm>
            <a:off x="6858000" y="1115568"/>
            <a:ext cx="182880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IMDb Dataset</a:t>
            </a:r>
            <a:endParaRPr lang="en-US" sz="1200" dirty="0"/>
          </a:p>
        </p:txBody>
      </p:sp>
      <p:sp>
        <p:nvSpPr>
          <p:cNvPr id="25" name="Text 23"/>
          <p:cNvSpPr/>
          <p:nvPr/>
        </p:nvSpPr>
        <p:spPr>
          <a:xfrm>
            <a:off x="6858000" y="1572768"/>
            <a:ext cx="1828800" cy="256032"/>
          </a:xfrm>
          <a:prstGeom prst="rect">
            <a:avLst/>
          </a:prstGeom>
          <a:noFill/>
          <a:ln/>
        </p:spPr>
        <p:txBody>
          <a:bodyPr wrap="square" rtlCol="0" anchor="ctr"/>
          <a:lstStyle/>
          <a:p>
            <a:pPr marL="0" indent="0" algn="ctr">
              <a:buNone/>
            </a:pPr>
            <a:r>
              <a:rPr lang="en-US" sz="1000" i="1" dirty="0">
                <a:solidFill>
                  <a:srgbClr val="F5C518"/>
                </a:solidFill>
                <a:latin typeface="Calibri" pitchFamily="34" charset="0"/>
                <a:ea typeface="Calibri" pitchFamily="34" charset="-122"/>
                <a:cs typeface="Calibri" pitchFamily="34" charset="-120"/>
              </a:rPr>
              <a:t>Kaggle</a:t>
            </a:r>
            <a:endParaRPr lang="en-US" sz="1000" dirty="0"/>
          </a:p>
        </p:txBody>
      </p:sp>
      <p:sp>
        <p:nvSpPr>
          <p:cNvPr id="26" name="Shape 24"/>
          <p:cNvSpPr/>
          <p:nvPr/>
        </p:nvSpPr>
        <p:spPr>
          <a:xfrm>
            <a:off x="6903720" y="1874520"/>
            <a:ext cx="1737360" cy="27432"/>
          </a:xfrm>
          <a:prstGeom prst="rect">
            <a:avLst/>
          </a:prstGeom>
          <a:solidFill>
            <a:srgbClr val="F5C518">
              <a:alpha val="40000"/>
            </a:srgbClr>
          </a:solidFill>
          <a:ln w="12700">
            <a:solidFill>
              <a:srgbClr val="F5C518"/>
            </a:solidFill>
            <a:prstDash val="solid"/>
          </a:ln>
        </p:spPr>
      </p:sp>
      <p:sp>
        <p:nvSpPr>
          <p:cNvPr id="27" name="Text 25"/>
          <p:cNvSpPr/>
          <p:nvPr/>
        </p:nvSpPr>
        <p:spPr>
          <a:xfrm>
            <a:off x="6876288" y="1965960"/>
            <a:ext cx="1828800" cy="23774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IMDb user ratings
Vote counts (scale)
Runtime &amp; certificate
Cross-validation source</a:t>
            </a:r>
            <a:endParaRPr lang="en-US" sz="1000" dirty="0"/>
          </a:p>
        </p:txBody>
      </p:sp>
      <p:sp>
        <p:nvSpPr>
          <p:cNvPr id="28" name="Shape 26"/>
          <p:cNvSpPr/>
          <p:nvPr/>
        </p:nvSpPr>
        <p:spPr>
          <a:xfrm>
            <a:off x="320040" y="4617720"/>
            <a:ext cx="8503920" cy="384048"/>
          </a:xfrm>
          <a:prstGeom prst="rect">
            <a:avLst/>
          </a:prstGeom>
          <a:solidFill>
            <a:srgbClr val="1A1C35"/>
          </a:solidFill>
          <a:ln w="10160">
            <a:solidFill>
              <a:srgbClr val="F5C518"/>
            </a:solidFill>
            <a:prstDash val="solid"/>
          </a:ln>
        </p:spPr>
      </p:sp>
      <p:sp>
        <p:nvSpPr>
          <p:cNvPr id="29" name="Text 27"/>
          <p:cNvSpPr/>
          <p:nvPr/>
        </p:nvSpPr>
        <p:spPr>
          <a:xfrm>
            <a:off x="457200" y="4663440"/>
            <a:ext cx="8229600" cy="292608"/>
          </a:xfrm>
          <a:prstGeom prst="rect">
            <a:avLst/>
          </a:prstGeom>
          <a:noFill/>
          <a:ln/>
        </p:spPr>
        <p:txBody>
          <a:bodyPr wrap="square" rtlCol="0" anchor="ctr"/>
          <a:lstStyle/>
          <a:p>
            <a:pPr marL="0" indent="0" algn="ctr">
              <a:buNone/>
            </a:pPr>
            <a:r>
              <a:rPr lang="en-US" sz="1100" i="1" dirty="0">
                <a:solidFill>
                  <a:srgbClr val="F5C518"/>
                </a:solidFill>
                <a:latin typeface="Calibri" pitchFamily="34" charset="0"/>
                <a:ea typeface="Calibri" pitchFamily="34" charset="-122"/>
                <a:cs typeface="Calibri" pitchFamily="34" charset="-120"/>
              </a:rPr>
              <a:t>All four datasets joined on movie title + release year → single unified analytical dataset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Data Pipeline &amp; System Design</a:t>
            </a:r>
            <a:endParaRPr lang="en-US" sz="2800" dirty="0"/>
          </a:p>
        </p:txBody>
      </p:sp>
      <p:sp>
        <p:nvSpPr>
          <p:cNvPr id="3" name="Shape 1"/>
          <p:cNvSpPr/>
          <p:nvPr/>
        </p:nvSpPr>
        <p:spPr>
          <a:xfrm>
            <a:off x="457200" y="804672"/>
            <a:ext cx="1188720" cy="45720"/>
          </a:xfrm>
          <a:prstGeom prst="rect">
            <a:avLst/>
          </a:prstGeom>
          <a:solidFill>
            <a:srgbClr val="F5C518"/>
          </a:solidFill>
          <a:ln w="12700">
            <a:solidFill>
              <a:srgbClr val="F5C518"/>
            </a:solidFill>
            <a:prstDash val="solid"/>
          </a:ln>
        </p:spPr>
      </p:sp>
      <p:sp>
        <p:nvSpPr>
          <p:cNvPr id="4" name="Shape 2"/>
          <p:cNvSpPr/>
          <p:nvPr/>
        </p:nvSpPr>
        <p:spPr>
          <a:xfrm>
            <a:off x="1783080" y="1993392"/>
            <a:ext cx="301752" cy="54864"/>
          </a:xfrm>
          <a:prstGeom prst="rect">
            <a:avLst/>
          </a:prstGeom>
          <a:solidFill>
            <a:srgbClr val="8888AA"/>
          </a:solidFill>
          <a:ln w="12700">
            <a:solidFill>
              <a:srgbClr val="8888AA"/>
            </a:solidFill>
            <a:prstDash val="solid"/>
          </a:ln>
        </p:spPr>
      </p:sp>
      <p:sp>
        <p:nvSpPr>
          <p:cNvPr id="5" name="Text 3"/>
          <p:cNvSpPr/>
          <p:nvPr/>
        </p:nvSpPr>
        <p:spPr>
          <a:xfrm>
            <a:off x="1828800" y="1874520"/>
            <a:ext cx="228600" cy="274320"/>
          </a:xfrm>
          <a:prstGeom prst="rect">
            <a:avLst/>
          </a:prstGeom>
          <a:noFill/>
          <a:ln/>
        </p:spPr>
        <p:txBody>
          <a:bodyPr wrap="square" rtlCol="0" anchor="ctr"/>
          <a:lstStyle/>
          <a:p>
            <a:pPr marL="0" indent="0">
              <a:buNone/>
            </a:pPr>
            <a:r>
              <a:rPr lang="en-US" sz="1100" dirty="0">
                <a:solidFill>
                  <a:srgbClr val="8888AA"/>
                </a:solidFill>
                <a:latin typeface="Calibri" pitchFamily="34" charset="0"/>
                <a:ea typeface="Calibri" pitchFamily="34" charset="-122"/>
                <a:cs typeface="Calibri" pitchFamily="34" charset="-120"/>
              </a:rPr>
              <a:t>▶</a:t>
            </a:r>
            <a:endParaRPr lang="en-US" sz="1100" dirty="0"/>
          </a:p>
        </p:txBody>
      </p:sp>
      <p:sp>
        <p:nvSpPr>
          <p:cNvPr id="6" name="Shape 4"/>
          <p:cNvSpPr/>
          <p:nvPr/>
        </p:nvSpPr>
        <p:spPr>
          <a:xfrm>
            <a:off x="365760" y="1005840"/>
            <a:ext cx="1417320" cy="2286000"/>
          </a:xfrm>
          <a:prstGeom prst="rect">
            <a:avLst/>
          </a:prstGeom>
          <a:solidFill>
            <a:srgbClr val="1A1C35"/>
          </a:solidFill>
          <a:ln w="19050">
            <a:solidFill>
              <a:srgbClr val="4A90D9"/>
            </a:solidFill>
            <a:prstDash val="solid"/>
          </a:ln>
          <a:effectLst>
            <a:outerShdw blurRad="101600" dist="38100" dir="8100000" algn="bl" rotWithShape="0">
              <a:srgbClr val="000000">
                <a:alpha val="30000"/>
              </a:srgbClr>
            </a:outerShdw>
          </a:effectLst>
        </p:spPr>
      </p:sp>
      <p:sp>
        <p:nvSpPr>
          <p:cNvPr id="7" name="Shape 5"/>
          <p:cNvSpPr/>
          <p:nvPr/>
        </p:nvSpPr>
        <p:spPr>
          <a:xfrm>
            <a:off x="365760" y="1005840"/>
            <a:ext cx="1417320" cy="64008"/>
          </a:xfrm>
          <a:prstGeom prst="rect">
            <a:avLst/>
          </a:prstGeom>
          <a:solidFill>
            <a:srgbClr val="4A90D9"/>
          </a:solidFill>
          <a:ln w="12700">
            <a:solidFill>
              <a:srgbClr val="4A90D9"/>
            </a:solidFill>
            <a:prstDash val="solid"/>
          </a:ln>
        </p:spPr>
      </p:sp>
      <p:sp>
        <p:nvSpPr>
          <p:cNvPr id="8" name="Text 6"/>
          <p:cNvSpPr/>
          <p:nvPr/>
        </p:nvSpPr>
        <p:spPr>
          <a:xfrm>
            <a:off x="365760" y="1097280"/>
            <a:ext cx="141732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9" name="Text 7"/>
          <p:cNvSpPr/>
          <p:nvPr/>
        </p:nvSpPr>
        <p:spPr>
          <a:xfrm>
            <a:off x="365760" y="1600200"/>
            <a:ext cx="141732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Collection</a:t>
            </a:r>
            <a:endParaRPr lang="en-US" sz="1300" dirty="0"/>
          </a:p>
        </p:txBody>
      </p:sp>
      <p:sp>
        <p:nvSpPr>
          <p:cNvPr id="10" name="Text 8"/>
          <p:cNvSpPr/>
          <p:nvPr/>
        </p:nvSpPr>
        <p:spPr>
          <a:xfrm>
            <a:off x="438912" y="1965960"/>
            <a:ext cx="1280160" cy="822960"/>
          </a:xfrm>
          <a:prstGeom prst="rect">
            <a:avLst/>
          </a:prstGeom>
          <a:noFill/>
          <a:ln/>
        </p:spPr>
        <p:txBody>
          <a:bodyPr wrap="square" rtlCol="0" anchor="ctr"/>
          <a:lstStyle/>
          <a:p>
            <a:pPr marL="0" indent="0" algn="ctr">
              <a:buNone/>
            </a:pPr>
            <a:r>
              <a:rPr lang="en-US" sz="1000" dirty="0">
                <a:solidFill>
                  <a:srgbClr val="8888AA"/>
                </a:solidFill>
                <a:latin typeface="Calibri" pitchFamily="34" charset="0"/>
                <a:ea typeface="Calibri" pitchFamily="34" charset="-122"/>
                <a:cs typeface="Calibri" pitchFamily="34" charset="-120"/>
              </a:rPr>
              <a:t>Kaggle API</a:t>
            </a:r>
            <a:endParaRPr lang="en-US" sz="1000" dirty="0"/>
          </a:p>
          <a:p>
            <a:pPr marL="0" indent="0" algn="ctr">
              <a:buNone/>
            </a:pPr>
            <a:r>
              <a:rPr lang="en-US" sz="1000" dirty="0">
                <a:solidFill>
                  <a:srgbClr val="8888AA"/>
                </a:solidFill>
                <a:latin typeface="Calibri" pitchFamily="34" charset="0"/>
                <a:ea typeface="Calibri" pitchFamily="34" charset="-122"/>
                <a:cs typeface="Calibri" pitchFamily="34" charset="-120"/>
              </a:rPr>
              <a:t>CSV/JSON load</a:t>
            </a:r>
            <a:endParaRPr lang="en-US" sz="1000" dirty="0"/>
          </a:p>
        </p:txBody>
      </p:sp>
      <p:sp>
        <p:nvSpPr>
          <p:cNvPr id="11" name="Shape 9"/>
          <p:cNvSpPr/>
          <p:nvPr/>
        </p:nvSpPr>
        <p:spPr>
          <a:xfrm>
            <a:off x="3502152" y="1993392"/>
            <a:ext cx="301752" cy="54864"/>
          </a:xfrm>
          <a:prstGeom prst="rect">
            <a:avLst/>
          </a:prstGeom>
          <a:solidFill>
            <a:srgbClr val="8888AA"/>
          </a:solidFill>
          <a:ln w="12700">
            <a:solidFill>
              <a:srgbClr val="8888AA"/>
            </a:solidFill>
            <a:prstDash val="solid"/>
          </a:ln>
        </p:spPr>
      </p:sp>
      <p:sp>
        <p:nvSpPr>
          <p:cNvPr id="12" name="Text 10"/>
          <p:cNvSpPr/>
          <p:nvPr/>
        </p:nvSpPr>
        <p:spPr>
          <a:xfrm>
            <a:off x="3547872" y="1874520"/>
            <a:ext cx="228600" cy="274320"/>
          </a:xfrm>
          <a:prstGeom prst="rect">
            <a:avLst/>
          </a:prstGeom>
          <a:noFill/>
          <a:ln/>
        </p:spPr>
        <p:txBody>
          <a:bodyPr wrap="square" rtlCol="0" anchor="ctr"/>
          <a:lstStyle/>
          <a:p>
            <a:pPr marL="0" indent="0">
              <a:buNone/>
            </a:pPr>
            <a:r>
              <a:rPr lang="en-US" sz="1100" dirty="0">
                <a:solidFill>
                  <a:srgbClr val="8888AA"/>
                </a:solidFill>
                <a:latin typeface="Calibri" pitchFamily="34" charset="0"/>
                <a:ea typeface="Calibri" pitchFamily="34" charset="-122"/>
                <a:cs typeface="Calibri" pitchFamily="34" charset="-120"/>
              </a:rPr>
              <a:t>▶</a:t>
            </a:r>
            <a:endParaRPr lang="en-US" sz="1100" dirty="0"/>
          </a:p>
        </p:txBody>
      </p:sp>
      <p:sp>
        <p:nvSpPr>
          <p:cNvPr id="13" name="Shape 11"/>
          <p:cNvSpPr/>
          <p:nvPr/>
        </p:nvSpPr>
        <p:spPr>
          <a:xfrm>
            <a:off x="2084832" y="1005840"/>
            <a:ext cx="1417320" cy="2286000"/>
          </a:xfrm>
          <a:prstGeom prst="rect">
            <a:avLst/>
          </a:prstGeom>
          <a:solidFill>
            <a:srgbClr val="1A1C35"/>
          </a:solidFill>
          <a:ln w="19050">
            <a:solidFill>
              <a:srgbClr val="00C2CB"/>
            </a:solidFill>
            <a:prstDash val="solid"/>
          </a:ln>
          <a:effectLst>
            <a:outerShdw blurRad="101600" dist="38100" dir="8100000" algn="bl" rotWithShape="0">
              <a:srgbClr val="000000">
                <a:alpha val="30000"/>
              </a:srgbClr>
            </a:outerShdw>
          </a:effectLst>
        </p:spPr>
      </p:sp>
      <p:sp>
        <p:nvSpPr>
          <p:cNvPr id="14" name="Shape 12"/>
          <p:cNvSpPr/>
          <p:nvPr/>
        </p:nvSpPr>
        <p:spPr>
          <a:xfrm>
            <a:off x="2084832" y="1005840"/>
            <a:ext cx="1417320" cy="64008"/>
          </a:xfrm>
          <a:prstGeom prst="rect">
            <a:avLst/>
          </a:prstGeom>
          <a:solidFill>
            <a:srgbClr val="00C2CB"/>
          </a:solidFill>
          <a:ln w="12700">
            <a:solidFill>
              <a:srgbClr val="00C2CB"/>
            </a:solidFill>
            <a:prstDash val="solid"/>
          </a:ln>
        </p:spPr>
      </p:sp>
      <p:sp>
        <p:nvSpPr>
          <p:cNvPr id="15" name="Text 13"/>
          <p:cNvSpPr/>
          <p:nvPr/>
        </p:nvSpPr>
        <p:spPr>
          <a:xfrm>
            <a:off x="2084832" y="1097280"/>
            <a:ext cx="141732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6" name="Text 14"/>
          <p:cNvSpPr/>
          <p:nvPr/>
        </p:nvSpPr>
        <p:spPr>
          <a:xfrm>
            <a:off x="2084832" y="1600200"/>
            <a:ext cx="141732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Cleaning</a:t>
            </a:r>
            <a:endParaRPr lang="en-US" sz="1300" dirty="0"/>
          </a:p>
        </p:txBody>
      </p:sp>
      <p:sp>
        <p:nvSpPr>
          <p:cNvPr id="17" name="Text 15"/>
          <p:cNvSpPr/>
          <p:nvPr/>
        </p:nvSpPr>
        <p:spPr>
          <a:xfrm>
            <a:off x="2157984" y="1965960"/>
            <a:ext cx="1280160" cy="822960"/>
          </a:xfrm>
          <a:prstGeom prst="rect">
            <a:avLst/>
          </a:prstGeom>
          <a:noFill/>
          <a:ln/>
        </p:spPr>
        <p:txBody>
          <a:bodyPr wrap="square" rtlCol="0" anchor="ctr"/>
          <a:lstStyle/>
          <a:p>
            <a:pPr marL="0" indent="0" algn="ctr">
              <a:buNone/>
            </a:pPr>
            <a:r>
              <a:rPr lang="en-US" sz="1000" dirty="0">
                <a:solidFill>
                  <a:srgbClr val="8888AA"/>
                </a:solidFill>
                <a:latin typeface="Calibri" pitchFamily="34" charset="0"/>
                <a:ea typeface="Calibri" pitchFamily="34" charset="-122"/>
                <a:cs typeface="Calibri" pitchFamily="34" charset="-120"/>
              </a:rPr>
              <a:t>Nulls, duplicates</a:t>
            </a:r>
            <a:endParaRPr lang="en-US" sz="1000" dirty="0"/>
          </a:p>
          <a:p>
            <a:pPr marL="0" indent="0" algn="ctr">
              <a:buNone/>
            </a:pPr>
            <a:r>
              <a:rPr lang="en-US" sz="1000" dirty="0">
                <a:solidFill>
                  <a:srgbClr val="8888AA"/>
                </a:solidFill>
                <a:latin typeface="Calibri" pitchFamily="34" charset="0"/>
                <a:ea typeface="Calibri" pitchFamily="34" charset="-122"/>
                <a:cs typeface="Calibri" pitchFamily="34" charset="-120"/>
              </a:rPr>
              <a:t>currency normalize</a:t>
            </a:r>
            <a:endParaRPr lang="en-US" sz="1000" dirty="0"/>
          </a:p>
        </p:txBody>
      </p:sp>
      <p:sp>
        <p:nvSpPr>
          <p:cNvPr id="18" name="Shape 16"/>
          <p:cNvSpPr/>
          <p:nvPr/>
        </p:nvSpPr>
        <p:spPr>
          <a:xfrm>
            <a:off x="5221224" y="1993392"/>
            <a:ext cx="301752" cy="54864"/>
          </a:xfrm>
          <a:prstGeom prst="rect">
            <a:avLst/>
          </a:prstGeom>
          <a:solidFill>
            <a:srgbClr val="8888AA"/>
          </a:solidFill>
          <a:ln w="12700">
            <a:solidFill>
              <a:srgbClr val="8888AA"/>
            </a:solidFill>
            <a:prstDash val="solid"/>
          </a:ln>
        </p:spPr>
      </p:sp>
      <p:sp>
        <p:nvSpPr>
          <p:cNvPr id="19" name="Text 17"/>
          <p:cNvSpPr/>
          <p:nvPr/>
        </p:nvSpPr>
        <p:spPr>
          <a:xfrm>
            <a:off x="5266944" y="1874520"/>
            <a:ext cx="228600" cy="274320"/>
          </a:xfrm>
          <a:prstGeom prst="rect">
            <a:avLst/>
          </a:prstGeom>
          <a:noFill/>
          <a:ln/>
        </p:spPr>
        <p:txBody>
          <a:bodyPr wrap="square" rtlCol="0" anchor="ctr"/>
          <a:lstStyle/>
          <a:p>
            <a:pPr marL="0" indent="0">
              <a:buNone/>
            </a:pPr>
            <a:r>
              <a:rPr lang="en-US" sz="1100" dirty="0">
                <a:solidFill>
                  <a:srgbClr val="8888AA"/>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3803904" y="1005840"/>
            <a:ext cx="1417320" cy="2286000"/>
          </a:xfrm>
          <a:prstGeom prst="rect">
            <a:avLst/>
          </a:prstGeom>
          <a:solidFill>
            <a:srgbClr val="1A1C35"/>
          </a:solidFill>
          <a:ln w="19050">
            <a:solidFill>
              <a:srgbClr val="9B59B6"/>
            </a:solidFill>
            <a:prstDash val="solid"/>
          </a:ln>
          <a:effectLst>
            <a:outerShdw blurRad="101600" dist="38100" dir="8100000" algn="bl" rotWithShape="0">
              <a:srgbClr val="000000">
                <a:alpha val="30000"/>
              </a:srgbClr>
            </a:outerShdw>
          </a:effectLst>
        </p:spPr>
      </p:sp>
      <p:sp>
        <p:nvSpPr>
          <p:cNvPr id="21" name="Shape 19"/>
          <p:cNvSpPr/>
          <p:nvPr/>
        </p:nvSpPr>
        <p:spPr>
          <a:xfrm>
            <a:off x="3803904" y="1005840"/>
            <a:ext cx="1417320" cy="64008"/>
          </a:xfrm>
          <a:prstGeom prst="rect">
            <a:avLst/>
          </a:prstGeom>
          <a:solidFill>
            <a:srgbClr val="9B59B6"/>
          </a:solidFill>
          <a:ln w="12700">
            <a:solidFill>
              <a:srgbClr val="9B59B6"/>
            </a:solidFill>
            <a:prstDash val="solid"/>
          </a:ln>
        </p:spPr>
      </p:sp>
      <p:sp>
        <p:nvSpPr>
          <p:cNvPr id="22" name="Text 20"/>
          <p:cNvSpPr/>
          <p:nvPr/>
        </p:nvSpPr>
        <p:spPr>
          <a:xfrm>
            <a:off x="3803904" y="1097280"/>
            <a:ext cx="141732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3" name="Text 21"/>
          <p:cNvSpPr/>
          <p:nvPr/>
        </p:nvSpPr>
        <p:spPr>
          <a:xfrm>
            <a:off x="3803904" y="1600200"/>
            <a:ext cx="141732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Joining</a:t>
            </a:r>
            <a:endParaRPr lang="en-US" sz="1300" dirty="0"/>
          </a:p>
        </p:txBody>
      </p:sp>
      <p:sp>
        <p:nvSpPr>
          <p:cNvPr id="24" name="Text 22"/>
          <p:cNvSpPr/>
          <p:nvPr/>
        </p:nvSpPr>
        <p:spPr>
          <a:xfrm>
            <a:off x="3877056" y="1965960"/>
            <a:ext cx="1280160" cy="822960"/>
          </a:xfrm>
          <a:prstGeom prst="rect">
            <a:avLst/>
          </a:prstGeom>
          <a:noFill/>
          <a:ln/>
        </p:spPr>
        <p:txBody>
          <a:bodyPr wrap="square" rtlCol="0" anchor="ctr"/>
          <a:lstStyle/>
          <a:p>
            <a:pPr marL="0" indent="0" algn="ctr">
              <a:buNone/>
            </a:pPr>
            <a:r>
              <a:rPr lang="en-US" sz="1000" dirty="0">
                <a:solidFill>
                  <a:srgbClr val="8888AA"/>
                </a:solidFill>
                <a:latin typeface="Calibri" pitchFamily="34" charset="0"/>
                <a:ea typeface="Calibri" pitchFamily="34" charset="-122"/>
                <a:cs typeface="Calibri" pitchFamily="34" charset="-120"/>
              </a:rPr>
              <a:t>Title + year key</a:t>
            </a:r>
            <a:endParaRPr lang="en-US" sz="1000" dirty="0"/>
          </a:p>
          <a:p>
            <a:pPr marL="0" indent="0" algn="ctr">
              <a:buNone/>
            </a:pPr>
            <a:r>
              <a:rPr lang="en-US" sz="1000" dirty="0">
                <a:solidFill>
                  <a:srgbClr val="8888AA"/>
                </a:solidFill>
                <a:latin typeface="Calibri" pitchFamily="34" charset="0"/>
                <a:ea typeface="Calibri" pitchFamily="34" charset="-122"/>
                <a:cs typeface="Calibri" pitchFamily="34" charset="-120"/>
              </a:rPr>
              <a:t>merge 4 datasets</a:t>
            </a:r>
            <a:endParaRPr lang="en-US" sz="1000" dirty="0"/>
          </a:p>
        </p:txBody>
      </p:sp>
      <p:sp>
        <p:nvSpPr>
          <p:cNvPr id="25" name="Shape 23"/>
          <p:cNvSpPr/>
          <p:nvPr/>
        </p:nvSpPr>
        <p:spPr>
          <a:xfrm>
            <a:off x="6940296" y="1993392"/>
            <a:ext cx="301752" cy="54864"/>
          </a:xfrm>
          <a:prstGeom prst="rect">
            <a:avLst/>
          </a:prstGeom>
          <a:solidFill>
            <a:srgbClr val="8888AA"/>
          </a:solidFill>
          <a:ln w="12700">
            <a:solidFill>
              <a:srgbClr val="8888AA"/>
            </a:solidFill>
            <a:prstDash val="solid"/>
          </a:ln>
        </p:spPr>
      </p:sp>
      <p:sp>
        <p:nvSpPr>
          <p:cNvPr id="26" name="Text 24"/>
          <p:cNvSpPr/>
          <p:nvPr/>
        </p:nvSpPr>
        <p:spPr>
          <a:xfrm>
            <a:off x="6986016" y="1874520"/>
            <a:ext cx="228600" cy="274320"/>
          </a:xfrm>
          <a:prstGeom prst="rect">
            <a:avLst/>
          </a:prstGeom>
          <a:noFill/>
          <a:ln/>
        </p:spPr>
        <p:txBody>
          <a:bodyPr wrap="square" rtlCol="0" anchor="ctr"/>
          <a:lstStyle/>
          <a:p>
            <a:pPr marL="0" indent="0">
              <a:buNone/>
            </a:pPr>
            <a:r>
              <a:rPr lang="en-US" sz="1100" dirty="0">
                <a:solidFill>
                  <a:srgbClr val="8888AA"/>
                </a:solidFill>
                <a:latin typeface="Calibri" pitchFamily="34" charset="0"/>
                <a:ea typeface="Calibri" pitchFamily="34" charset="-122"/>
                <a:cs typeface="Calibri" pitchFamily="34" charset="-120"/>
              </a:rPr>
              <a:t>▶</a:t>
            </a:r>
            <a:endParaRPr lang="en-US" sz="1100" dirty="0"/>
          </a:p>
        </p:txBody>
      </p:sp>
      <p:sp>
        <p:nvSpPr>
          <p:cNvPr id="27" name="Shape 25"/>
          <p:cNvSpPr/>
          <p:nvPr/>
        </p:nvSpPr>
        <p:spPr>
          <a:xfrm>
            <a:off x="5522976" y="1005840"/>
            <a:ext cx="1417320" cy="2286000"/>
          </a:xfrm>
          <a:prstGeom prst="rect">
            <a:avLst/>
          </a:prstGeom>
          <a:solidFill>
            <a:srgbClr val="1A1C35"/>
          </a:solidFill>
          <a:ln w="19050">
            <a:solidFill>
              <a:srgbClr val="E67E22"/>
            </a:solidFill>
            <a:prstDash val="solid"/>
          </a:ln>
          <a:effectLst>
            <a:outerShdw blurRad="101600" dist="38100" dir="8100000" algn="bl" rotWithShape="0">
              <a:srgbClr val="000000">
                <a:alpha val="30000"/>
              </a:srgbClr>
            </a:outerShdw>
          </a:effectLst>
        </p:spPr>
      </p:sp>
      <p:sp>
        <p:nvSpPr>
          <p:cNvPr id="28" name="Shape 26"/>
          <p:cNvSpPr/>
          <p:nvPr/>
        </p:nvSpPr>
        <p:spPr>
          <a:xfrm>
            <a:off x="5522976" y="1005840"/>
            <a:ext cx="1417320" cy="64008"/>
          </a:xfrm>
          <a:prstGeom prst="rect">
            <a:avLst/>
          </a:prstGeom>
          <a:solidFill>
            <a:srgbClr val="E67E22"/>
          </a:solidFill>
          <a:ln w="12700">
            <a:solidFill>
              <a:srgbClr val="E67E22"/>
            </a:solidFill>
            <a:prstDash val="solid"/>
          </a:ln>
        </p:spPr>
      </p:sp>
      <p:sp>
        <p:nvSpPr>
          <p:cNvPr id="29" name="Text 27"/>
          <p:cNvSpPr/>
          <p:nvPr/>
        </p:nvSpPr>
        <p:spPr>
          <a:xfrm>
            <a:off x="5522976" y="1097280"/>
            <a:ext cx="141732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0" name="Text 28"/>
          <p:cNvSpPr/>
          <p:nvPr/>
        </p:nvSpPr>
        <p:spPr>
          <a:xfrm>
            <a:off x="5522976" y="1600200"/>
            <a:ext cx="141732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Analysis</a:t>
            </a:r>
            <a:endParaRPr lang="en-US" sz="1300" dirty="0"/>
          </a:p>
        </p:txBody>
      </p:sp>
      <p:sp>
        <p:nvSpPr>
          <p:cNvPr id="31" name="Text 29"/>
          <p:cNvSpPr/>
          <p:nvPr/>
        </p:nvSpPr>
        <p:spPr>
          <a:xfrm>
            <a:off x="5596128" y="1965960"/>
            <a:ext cx="1280160" cy="822960"/>
          </a:xfrm>
          <a:prstGeom prst="rect">
            <a:avLst/>
          </a:prstGeom>
          <a:noFill/>
          <a:ln/>
        </p:spPr>
        <p:txBody>
          <a:bodyPr wrap="square" rtlCol="0" anchor="ctr"/>
          <a:lstStyle/>
          <a:p>
            <a:pPr marL="0" indent="0" algn="ctr">
              <a:buNone/>
            </a:pPr>
            <a:r>
              <a:rPr lang="en-US" sz="1000" dirty="0">
                <a:solidFill>
                  <a:srgbClr val="8888AA"/>
                </a:solidFill>
                <a:latin typeface="Calibri" pitchFamily="34" charset="0"/>
                <a:ea typeface="Calibri" pitchFamily="34" charset="-122"/>
                <a:cs typeface="Calibri" pitchFamily="34" charset="-120"/>
              </a:rPr>
              <a:t>EDA, correlation</a:t>
            </a:r>
            <a:endParaRPr lang="en-US" sz="1000" dirty="0"/>
          </a:p>
          <a:p>
            <a:pPr marL="0" indent="0" algn="ctr">
              <a:buNone/>
            </a:pPr>
            <a:r>
              <a:rPr lang="en-US" sz="1000" dirty="0">
                <a:solidFill>
                  <a:srgbClr val="8888AA"/>
                </a:solidFill>
                <a:latin typeface="Calibri" pitchFamily="34" charset="0"/>
                <a:ea typeface="Calibri" pitchFamily="34" charset="-122"/>
                <a:cs typeface="Calibri" pitchFamily="34" charset="-120"/>
              </a:rPr>
              <a:t>genre breakdown</a:t>
            </a:r>
            <a:endParaRPr lang="en-US" sz="1000" dirty="0"/>
          </a:p>
        </p:txBody>
      </p:sp>
      <p:sp>
        <p:nvSpPr>
          <p:cNvPr id="32" name="Shape 30"/>
          <p:cNvSpPr/>
          <p:nvPr/>
        </p:nvSpPr>
        <p:spPr>
          <a:xfrm>
            <a:off x="7242048" y="1005840"/>
            <a:ext cx="1417320" cy="2286000"/>
          </a:xfrm>
          <a:prstGeom prst="rect">
            <a:avLst/>
          </a:prstGeom>
          <a:solidFill>
            <a:srgbClr val="1A1C35"/>
          </a:solidFill>
          <a:ln w="19050">
            <a:solidFill>
              <a:srgbClr val="27AE60"/>
            </a:solidFill>
            <a:prstDash val="solid"/>
          </a:ln>
          <a:effectLst>
            <a:outerShdw blurRad="101600" dist="38100" dir="8100000" algn="bl" rotWithShape="0">
              <a:srgbClr val="000000">
                <a:alpha val="30000"/>
              </a:srgbClr>
            </a:outerShdw>
          </a:effectLst>
        </p:spPr>
      </p:sp>
      <p:sp>
        <p:nvSpPr>
          <p:cNvPr id="33" name="Shape 31"/>
          <p:cNvSpPr/>
          <p:nvPr/>
        </p:nvSpPr>
        <p:spPr>
          <a:xfrm>
            <a:off x="7242048" y="1005840"/>
            <a:ext cx="1417320" cy="64008"/>
          </a:xfrm>
          <a:prstGeom prst="rect">
            <a:avLst/>
          </a:prstGeom>
          <a:solidFill>
            <a:srgbClr val="27AE60"/>
          </a:solidFill>
          <a:ln w="12700">
            <a:solidFill>
              <a:srgbClr val="27AE60"/>
            </a:solidFill>
            <a:prstDash val="solid"/>
          </a:ln>
        </p:spPr>
      </p:sp>
      <p:sp>
        <p:nvSpPr>
          <p:cNvPr id="34" name="Text 32"/>
          <p:cNvSpPr/>
          <p:nvPr/>
        </p:nvSpPr>
        <p:spPr>
          <a:xfrm>
            <a:off x="7242048" y="1097280"/>
            <a:ext cx="141732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5" name="Text 33"/>
          <p:cNvSpPr/>
          <p:nvPr/>
        </p:nvSpPr>
        <p:spPr>
          <a:xfrm>
            <a:off x="7242048" y="1600200"/>
            <a:ext cx="141732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p>
        </p:txBody>
      </p:sp>
      <p:sp>
        <p:nvSpPr>
          <p:cNvPr id="36" name="Text 34"/>
          <p:cNvSpPr/>
          <p:nvPr/>
        </p:nvSpPr>
        <p:spPr>
          <a:xfrm>
            <a:off x="7315200" y="1965960"/>
            <a:ext cx="1280160" cy="822960"/>
          </a:xfrm>
          <a:prstGeom prst="rect">
            <a:avLst/>
          </a:prstGeom>
          <a:noFill/>
          <a:ln/>
        </p:spPr>
        <p:txBody>
          <a:bodyPr wrap="square" rtlCol="0" anchor="ctr"/>
          <a:lstStyle/>
          <a:p>
            <a:pPr marL="0" indent="0" algn="ctr">
              <a:buNone/>
            </a:pPr>
            <a:r>
              <a:rPr lang="en-US" sz="1000" dirty="0">
                <a:solidFill>
                  <a:srgbClr val="8888AA"/>
                </a:solidFill>
                <a:latin typeface="Calibri" pitchFamily="34" charset="0"/>
                <a:ea typeface="Calibri" pitchFamily="34" charset="-122"/>
                <a:cs typeface="Calibri" pitchFamily="34" charset="-120"/>
              </a:rPr>
              <a:t>Dashboard</a:t>
            </a:r>
            <a:endParaRPr lang="en-US" sz="1000" dirty="0"/>
          </a:p>
          <a:p>
            <a:pPr marL="0" indent="0" algn="ctr">
              <a:buNone/>
            </a:pPr>
            <a:r>
              <a:rPr lang="en-US" sz="1000" dirty="0">
                <a:solidFill>
                  <a:srgbClr val="8888AA"/>
                </a:solidFill>
                <a:latin typeface="Calibri" pitchFamily="34" charset="0"/>
                <a:ea typeface="Calibri" pitchFamily="34" charset="-122"/>
                <a:cs typeface="Calibri" pitchFamily="34" charset="-120"/>
              </a:rPr>
              <a:t>Final report</a:t>
            </a:r>
            <a:endParaRPr lang="en-US" sz="1000" dirty="0"/>
          </a:p>
        </p:txBody>
      </p:sp>
      <p:sp>
        <p:nvSpPr>
          <p:cNvPr id="37" name="Text 35"/>
          <p:cNvSpPr/>
          <p:nvPr/>
        </p:nvSpPr>
        <p:spPr>
          <a:xfrm>
            <a:off x="457200" y="3456432"/>
            <a:ext cx="8229600" cy="347472"/>
          </a:xfrm>
          <a:prstGeom prst="rect">
            <a:avLst/>
          </a:prstGeom>
          <a:noFill/>
          <a:ln/>
        </p:spPr>
        <p:txBody>
          <a:bodyPr wrap="square" rtlCol="0" anchor="ctr"/>
          <a:lstStyle/>
          <a:p>
            <a:pPr marL="0" indent="0">
              <a:buNone/>
            </a:pPr>
            <a:r>
              <a:rPr lang="en-US" sz="1600" b="1" dirty="0">
                <a:solidFill>
                  <a:srgbClr val="00C2CB"/>
                </a:solidFill>
                <a:latin typeface="Calibri" pitchFamily="34" charset="0"/>
                <a:ea typeface="Calibri" pitchFamily="34" charset="-122"/>
                <a:cs typeface="Calibri" pitchFamily="34" charset="-120"/>
              </a:rPr>
              <a:t>Tools &amp; Technologies</a:t>
            </a:r>
            <a:endParaRPr lang="en-US" sz="1600" dirty="0"/>
          </a:p>
        </p:txBody>
      </p:sp>
      <p:sp>
        <p:nvSpPr>
          <p:cNvPr id="38" name="Shape 36"/>
          <p:cNvSpPr/>
          <p:nvPr/>
        </p:nvSpPr>
        <p:spPr>
          <a:xfrm>
            <a:off x="365760" y="3886200"/>
            <a:ext cx="2788920" cy="411480"/>
          </a:xfrm>
          <a:prstGeom prst="rect">
            <a:avLst/>
          </a:prstGeom>
          <a:solidFill>
            <a:srgbClr val="1A1C35"/>
          </a:solidFill>
          <a:ln w="6350">
            <a:solidFill>
              <a:srgbClr val="2A2D50"/>
            </a:solidFill>
            <a:prstDash val="solid"/>
          </a:ln>
        </p:spPr>
      </p:sp>
      <p:sp>
        <p:nvSpPr>
          <p:cNvPr id="39" name="Text 37"/>
          <p:cNvSpPr/>
          <p:nvPr/>
        </p:nvSpPr>
        <p:spPr>
          <a:xfrm>
            <a:off x="457200" y="3886200"/>
            <a:ext cx="914400" cy="411480"/>
          </a:xfrm>
          <a:prstGeom prst="rect">
            <a:avLst/>
          </a:prstGeom>
          <a:noFill/>
          <a:ln/>
        </p:spPr>
        <p:txBody>
          <a:bodyPr wrap="square" rtlCol="0" anchor="ctr"/>
          <a:lstStyle/>
          <a:p>
            <a:pPr marL="0" indent="0">
              <a:buNone/>
            </a:pPr>
            <a:r>
              <a:rPr lang="en-US" sz="1000" b="1" dirty="0">
                <a:solidFill>
                  <a:srgbClr val="F5C518"/>
                </a:solidFill>
                <a:latin typeface="Calibri" pitchFamily="34" charset="0"/>
                <a:ea typeface="Calibri" pitchFamily="34" charset="-122"/>
                <a:cs typeface="Calibri" pitchFamily="34" charset="-120"/>
              </a:rPr>
              <a:t>Ingestion: </a:t>
            </a:r>
            <a:endParaRPr lang="en-US" sz="1000" dirty="0"/>
          </a:p>
        </p:txBody>
      </p:sp>
      <p:sp>
        <p:nvSpPr>
          <p:cNvPr id="40" name="Text 38"/>
          <p:cNvSpPr/>
          <p:nvPr/>
        </p:nvSpPr>
        <p:spPr>
          <a:xfrm>
            <a:off x="1234440" y="3886200"/>
            <a:ext cx="1828800" cy="41148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Python, Kaggle API, requests</a:t>
            </a:r>
            <a:endParaRPr lang="en-US" sz="1000" dirty="0"/>
          </a:p>
        </p:txBody>
      </p:sp>
      <p:sp>
        <p:nvSpPr>
          <p:cNvPr id="41" name="Shape 39"/>
          <p:cNvSpPr/>
          <p:nvPr/>
        </p:nvSpPr>
        <p:spPr>
          <a:xfrm>
            <a:off x="3291840" y="3886200"/>
            <a:ext cx="2788920" cy="411480"/>
          </a:xfrm>
          <a:prstGeom prst="rect">
            <a:avLst/>
          </a:prstGeom>
          <a:solidFill>
            <a:srgbClr val="1A1C35"/>
          </a:solidFill>
          <a:ln w="6350">
            <a:solidFill>
              <a:srgbClr val="2A2D50"/>
            </a:solidFill>
            <a:prstDash val="solid"/>
          </a:ln>
        </p:spPr>
      </p:sp>
      <p:sp>
        <p:nvSpPr>
          <p:cNvPr id="42" name="Text 40"/>
          <p:cNvSpPr/>
          <p:nvPr/>
        </p:nvSpPr>
        <p:spPr>
          <a:xfrm>
            <a:off x="3383280" y="3886200"/>
            <a:ext cx="914400" cy="411480"/>
          </a:xfrm>
          <a:prstGeom prst="rect">
            <a:avLst/>
          </a:prstGeom>
          <a:noFill/>
          <a:ln/>
        </p:spPr>
        <p:txBody>
          <a:bodyPr wrap="square" rtlCol="0" anchor="ctr"/>
          <a:lstStyle/>
          <a:p>
            <a:pPr marL="0" indent="0">
              <a:buNone/>
            </a:pPr>
            <a:r>
              <a:rPr lang="en-US" sz="1000" b="1" dirty="0">
                <a:solidFill>
                  <a:srgbClr val="F5C518"/>
                </a:solidFill>
                <a:latin typeface="Calibri" pitchFamily="34" charset="0"/>
                <a:ea typeface="Calibri" pitchFamily="34" charset="-122"/>
                <a:cs typeface="Calibri" pitchFamily="34" charset="-120"/>
              </a:rPr>
              <a:t>Processing: </a:t>
            </a:r>
            <a:endParaRPr lang="en-US" sz="1000" dirty="0"/>
          </a:p>
        </p:txBody>
      </p:sp>
      <p:sp>
        <p:nvSpPr>
          <p:cNvPr id="43" name="Text 41"/>
          <p:cNvSpPr/>
          <p:nvPr/>
        </p:nvSpPr>
        <p:spPr>
          <a:xfrm>
            <a:off x="4160520" y="3886200"/>
            <a:ext cx="1828800" cy="41148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Pandas, PySpark (Big Data)</a:t>
            </a:r>
            <a:endParaRPr lang="en-US" sz="1000" dirty="0"/>
          </a:p>
        </p:txBody>
      </p:sp>
      <p:sp>
        <p:nvSpPr>
          <p:cNvPr id="44" name="Shape 42"/>
          <p:cNvSpPr/>
          <p:nvPr/>
        </p:nvSpPr>
        <p:spPr>
          <a:xfrm>
            <a:off x="6217920" y="3886200"/>
            <a:ext cx="2788920" cy="411480"/>
          </a:xfrm>
          <a:prstGeom prst="rect">
            <a:avLst/>
          </a:prstGeom>
          <a:solidFill>
            <a:srgbClr val="1A1C35"/>
          </a:solidFill>
          <a:ln w="6350">
            <a:solidFill>
              <a:srgbClr val="2A2D50"/>
            </a:solidFill>
            <a:prstDash val="solid"/>
          </a:ln>
        </p:spPr>
      </p:sp>
      <p:sp>
        <p:nvSpPr>
          <p:cNvPr id="45" name="Text 43"/>
          <p:cNvSpPr/>
          <p:nvPr/>
        </p:nvSpPr>
        <p:spPr>
          <a:xfrm>
            <a:off x="6309360" y="3886200"/>
            <a:ext cx="914400" cy="411480"/>
          </a:xfrm>
          <a:prstGeom prst="rect">
            <a:avLst/>
          </a:prstGeom>
          <a:noFill/>
          <a:ln/>
        </p:spPr>
        <p:txBody>
          <a:bodyPr wrap="square" rtlCol="0" anchor="ctr"/>
          <a:lstStyle/>
          <a:p>
            <a:pPr marL="0" indent="0">
              <a:buNone/>
            </a:pPr>
            <a:r>
              <a:rPr lang="en-US" sz="1000" b="1" dirty="0">
                <a:solidFill>
                  <a:srgbClr val="F5C518"/>
                </a:solidFill>
                <a:latin typeface="Calibri" pitchFamily="34" charset="0"/>
                <a:ea typeface="Calibri" pitchFamily="34" charset="-122"/>
                <a:cs typeface="Calibri" pitchFamily="34" charset="-120"/>
              </a:rPr>
              <a:t>Storage: </a:t>
            </a:r>
            <a:endParaRPr lang="en-US" sz="1000" dirty="0"/>
          </a:p>
        </p:txBody>
      </p:sp>
      <p:sp>
        <p:nvSpPr>
          <p:cNvPr id="46" name="Text 44"/>
          <p:cNvSpPr/>
          <p:nvPr/>
        </p:nvSpPr>
        <p:spPr>
          <a:xfrm>
            <a:off x="7086600" y="3886200"/>
            <a:ext cx="1828800" cy="41148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CSV (raw) → Processed folder</a:t>
            </a:r>
            <a:endParaRPr lang="en-US" sz="1000" dirty="0"/>
          </a:p>
        </p:txBody>
      </p:sp>
      <p:sp>
        <p:nvSpPr>
          <p:cNvPr id="47" name="Shape 45"/>
          <p:cNvSpPr/>
          <p:nvPr/>
        </p:nvSpPr>
        <p:spPr>
          <a:xfrm>
            <a:off x="365760" y="4389120"/>
            <a:ext cx="2788920" cy="411480"/>
          </a:xfrm>
          <a:prstGeom prst="rect">
            <a:avLst/>
          </a:prstGeom>
          <a:solidFill>
            <a:srgbClr val="1A1C35"/>
          </a:solidFill>
          <a:ln w="6350">
            <a:solidFill>
              <a:srgbClr val="2A2D50"/>
            </a:solidFill>
            <a:prstDash val="solid"/>
          </a:ln>
        </p:spPr>
      </p:sp>
      <p:sp>
        <p:nvSpPr>
          <p:cNvPr id="48" name="Text 46"/>
          <p:cNvSpPr/>
          <p:nvPr/>
        </p:nvSpPr>
        <p:spPr>
          <a:xfrm>
            <a:off x="457200" y="4389120"/>
            <a:ext cx="914400" cy="411480"/>
          </a:xfrm>
          <a:prstGeom prst="rect">
            <a:avLst/>
          </a:prstGeom>
          <a:noFill/>
          <a:ln/>
        </p:spPr>
        <p:txBody>
          <a:bodyPr wrap="square" rtlCol="0" anchor="ctr"/>
          <a:lstStyle/>
          <a:p>
            <a:pPr marL="0" indent="0">
              <a:buNone/>
            </a:pPr>
            <a:r>
              <a:rPr lang="en-US" sz="1000" b="1" dirty="0">
                <a:solidFill>
                  <a:srgbClr val="F5C518"/>
                </a:solidFill>
                <a:latin typeface="Calibri" pitchFamily="34" charset="0"/>
                <a:ea typeface="Calibri" pitchFamily="34" charset="-122"/>
                <a:cs typeface="Calibri" pitchFamily="34" charset="-120"/>
              </a:rPr>
              <a:t>Analytics: </a:t>
            </a:r>
            <a:endParaRPr lang="en-US" sz="1000" dirty="0"/>
          </a:p>
        </p:txBody>
      </p:sp>
      <p:sp>
        <p:nvSpPr>
          <p:cNvPr id="49" name="Text 47"/>
          <p:cNvSpPr/>
          <p:nvPr/>
        </p:nvSpPr>
        <p:spPr>
          <a:xfrm>
            <a:off x="1234440" y="4389120"/>
            <a:ext cx="1828800" cy="41148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Python, SQL, Correlation</a:t>
            </a:r>
            <a:endParaRPr lang="en-US" sz="1000" dirty="0"/>
          </a:p>
        </p:txBody>
      </p:sp>
      <p:sp>
        <p:nvSpPr>
          <p:cNvPr id="50" name="Shape 48"/>
          <p:cNvSpPr/>
          <p:nvPr/>
        </p:nvSpPr>
        <p:spPr>
          <a:xfrm>
            <a:off x="3291840" y="4389120"/>
            <a:ext cx="2788920" cy="411480"/>
          </a:xfrm>
          <a:prstGeom prst="rect">
            <a:avLst/>
          </a:prstGeom>
          <a:solidFill>
            <a:srgbClr val="1A1C35"/>
          </a:solidFill>
          <a:ln w="6350">
            <a:solidFill>
              <a:srgbClr val="2A2D50"/>
            </a:solidFill>
            <a:prstDash val="solid"/>
          </a:ln>
        </p:spPr>
      </p:sp>
      <p:sp>
        <p:nvSpPr>
          <p:cNvPr id="51" name="Text 49"/>
          <p:cNvSpPr/>
          <p:nvPr/>
        </p:nvSpPr>
        <p:spPr>
          <a:xfrm>
            <a:off x="3383280" y="4389120"/>
            <a:ext cx="914400" cy="411480"/>
          </a:xfrm>
          <a:prstGeom prst="rect">
            <a:avLst/>
          </a:prstGeom>
          <a:noFill/>
          <a:ln/>
        </p:spPr>
        <p:txBody>
          <a:bodyPr wrap="square" rtlCol="0" anchor="ctr"/>
          <a:lstStyle/>
          <a:p>
            <a:pPr marL="0" indent="0">
              <a:buNone/>
            </a:pPr>
            <a:r>
              <a:rPr lang="en-US" sz="1000" b="1" dirty="0">
                <a:solidFill>
                  <a:srgbClr val="F5C518"/>
                </a:solidFill>
                <a:latin typeface="Calibri" pitchFamily="34" charset="0"/>
                <a:ea typeface="Calibri" pitchFamily="34" charset="-122"/>
                <a:cs typeface="Calibri" pitchFamily="34" charset="-120"/>
              </a:rPr>
              <a:t>Visualization: </a:t>
            </a:r>
            <a:endParaRPr lang="en-US" sz="1000" dirty="0"/>
          </a:p>
        </p:txBody>
      </p:sp>
      <p:sp>
        <p:nvSpPr>
          <p:cNvPr id="52" name="Text 50"/>
          <p:cNvSpPr/>
          <p:nvPr/>
        </p:nvSpPr>
        <p:spPr>
          <a:xfrm>
            <a:off x="4160520" y="4389120"/>
            <a:ext cx="1828800" cy="41148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Power BI / Tableau / Plotly</a:t>
            </a:r>
            <a:endParaRPr lang="en-US" sz="1000" dirty="0"/>
          </a:p>
        </p:txBody>
      </p:sp>
      <p:sp>
        <p:nvSpPr>
          <p:cNvPr id="53" name="Shape 51"/>
          <p:cNvSpPr/>
          <p:nvPr/>
        </p:nvSpPr>
        <p:spPr>
          <a:xfrm>
            <a:off x="6217920" y="4389120"/>
            <a:ext cx="2788920" cy="411480"/>
          </a:xfrm>
          <a:prstGeom prst="rect">
            <a:avLst/>
          </a:prstGeom>
          <a:solidFill>
            <a:srgbClr val="1A1C35"/>
          </a:solidFill>
          <a:ln w="6350">
            <a:solidFill>
              <a:srgbClr val="2A2D50"/>
            </a:solidFill>
            <a:prstDash val="solid"/>
          </a:ln>
        </p:spPr>
      </p:sp>
      <p:sp>
        <p:nvSpPr>
          <p:cNvPr id="54" name="Text 52"/>
          <p:cNvSpPr/>
          <p:nvPr/>
        </p:nvSpPr>
        <p:spPr>
          <a:xfrm>
            <a:off x="6309360" y="4389120"/>
            <a:ext cx="914400" cy="411480"/>
          </a:xfrm>
          <a:prstGeom prst="rect">
            <a:avLst/>
          </a:prstGeom>
          <a:noFill/>
          <a:ln/>
        </p:spPr>
        <p:txBody>
          <a:bodyPr wrap="square" rtlCol="0" anchor="ctr"/>
          <a:lstStyle/>
          <a:p>
            <a:pPr marL="0" indent="0">
              <a:buNone/>
            </a:pPr>
            <a:r>
              <a:rPr lang="en-US" sz="1000" b="1" dirty="0">
                <a:solidFill>
                  <a:srgbClr val="F5C518"/>
                </a:solidFill>
                <a:latin typeface="Calibri" pitchFamily="34" charset="0"/>
                <a:ea typeface="Calibri" pitchFamily="34" charset="-122"/>
                <a:cs typeface="Calibri" pitchFamily="34" charset="-120"/>
              </a:rPr>
              <a:t>Workflow: </a:t>
            </a:r>
            <a:endParaRPr lang="en-US" sz="1000" dirty="0"/>
          </a:p>
        </p:txBody>
      </p:sp>
      <p:sp>
        <p:nvSpPr>
          <p:cNvPr id="55" name="Text 53"/>
          <p:cNvSpPr/>
          <p:nvPr/>
        </p:nvSpPr>
        <p:spPr>
          <a:xfrm>
            <a:off x="7086600" y="4389120"/>
            <a:ext cx="1828800" cy="41148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GitHub, MS Teams, JIRA</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Project Plan &amp; Milestones</a:t>
            </a:r>
            <a:endParaRPr lang="en-US" sz="2800" dirty="0"/>
          </a:p>
        </p:txBody>
      </p:sp>
      <p:sp>
        <p:nvSpPr>
          <p:cNvPr id="3" name="Shape 1"/>
          <p:cNvSpPr/>
          <p:nvPr/>
        </p:nvSpPr>
        <p:spPr>
          <a:xfrm>
            <a:off x="457200" y="804672"/>
            <a:ext cx="1097280" cy="45720"/>
          </a:xfrm>
          <a:prstGeom prst="rect">
            <a:avLst/>
          </a:prstGeom>
          <a:solidFill>
            <a:srgbClr val="F5C518"/>
          </a:solidFill>
          <a:ln w="12700">
            <a:solidFill>
              <a:srgbClr val="F5C518"/>
            </a:solidFill>
            <a:prstDash val="solid"/>
          </a:ln>
        </p:spPr>
      </p:sp>
      <p:sp>
        <p:nvSpPr>
          <p:cNvPr id="4" name="Shape 2"/>
          <p:cNvSpPr/>
          <p:nvPr/>
        </p:nvSpPr>
        <p:spPr>
          <a:xfrm>
            <a:off x="2377440" y="960120"/>
            <a:ext cx="1075944" cy="274320"/>
          </a:xfrm>
          <a:prstGeom prst="rect">
            <a:avLst/>
          </a:prstGeom>
          <a:solidFill>
            <a:srgbClr val="1E2040"/>
          </a:solidFill>
          <a:ln w="6350">
            <a:solidFill>
              <a:srgbClr val="2A2D50"/>
            </a:solidFill>
            <a:prstDash val="solid"/>
          </a:ln>
        </p:spPr>
      </p:sp>
      <p:sp>
        <p:nvSpPr>
          <p:cNvPr id="5" name="Text 3"/>
          <p:cNvSpPr/>
          <p:nvPr/>
        </p:nvSpPr>
        <p:spPr>
          <a:xfrm>
            <a:off x="2377440" y="960120"/>
            <a:ext cx="1075944" cy="274320"/>
          </a:xfrm>
          <a:prstGeom prst="rect">
            <a:avLst/>
          </a:prstGeom>
          <a:noFill/>
          <a:ln/>
        </p:spPr>
        <p:txBody>
          <a:bodyPr wrap="square" rtlCol="0" anchor="ctr"/>
          <a:lstStyle/>
          <a:p>
            <a:pPr marL="0" indent="0" algn="ctr">
              <a:buNone/>
            </a:pPr>
            <a:r>
              <a:rPr lang="en-US" sz="900" dirty="0">
                <a:solidFill>
                  <a:srgbClr val="8888AA"/>
                </a:solidFill>
                <a:latin typeface="Calibri" pitchFamily="34" charset="0"/>
                <a:ea typeface="Calibri" pitchFamily="34" charset="-122"/>
                <a:cs typeface="Calibri" pitchFamily="34" charset="-120"/>
              </a:rPr>
              <a:t>Week 1</a:t>
            </a:r>
            <a:endParaRPr lang="en-US" sz="900" dirty="0"/>
          </a:p>
        </p:txBody>
      </p:sp>
      <p:sp>
        <p:nvSpPr>
          <p:cNvPr id="6" name="Shape 4"/>
          <p:cNvSpPr/>
          <p:nvPr/>
        </p:nvSpPr>
        <p:spPr>
          <a:xfrm>
            <a:off x="3489960" y="960120"/>
            <a:ext cx="1075944" cy="274320"/>
          </a:xfrm>
          <a:prstGeom prst="rect">
            <a:avLst/>
          </a:prstGeom>
          <a:solidFill>
            <a:srgbClr val="1E2040"/>
          </a:solidFill>
          <a:ln w="6350">
            <a:solidFill>
              <a:srgbClr val="2A2D50"/>
            </a:solidFill>
            <a:prstDash val="solid"/>
          </a:ln>
        </p:spPr>
      </p:sp>
      <p:sp>
        <p:nvSpPr>
          <p:cNvPr id="7" name="Text 5"/>
          <p:cNvSpPr/>
          <p:nvPr/>
        </p:nvSpPr>
        <p:spPr>
          <a:xfrm>
            <a:off x="3489960" y="960120"/>
            <a:ext cx="1075944" cy="274320"/>
          </a:xfrm>
          <a:prstGeom prst="rect">
            <a:avLst/>
          </a:prstGeom>
          <a:noFill/>
          <a:ln/>
        </p:spPr>
        <p:txBody>
          <a:bodyPr wrap="square" rtlCol="0" anchor="ctr"/>
          <a:lstStyle/>
          <a:p>
            <a:pPr marL="0" indent="0" algn="ctr">
              <a:buNone/>
            </a:pPr>
            <a:r>
              <a:rPr lang="en-US" sz="900" dirty="0">
                <a:solidFill>
                  <a:srgbClr val="8888AA"/>
                </a:solidFill>
                <a:latin typeface="Calibri" pitchFamily="34" charset="0"/>
                <a:ea typeface="Calibri" pitchFamily="34" charset="-122"/>
                <a:cs typeface="Calibri" pitchFamily="34" charset="-120"/>
              </a:rPr>
              <a:t>Week 2</a:t>
            </a:r>
            <a:endParaRPr lang="en-US" sz="900" dirty="0"/>
          </a:p>
        </p:txBody>
      </p:sp>
      <p:sp>
        <p:nvSpPr>
          <p:cNvPr id="8" name="Shape 6"/>
          <p:cNvSpPr/>
          <p:nvPr/>
        </p:nvSpPr>
        <p:spPr>
          <a:xfrm>
            <a:off x="4602480" y="960120"/>
            <a:ext cx="1075944" cy="274320"/>
          </a:xfrm>
          <a:prstGeom prst="rect">
            <a:avLst/>
          </a:prstGeom>
          <a:solidFill>
            <a:srgbClr val="1E2040"/>
          </a:solidFill>
          <a:ln w="6350">
            <a:solidFill>
              <a:srgbClr val="2A2D50"/>
            </a:solidFill>
            <a:prstDash val="solid"/>
          </a:ln>
        </p:spPr>
      </p:sp>
      <p:sp>
        <p:nvSpPr>
          <p:cNvPr id="9" name="Text 7"/>
          <p:cNvSpPr/>
          <p:nvPr/>
        </p:nvSpPr>
        <p:spPr>
          <a:xfrm>
            <a:off x="4602480" y="960120"/>
            <a:ext cx="1075944" cy="274320"/>
          </a:xfrm>
          <a:prstGeom prst="rect">
            <a:avLst/>
          </a:prstGeom>
          <a:noFill/>
          <a:ln/>
        </p:spPr>
        <p:txBody>
          <a:bodyPr wrap="square" rtlCol="0" anchor="ctr"/>
          <a:lstStyle/>
          <a:p>
            <a:pPr marL="0" indent="0" algn="ctr">
              <a:buNone/>
            </a:pPr>
            <a:r>
              <a:rPr lang="en-US" sz="900" dirty="0">
                <a:solidFill>
                  <a:srgbClr val="8888AA"/>
                </a:solidFill>
                <a:latin typeface="Calibri" pitchFamily="34" charset="0"/>
                <a:ea typeface="Calibri" pitchFamily="34" charset="-122"/>
                <a:cs typeface="Calibri" pitchFamily="34" charset="-120"/>
              </a:rPr>
              <a:t>Week 3</a:t>
            </a:r>
            <a:endParaRPr lang="en-US" sz="900" dirty="0"/>
          </a:p>
        </p:txBody>
      </p:sp>
      <p:sp>
        <p:nvSpPr>
          <p:cNvPr id="10" name="Shape 8"/>
          <p:cNvSpPr/>
          <p:nvPr/>
        </p:nvSpPr>
        <p:spPr>
          <a:xfrm>
            <a:off x="5715000" y="960120"/>
            <a:ext cx="1075944" cy="274320"/>
          </a:xfrm>
          <a:prstGeom prst="rect">
            <a:avLst/>
          </a:prstGeom>
          <a:solidFill>
            <a:srgbClr val="1E2040"/>
          </a:solidFill>
          <a:ln w="6350">
            <a:solidFill>
              <a:srgbClr val="2A2D50"/>
            </a:solidFill>
            <a:prstDash val="solid"/>
          </a:ln>
        </p:spPr>
      </p:sp>
      <p:sp>
        <p:nvSpPr>
          <p:cNvPr id="11" name="Text 9"/>
          <p:cNvSpPr/>
          <p:nvPr/>
        </p:nvSpPr>
        <p:spPr>
          <a:xfrm>
            <a:off x="5715000" y="960120"/>
            <a:ext cx="1075944" cy="274320"/>
          </a:xfrm>
          <a:prstGeom prst="rect">
            <a:avLst/>
          </a:prstGeom>
          <a:noFill/>
          <a:ln/>
        </p:spPr>
        <p:txBody>
          <a:bodyPr wrap="square" rtlCol="0" anchor="ctr"/>
          <a:lstStyle/>
          <a:p>
            <a:pPr marL="0" indent="0" algn="ctr">
              <a:buNone/>
            </a:pPr>
            <a:r>
              <a:rPr lang="en-US" sz="900" dirty="0">
                <a:solidFill>
                  <a:srgbClr val="8888AA"/>
                </a:solidFill>
                <a:latin typeface="Calibri" pitchFamily="34" charset="0"/>
                <a:ea typeface="Calibri" pitchFamily="34" charset="-122"/>
                <a:cs typeface="Calibri" pitchFamily="34" charset="-120"/>
              </a:rPr>
              <a:t>Week 4</a:t>
            </a:r>
            <a:endParaRPr lang="en-US" sz="900" dirty="0"/>
          </a:p>
        </p:txBody>
      </p:sp>
      <p:sp>
        <p:nvSpPr>
          <p:cNvPr id="12" name="Shape 10"/>
          <p:cNvSpPr/>
          <p:nvPr/>
        </p:nvSpPr>
        <p:spPr>
          <a:xfrm>
            <a:off x="6827520" y="960120"/>
            <a:ext cx="1075944" cy="274320"/>
          </a:xfrm>
          <a:prstGeom prst="rect">
            <a:avLst/>
          </a:prstGeom>
          <a:solidFill>
            <a:srgbClr val="1E2040"/>
          </a:solidFill>
          <a:ln w="6350">
            <a:solidFill>
              <a:srgbClr val="2A2D50"/>
            </a:solidFill>
            <a:prstDash val="solid"/>
          </a:ln>
        </p:spPr>
      </p:sp>
      <p:sp>
        <p:nvSpPr>
          <p:cNvPr id="13" name="Text 11"/>
          <p:cNvSpPr/>
          <p:nvPr/>
        </p:nvSpPr>
        <p:spPr>
          <a:xfrm>
            <a:off x="6827520" y="960120"/>
            <a:ext cx="1075944" cy="274320"/>
          </a:xfrm>
          <a:prstGeom prst="rect">
            <a:avLst/>
          </a:prstGeom>
          <a:noFill/>
          <a:ln/>
        </p:spPr>
        <p:txBody>
          <a:bodyPr wrap="square" rtlCol="0" anchor="ctr"/>
          <a:lstStyle/>
          <a:p>
            <a:pPr marL="0" indent="0" algn="ctr">
              <a:buNone/>
            </a:pPr>
            <a:r>
              <a:rPr lang="en-US" sz="900" dirty="0">
                <a:solidFill>
                  <a:srgbClr val="8888AA"/>
                </a:solidFill>
                <a:latin typeface="Calibri" pitchFamily="34" charset="0"/>
                <a:ea typeface="Calibri" pitchFamily="34" charset="-122"/>
                <a:cs typeface="Calibri" pitchFamily="34" charset="-120"/>
              </a:rPr>
              <a:t>Week 5</a:t>
            </a:r>
            <a:endParaRPr lang="en-US" sz="900" dirty="0"/>
          </a:p>
        </p:txBody>
      </p:sp>
      <p:sp>
        <p:nvSpPr>
          <p:cNvPr id="14" name="Shape 12"/>
          <p:cNvSpPr/>
          <p:nvPr/>
        </p:nvSpPr>
        <p:spPr>
          <a:xfrm>
            <a:off x="7940040" y="960120"/>
            <a:ext cx="1075944" cy="274320"/>
          </a:xfrm>
          <a:prstGeom prst="rect">
            <a:avLst/>
          </a:prstGeom>
          <a:solidFill>
            <a:srgbClr val="1E2040"/>
          </a:solidFill>
          <a:ln w="6350">
            <a:solidFill>
              <a:srgbClr val="2A2D50"/>
            </a:solidFill>
            <a:prstDash val="solid"/>
          </a:ln>
        </p:spPr>
      </p:sp>
      <p:sp>
        <p:nvSpPr>
          <p:cNvPr id="15" name="Text 13"/>
          <p:cNvSpPr/>
          <p:nvPr/>
        </p:nvSpPr>
        <p:spPr>
          <a:xfrm>
            <a:off x="7940040" y="960120"/>
            <a:ext cx="1075944" cy="274320"/>
          </a:xfrm>
          <a:prstGeom prst="rect">
            <a:avLst/>
          </a:prstGeom>
          <a:noFill/>
          <a:ln/>
        </p:spPr>
        <p:txBody>
          <a:bodyPr wrap="square" rtlCol="0" anchor="ctr"/>
          <a:lstStyle/>
          <a:p>
            <a:pPr marL="0" indent="0" algn="ctr">
              <a:buNone/>
            </a:pPr>
            <a:r>
              <a:rPr lang="en-US" sz="900" dirty="0">
                <a:solidFill>
                  <a:srgbClr val="8888AA"/>
                </a:solidFill>
                <a:latin typeface="Calibri" pitchFamily="34" charset="0"/>
                <a:ea typeface="Calibri" pitchFamily="34" charset="-122"/>
                <a:cs typeface="Calibri" pitchFamily="34" charset="-120"/>
              </a:rPr>
              <a:t>Week 6</a:t>
            </a:r>
            <a:endParaRPr lang="en-US" sz="900" dirty="0"/>
          </a:p>
        </p:txBody>
      </p:sp>
      <p:sp>
        <p:nvSpPr>
          <p:cNvPr id="16" name="Shape 14"/>
          <p:cNvSpPr/>
          <p:nvPr/>
        </p:nvSpPr>
        <p:spPr>
          <a:xfrm>
            <a:off x="365760" y="1280160"/>
            <a:ext cx="8412480" cy="320040"/>
          </a:xfrm>
          <a:prstGeom prst="rect">
            <a:avLst/>
          </a:prstGeom>
          <a:solidFill>
            <a:srgbClr val="1A1C35"/>
          </a:solidFill>
          <a:ln w="12700">
            <a:solidFill>
              <a:srgbClr val="000000"/>
            </a:solidFill>
            <a:prstDash val="solid"/>
          </a:ln>
        </p:spPr>
      </p:sp>
      <p:sp>
        <p:nvSpPr>
          <p:cNvPr id="17" name="Text 15"/>
          <p:cNvSpPr/>
          <p:nvPr/>
        </p:nvSpPr>
        <p:spPr>
          <a:xfrm>
            <a:off x="365760" y="1280160"/>
            <a:ext cx="566928" cy="320040"/>
          </a:xfrm>
          <a:prstGeom prst="rect">
            <a:avLst/>
          </a:prstGeom>
          <a:noFill/>
          <a:ln/>
        </p:spPr>
        <p:txBody>
          <a:bodyPr wrap="square" rtlCol="0" anchor="ctr"/>
          <a:lstStyle/>
          <a:p>
            <a:pPr marL="0" indent="0" algn="ctr">
              <a:buNone/>
            </a:pPr>
            <a:r>
              <a:rPr lang="en-US" sz="700" b="1" dirty="0">
                <a:solidFill>
                  <a:srgbClr val="8888AA"/>
                </a:solidFill>
                <a:latin typeface="Calibri" pitchFamily="34" charset="0"/>
                <a:ea typeface="Calibri" pitchFamily="34" charset="-122"/>
                <a:cs typeface="Calibri" pitchFamily="34" charset="-120"/>
              </a:rPr>
              <a:t>PLAN</a:t>
            </a:r>
            <a:endParaRPr lang="en-US" sz="700" dirty="0"/>
          </a:p>
        </p:txBody>
      </p:sp>
      <p:sp>
        <p:nvSpPr>
          <p:cNvPr id="18" name="Text 16"/>
          <p:cNvSpPr/>
          <p:nvPr/>
        </p:nvSpPr>
        <p:spPr>
          <a:xfrm>
            <a:off x="960120" y="1280160"/>
            <a:ext cx="1417320" cy="320040"/>
          </a:xfrm>
          <a:prstGeom prst="rect">
            <a:avLst/>
          </a:prstGeom>
          <a:noFill/>
          <a:ln/>
        </p:spPr>
        <p:txBody>
          <a:bodyPr wrap="square" rtlCol="0" anchor="ctr"/>
          <a:lstStyle/>
          <a:p>
            <a:pPr marL="0" indent="0">
              <a:buNone/>
            </a:pPr>
            <a:r>
              <a:rPr lang="en-US" sz="950" dirty="0">
                <a:solidFill>
                  <a:srgbClr val="E8E8F0"/>
                </a:solidFill>
                <a:latin typeface="Calibri" pitchFamily="34" charset="0"/>
                <a:ea typeface="Calibri" pitchFamily="34" charset="-122"/>
                <a:cs typeface="Calibri" pitchFamily="34" charset="-120"/>
              </a:rPr>
              <a:t>Problem Analysis + Design</a:t>
            </a:r>
            <a:endParaRPr lang="en-US" sz="950" dirty="0"/>
          </a:p>
        </p:txBody>
      </p:sp>
      <p:sp>
        <p:nvSpPr>
          <p:cNvPr id="19" name="Shape 17"/>
          <p:cNvSpPr/>
          <p:nvPr/>
        </p:nvSpPr>
        <p:spPr>
          <a:xfrm>
            <a:off x="2414016" y="1335024"/>
            <a:ext cx="1021080" cy="210312"/>
          </a:xfrm>
          <a:prstGeom prst="rect">
            <a:avLst/>
          </a:prstGeom>
          <a:solidFill>
            <a:srgbClr val="4A90D9"/>
          </a:solidFill>
          <a:ln w="12700">
            <a:solidFill>
              <a:srgbClr val="4A90D9"/>
            </a:solidFill>
            <a:prstDash val="solid"/>
          </a:ln>
        </p:spPr>
      </p:sp>
      <p:sp>
        <p:nvSpPr>
          <p:cNvPr id="20" name="Shape 18"/>
          <p:cNvSpPr/>
          <p:nvPr/>
        </p:nvSpPr>
        <p:spPr>
          <a:xfrm>
            <a:off x="365760" y="1636776"/>
            <a:ext cx="8412480" cy="320040"/>
          </a:xfrm>
          <a:prstGeom prst="rect">
            <a:avLst/>
          </a:prstGeom>
          <a:solidFill>
            <a:srgbClr val="0F1020"/>
          </a:solidFill>
          <a:ln w="12700">
            <a:solidFill>
              <a:srgbClr val="000000"/>
            </a:solidFill>
            <a:prstDash val="solid"/>
          </a:ln>
        </p:spPr>
      </p:sp>
      <p:sp>
        <p:nvSpPr>
          <p:cNvPr id="21" name="Text 19"/>
          <p:cNvSpPr/>
          <p:nvPr/>
        </p:nvSpPr>
        <p:spPr>
          <a:xfrm>
            <a:off x="960120" y="1636776"/>
            <a:ext cx="1417320" cy="320040"/>
          </a:xfrm>
          <a:prstGeom prst="rect">
            <a:avLst/>
          </a:prstGeom>
          <a:noFill/>
          <a:ln/>
        </p:spPr>
        <p:txBody>
          <a:bodyPr wrap="square" rtlCol="0" anchor="ctr"/>
          <a:lstStyle/>
          <a:p>
            <a:pPr marL="0" indent="0">
              <a:buNone/>
            </a:pPr>
            <a:r>
              <a:rPr lang="en-US" sz="950" dirty="0">
                <a:solidFill>
                  <a:srgbClr val="E8E8F0"/>
                </a:solidFill>
                <a:latin typeface="Calibri" pitchFamily="34" charset="0"/>
                <a:ea typeface="Calibri" pitchFamily="34" charset="-122"/>
                <a:cs typeface="Calibri" pitchFamily="34" charset="-120"/>
              </a:rPr>
              <a:t>GitHub Repo + Team Setup</a:t>
            </a:r>
            <a:endParaRPr lang="en-US" sz="950" dirty="0"/>
          </a:p>
        </p:txBody>
      </p:sp>
      <p:sp>
        <p:nvSpPr>
          <p:cNvPr id="22" name="Shape 20"/>
          <p:cNvSpPr/>
          <p:nvPr/>
        </p:nvSpPr>
        <p:spPr>
          <a:xfrm>
            <a:off x="2414016" y="1691640"/>
            <a:ext cx="1021080" cy="210312"/>
          </a:xfrm>
          <a:prstGeom prst="rect">
            <a:avLst/>
          </a:prstGeom>
          <a:solidFill>
            <a:srgbClr val="4A90D9"/>
          </a:solidFill>
          <a:ln w="12700">
            <a:solidFill>
              <a:srgbClr val="4A90D9"/>
            </a:solidFill>
            <a:prstDash val="solid"/>
          </a:ln>
        </p:spPr>
      </p:sp>
      <p:sp>
        <p:nvSpPr>
          <p:cNvPr id="23" name="Shape 21"/>
          <p:cNvSpPr/>
          <p:nvPr/>
        </p:nvSpPr>
        <p:spPr>
          <a:xfrm>
            <a:off x="365760" y="1993392"/>
            <a:ext cx="8412480" cy="320040"/>
          </a:xfrm>
          <a:prstGeom prst="rect">
            <a:avLst/>
          </a:prstGeom>
          <a:solidFill>
            <a:srgbClr val="1A1C35"/>
          </a:solidFill>
          <a:ln w="12700">
            <a:solidFill>
              <a:srgbClr val="000000"/>
            </a:solidFill>
            <a:prstDash val="solid"/>
          </a:ln>
        </p:spPr>
      </p:sp>
      <p:sp>
        <p:nvSpPr>
          <p:cNvPr id="24" name="Text 22"/>
          <p:cNvSpPr/>
          <p:nvPr/>
        </p:nvSpPr>
        <p:spPr>
          <a:xfrm>
            <a:off x="365760" y="1993392"/>
            <a:ext cx="566928" cy="320040"/>
          </a:xfrm>
          <a:prstGeom prst="rect">
            <a:avLst/>
          </a:prstGeom>
          <a:noFill/>
          <a:ln/>
        </p:spPr>
        <p:txBody>
          <a:bodyPr wrap="square" rtlCol="0" anchor="ctr"/>
          <a:lstStyle/>
          <a:p>
            <a:pPr marL="0" indent="0" algn="ctr">
              <a:buNone/>
            </a:pPr>
            <a:r>
              <a:rPr lang="en-US" sz="700" b="1" dirty="0">
                <a:solidFill>
                  <a:srgbClr val="8888AA"/>
                </a:solidFill>
                <a:latin typeface="Calibri" pitchFamily="34" charset="0"/>
                <a:ea typeface="Calibri" pitchFamily="34" charset="-122"/>
                <a:cs typeface="Calibri" pitchFamily="34" charset="-120"/>
              </a:rPr>
              <a:t>DATA</a:t>
            </a:r>
            <a:endParaRPr lang="en-US" sz="700" dirty="0"/>
          </a:p>
        </p:txBody>
      </p:sp>
      <p:sp>
        <p:nvSpPr>
          <p:cNvPr id="25" name="Text 23"/>
          <p:cNvSpPr/>
          <p:nvPr/>
        </p:nvSpPr>
        <p:spPr>
          <a:xfrm>
            <a:off x="960120" y="1993392"/>
            <a:ext cx="1417320" cy="320040"/>
          </a:xfrm>
          <a:prstGeom prst="rect">
            <a:avLst/>
          </a:prstGeom>
          <a:noFill/>
          <a:ln/>
        </p:spPr>
        <p:txBody>
          <a:bodyPr wrap="square" rtlCol="0" anchor="ctr"/>
          <a:lstStyle/>
          <a:p>
            <a:pPr marL="0" indent="0">
              <a:buNone/>
            </a:pPr>
            <a:r>
              <a:rPr lang="en-US" sz="950" dirty="0">
                <a:solidFill>
                  <a:srgbClr val="E8E8F0"/>
                </a:solidFill>
                <a:latin typeface="Calibri" pitchFamily="34" charset="0"/>
                <a:ea typeface="Calibri" pitchFamily="34" charset="-122"/>
                <a:cs typeface="Calibri" pitchFamily="34" charset="-120"/>
              </a:rPr>
              <a:t>Data Collection + Ingestion</a:t>
            </a:r>
            <a:endParaRPr lang="en-US" sz="950" dirty="0"/>
          </a:p>
        </p:txBody>
      </p:sp>
      <p:sp>
        <p:nvSpPr>
          <p:cNvPr id="26" name="Shape 24"/>
          <p:cNvSpPr/>
          <p:nvPr/>
        </p:nvSpPr>
        <p:spPr>
          <a:xfrm>
            <a:off x="3526536" y="2048256"/>
            <a:ext cx="1021080" cy="210312"/>
          </a:xfrm>
          <a:prstGeom prst="rect">
            <a:avLst/>
          </a:prstGeom>
          <a:solidFill>
            <a:srgbClr val="00C2CB"/>
          </a:solidFill>
          <a:ln w="12700">
            <a:solidFill>
              <a:srgbClr val="00C2CB"/>
            </a:solidFill>
            <a:prstDash val="solid"/>
          </a:ln>
        </p:spPr>
      </p:sp>
      <p:sp>
        <p:nvSpPr>
          <p:cNvPr id="27" name="Shape 25"/>
          <p:cNvSpPr/>
          <p:nvPr/>
        </p:nvSpPr>
        <p:spPr>
          <a:xfrm>
            <a:off x="365760" y="2350008"/>
            <a:ext cx="8412480" cy="320040"/>
          </a:xfrm>
          <a:prstGeom prst="rect">
            <a:avLst/>
          </a:prstGeom>
          <a:solidFill>
            <a:srgbClr val="0F1020"/>
          </a:solidFill>
          <a:ln w="12700">
            <a:solidFill>
              <a:srgbClr val="000000"/>
            </a:solidFill>
            <a:prstDash val="solid"/>
          </a:ln>
        </p:spPr>
      </p:sp>
      <p:sp>
        <p:nvSpPr>
          <p:cNvPr id="28" name="Text 26"/>
          <p:cNvSpPr/>
          <p:nvPr/>
        </p:nvSpPr>
        <p:spPr>
          <a:xfrm>
            <a:off x="960120" y="2350008"/>
            <a:ext cx="1417320" cy="320040"/>
          </a:xfrm>
          <a:prstGeom prst="rect">
            <a:avLst/>
          </a:prstGeom>
          <a:noFill/>
          <a:ln/>
        </p:spPr>
        <p:txBody>
          <a:bodyPr wrap="square" rtlCol="0" anchor="ctr"/>
          <a:lstStyle/>
          <a:p>
            <a:pPr marL="0" indent="0">
              <a:buNone/>
            </a:pPr>
            <a:r>
              <a:rPr lang="en-US" sz="950" dirty="0">
                <a:solidFill>
                  <a:srgbClr val="E8E8F0"/>
                </a:solidFill>
                <a:latin typeface="Calibri" pitchFamily="34" charset="0"/>
                <a:ea typeface="Calibri" pitchFamily="34" charset="-122"/>
                <a:cs typeface="Calibri" pitchFamily="34" charset="-120"/>
              </a:rPr>
              <a:t>Cleaning + Standardization</a:t>
            </a:r>
            <a:endParaRPr lang="en-US" sz="950" dirty="0"/>
          </a:p>
        </p:txBody>
      </p:sp>
      <p:sp>
        <p:nvSpPr>
          <p:cNvPr id="29" name="Shape 27"/>
          <p:cNvSpPr/>
          <p:nvPr/>
        </p:nvSpPr>
        <p:spPr>
          <a:xfrm>
            <a:off x="3526536" y="2404872"/>
            <a:ext cx="2133600" cy="210312"/>
          </a:xfrm>
          <a:prstGeom prst="rect">
            <a:avLst/>
          </a:prstGeom>
          <a:solidFill>
            <a:srgbClr val="00C2CB"/>
          </a:solidFill>
          <a:ln w="12700">
            <a:solidFill>
              <a:srgbClr val="00C2CB"/>
            </a:solidFill>
            <a:prstDash val="solid"/>
          </a:ln>
        </p:spPr>
      </p:sp>
      <p:sp>
        <p:nvSpPr>
          <p:cNvPr id="30" name="Shape 28"/>
          <p:cNvSpPr/>
          <p:nvPr/>
        </p:nvSpPr>
        <p:spPr>
          <a:xfrm>
            <a:off x="365760" y="2706624"/>
            <a:ext cx="8412480" cy="320040"/>
          </a:xfrm>
          <a:prstGeom prst="rect">
            <a:avLst/>
          </a:prstGeom>
          <a:solidFill>
            <a:srgbClr val="1A1C35"/>
          </a:solidFill>
          <a:ln w="12700">
            <a:solidFill>
              <a:srgbClr val="000000"/>
            </a:solidFill>
            <a:prstDash val="solid"/>
          </a:ln>
        </p:spPr>
      </p:sp>
      <p:sp>
        <p:nvSpPr>
          <p:cNvPr id="31" name="Text 29"/>
          <p:cNvSpPr/>
          <p:nvPr/>
        </p:nvSpPr>
        <p:spPr>
          <a:xfrm>
            <a:off x="960120" y="2706624"/>
            <a:ext cx="1417320" cy="320040"/>
          </a:xfrm>
          <a:prstGeom prst="rect">
            <a:avLst/>
          </a:prstGeom>
          <a:noFill/>
          <a:ln/>
        </p:spPr>
        <p:txBody>
          <a:bodyPr wrap="square" rtlCol="0" anchor="ctr"/>
          <a:lstStyle/>
          <a:p>
            <a:pPr marL="0" indent="0">
              <a:buNone/>
            </a:pPr>
            <a:r>
              <a:rPr lang="en-US" sz="950" dirty="0">
                <a:solidFill>
                  <a:srgbClr val="E8E8F0"/>
                </a:solidFill>
                <a:latin typeface="Calibri" pitchFamily="34" charset="0"/>
                <a:ea typeface="Calibri" pitchFamily="34" charset="-122"/>
                <a:cs typeface="Calibri" pitchFamily="34" charset="-120"/>
              </a:rPr>
              <a:t>Dataset Joining</a:t>
            </a:r>
            <a:endParaRPr lang="en-US" sz="950" dirty="0"/>
          </a:p>
        </p:txBody>
      </p:sp>
      <p:sp>
        <p:nvSpPr>
          <p:cNvPr id="32" name="Shape 30"/>
          <p:cNvSpPr/>
          <p:nvPr/>
        </p:nvSpPr>
        <p:spPr>
          <a:xfrm>
            <a:off x="4639056" y="2761488"/>
            <a:ext cx="1021080" cy="210312"/>
          </a:xfrm>
          <a:prstGeom prst="rect">
            <a:avLst/>
          </a:prstGeom>
          <a:solidFill>
            <a:srgbClr val="00C2CB"/>
          </a:solidFill>
          <a:ln w="12700">
            <a:solidFill>
              <a:srgbClr val="00C2CB"/>
            </a:solidFill>
            <a:prstDash val="solid"/>
          </a:ln>
        </p:spPr>
      </p:sp>
      <p:sp>
        <p:nvSpPr>
          <p:cNvPr id="33" name="Shape 31"/>
          <p:cNvSpPr/>
          <p:nvPr/>
        </p:nvSpPr>
        <p:spPr>
          <a:xfrm>
            <a:off x="365760" y="3063240"/>
            <a:ext cx="8412480" cy="320040"/>
          </a:xfrm>
          <a:prstGeom prst="rect">
            <a:avLst/>
          </a:prstGeom>
          <a:solidFill>
            <a:srgbClr val="0F1020"/>
          </a:solidFill>
          <a:ln w="12700">
            <a:solidFill>
              <a:srgbClr val="000000"/>
            </a:solidFill>
            <a:prstDash val="solid"/>
          </a:ln>
        </p:spPr>
      </p:sp>
      <p:sp>
        <p:nvSpPr>
          <p:cNvPr id="34" name="Text 32"/>
          <p:cNvSpPr/>
          <p:nvPr/>
        </p:nvSpPr>
        <p:spPr>
          <a:xfrm>
            <a:off x="365760" y="3063240"/>
            <a:ext cx="566928" cy="320040"/>
          </a:xfrm>
          <a:prstGeom prst="rect">
            <a:avLst/>
          </a:prstGeom>
          <a:noFill/>
          <a:ln/>
        </p:spPr>
        <p:txBody>
          <a:bodyPr wrap="square" rtlCol="0" anchor="ctr"/>
          <a:lstStyle/>
          <a:p>
            <a:pPr marL="0" indent="0" algn="ctr">
              <a:buNone/>
            </a:pPr>
            <a:r>
              <a:rPr lang="en-US" sz="700" b="1" dirty="0">
                <a:solidFill>
                  <a:srgbClr val="8888AA"/>
                </a:solidFill>
                <a:latin typeface="Calibri" pitchFamily="34" charset="0"/>
                <a:ea typeface="Calibri" pitchFamily="34" charset="-122"/>
                <a:cs typeface="Calibri" pitchFamily="34" charset="-120"/>
              </a:rPr>
              <a:t>ANALYSIS</a:t>
            </a:r>
            <a:endParaRPr lang="en-US" sz="700" dirty="0"/>
          </a:p>
        </p:txBody>
      </p:sp>
      <p:sp>
        <p:nvSpPr>
          <p:cNvPr id="35" name="Text 33"/>
          <p:cNvSpPr/>
          <p:nvPr/>
        </p:nvSpPr>
        <p:spPr>
          <a:xfrm>
            <a:off x="960120" y="3063240"/>
            <a:ext cx="1417320" cy="320040"/>
          </a:xfrm>
          <a:prstGeom prst="rect">
            <a:avLst/>
          </a:prstGeom>
          <a:noFill/>
          <a:ln/>
        </p:spPr>
        <p:txBody>
          <a:bodyPr wrap="square" rtlCol="0" anchor="ctr"/>
          <a:lstStyle/>
          <a:p>
            <a:pPr marL="0" indent="0">
              <a:buNone/>
            </a:pPr>
            <a:r>
              <a:rPr lang="en-US" sz="950" dirty="0">
                <a:solidFill>
                  <a:srgbClr val="E8E8F0"/>
                </a:solidFill>
                <a:latin typeface="Calibri" pitchFamily="34" charset="0"/>
                <a:ea typeface="Calibri" pitchFamily="34" charset="-122"/>
                <a:cs typeface="Calibri" pitchFamily="34" charset="-120"/>
              </a:rPr>
              <a:t>Exploratory Data Analysis</a:t>
            </a:r>
            <a:endParaRPr lang="en-US" sz="950" dirty="0"/>
          </a:p>
        </p:txBody>
      </p:sp>
      <p:sp>
        <p:nvSpPr>
          <p:cNvPr id="36" name="Shape 34"/>
          <p:cNvSpPr/>
          <p:nvPr/>
        </p:nvSpPr>
        <p:spPr>
          <a:xfrm>
            <a:off x="4639056" y="3118104"/>
            <a:ext cx="2133600" cy="210312"/>
          </a:xfrm>
          <a:prstGeom prst="rect">
            <a:avLst/>
          </a:prstGeom>
          <a:solidFill>
            <a:srgbClr val="E67E22"/>
          </a:solidFill>
          <a:ln w="12700">
            <a:solidFill>
              <a:srgbClr val="E67E22"/>
            </a:solidFill>
            <a:prstDash val="solid"/>
          </a:ln>
        </p:spPr>
      </p:sp>
      <p:sp>
        <p:nvSpPr>
          <p:cNvPr id="37" name="Shape 35"/>
          <p:cNvSpPr/>
          <p:nvPr/>
        </p:nvSpPr>
        <p:spPr>
          <a:xfrm>
            <a:off x="365760" y="3419856"/>
            <a:ext cx="8412480" cy="320040"/>
          </a:xfrm>
          <a:prstGeom prst="rect">
            <a:avLst/>
          </a:prstGeom>
          <a:solidFill>
            <a:srgbClr val="1A1C35"/>
          </a:solidFill>
          <a:ln w="12700">
            <a:solidFill>
              <a:srgbClr val="000000"/>
            </a:solidFill>
            <a:prstDash val="solid"/>
          </a:ln>
        </p:spPr>
      </p:sp>
      <p:sp>
        <p:nvSpPr>
          <p:cNvPr id="38" name="Text 36"/>
          <p:cNvSpPr/>
          <p:nvPr/>
        </p:nvSpPr>
        <p:spPr>
          <a:xfrm>
            <a:off x="960120" y="3419856"/>
            <a:ext cx="1417320" cy="320040"/>
          </a:xfrm>
          <a:prstGeom prst="rect">
            <a:avLst/>
          </a:prstGeom>
          <a:noFill/>
          <a:ln/>
        </p:spPr>
        <p:txBody>
          <a:bodyPr wrap="square" rtlCol="0" anchor="ctr"/>
          <a:lstStyle/>
          <a:p>
            <a:pPr marL="0" indent="0">
              <a:buNone/>
            </a:pPr>
            <a:r>
              <a:rPr lang="en-US" sz="950" dirty="0">
                <a:solidFill>
                  <a:srgbClr val="E8E8F0"/>
                </a:solidFill>
                <a:latin typeface="Calibri" pitchFamily="34" charset="0"/>
                <a:ea typeface="Calibri" pitchFamily="34" charset="-122"/>
                <a:cs typeface="Calibri" pitchFamily="34" charset="-120"/>
              </a:rPr>
              <a:t>Modeling + Correlation</a:t>
            </a:r>
            <a:endParaRPr lang="en-US" sz="950" dirty="0"/>
          </a:p>
        </p:txBody>
      </p:sp>
      <p:sp>
        <p:nvSpPr>
          <p:cNvPr id="39" name="Shape 37"/>
          <p:cNvSpPr/>
          <p:nvPr/>
        </p:nvSpPr>
        <p:spPr>
          <a:xfrm>
            <a:off x="5751576" y="3474720"/>
            <a:ext cx="1021080" cy="210312"/>
          </a:xfrm>
          <a:prstGeom prst="rect">
            <a:avLst/>
          </a:prstGeom>
          <a:solidFill>
            <a:srgbClr val="E67E22"/>
          </a:solidFill>
          <a:ln w="12700">
            <a:solidFill>
              <a:srgbClr val="E67E22"/>
            </a:solidFill>
            <a:prstDash val="solid"/>
          </a:ln>
        </p:spPr>
      </p:sp>
      <p:sp>
        <p:nvSpPr>
          <p:cNvPr id="40" name="Shape 38"/>
          <p:cNvSpPr/>
          <p:nvPr/>
        </p:nvSpPr>
        <p:spPr>
          <a:xfrm>
            <a:off x="365760" y="3776472"/>
            <a:ext cx="8412480" cy="320040"/>
          </a:xfrm>
          <a:prstGeom prst="rect">
            <a:avLst/>
          </a:prstGeom>
          <a:solidFill>
            <a:srgbClr val="0F1020"/>
          </a:solidFill>
          <a:ln w="12700">
            <a:solidFill>
              <a:srgbClr val="000000"/>
            </a:solidFill>
            <a:prstDash val="solid"/>
          </a:ln>
        </p:spPr>
      </p:sp>
      <p:sp>
        <p:nvSpPr>
          <p:cNvPr id="41" name="Text 39"/>
          <p:cNvSpPr/>
          <p:nvPr/>
        </p:nvSpPr>
        <p:spPr>
          <a:xfrm>
            <a:off x="365760" y="3776472"/>
            <a:ext cx="566928" cy="320040"/>
          </a:xfrm>
          <a:prstGeom prst="rect">
            <a:avLst/>
          </a:prstGeom>
          <a:noFill/>
          <a:ln/>
        </p:spPr>
        <p:txBody>
          <a:bodyPr wrap="square" rtlCol="0" anchor="ctr"/>
          <a:lstStyle/>
          <a:p>
            <a:pPr marL="0" indent="0" algn="ctr">
              <a:buNone/>
            </a:pPr>
            <a:r>
              <a:rPr lang="en-US" sz="700" b="1" dirty="0">
                <a:solidFill>
                  <a:srgbClr val="8888AA"/>
                </a:solidFill>
                <a:latin typeface="Calibri" pitchFamily="34" charset="0"/>
                <a:ea typeface="Calibri" pitchFamily="34" charset="-122"/>
                <a:cs typeface="Calibri" pitchFamily="34" charset="-120"/>
              </a:rPr>
              <a:t>OUTPUT</a:t>
            </a:r>
            <a:endParaRPr lang="en-US" sz="700" dirty="0"/>
          </a:p>
        </p:txBody>
      </p:sp>
      <p:sp>
        <p:nvSpPr>
          <p:cNvPr id="42" name="Text 40"/>
          <p:cNvSpPr/>
          <p:nvPr/>
        </p:nvSpPr>
        <p:spPr>
          <a:xfrm>
            <a:off x="960120" y="3776472"/>
            <a:ext cx="1417320" cy="320040"/>
          </a:xfrm>
          <a:prstGeom prst="rect">
            <a:avLst/>
          </a:prstGeom>
          <a:noFill/>
          <a:ln/>
        </p:spPr>
        <p:txBody>
          <a:bodyPr wrap="square" rtlCol="0" anchor="ctr"/>
          <a:lstStyle/>
          <a:p>
            <a:pPr marL="0" indent="0">
              <a:buNone/>
            </a:pPr>
            <a:r>
              <a:rPr lang="en-US" sz="950" dirty="0">
                <a:solidFill>
                  <a:srgbClr val="E8E8F0"/>
                </a:solidFill>
                <a:latin typeface="Calibri" pitchFamily="34" charset="0"/>
                <a:ea typeface="Calibri" pitchFamily="34" charset="-122"/>
                <a:cs typeface="Calibri" pitchFamily="34" charset="-120"/>
              </a:rPr>
              <a:t>Visualization + Dashboard</a:t>
            </a:r>
            <a:endParaRPr lang="en-US" sz="950" dirty="0"/>
          </a:p>
        </p:txBody>
      </p:sp>
      <p:sp>
        <p:nvSpPr>
          <p:cNvPr id="43" name="Shape 41"/>
          <p:cNvSpPr/>
          <p:nvPr/>
        </p:nvSpPr>
        <p:spPr>
          <a:xfrm>
            <a:off x="6864096" y="3831336"/>
            <a:ext cx="1021080" cy="210312"/>
          </a:xfrm>
          <a:prstGeom prst="rect">
            <a:avLst/>
          </a:prstGeom>
          <a:solidFill>
            <a:srgbClr val="27AE60"/>
          </a:solidFill>
          <a:ln w="12700">
            <a:solidFill>
              <a:srgbClr val="27AE60"/>
            </a:solidFill>
            <a:prstDash val="solid"/>
          </a:ln>
        </p:spPr>
      </p:sp>
      <p:sp>
        <p:nvSpPr>
          <p:cNvPr id="44" name="Shape 42"/>
          <p:cNvSpPr/>
          <p:nvPr/>
        </p:nvSpPr>
        <p:spPr>
          <a:xfrm>
            <a:off x="365760" y="4133088"/>
            <a:ext cx="8412480" cy="320040"/>
          </a:xfrm>
          <a:prstGeom prst="rect">
            <a:avLst/>
          </a:prstGeom>
          <a:solidFill>
            <a:srgbClr val="1A1C35"/>
          </a:solidFill>
          <a:ln w="12700">
            <a:solidFill>
              <a:srgbClr val="000000"/>
            </a:solidFill>
            <a:prstDash val="solid"/>
          </a:ln>
        </p:spPr>
      </p:sp>
      <p:sp>
        <p:nvSpPr>
          <p:cNvPr id="45" name="Text 43"/>
          <p:cNvSpPr/>
          <p:nvPr/>
        </p:nvSpPr>
        <p:spPr>
          <a:xfrm>
            <a:off x="960120" y="4133088"/>
            <a:ext cx="1417320" cy="320040"/>
          </a:xfrm>
          <a:prstGeom prst="rect">
            <a:avLst/>
          </a:prstGeom>
          <a:noFill/>
          <a:ln/>
        </p:spPr>
        <p:txBody>
          <a:bodyPr wrap="square" rtlCol="0" anchor="ctr"/>
          <a:lstStyle/>
          <a:p>
            <a:pPr marL="0" indent="0">
              <a:buNone/>
            </a:pPr>
            <a:r>
              <a:rPr lang="en-US" sz="950" dirty="0">
                <a:solidFill>
                  <a:srgbClr val="E8E8F0"/>
                </a:solidFill>
                <a:latin typeface="Calibri" pitchFamily="34" charset="0"/>
                <a:ea typeface="Calibri" pitchFamily="34" charset="-122"/>
                <a:cs typeface="Calibri" pitchFamily="34" charset="-120"/>
              </a:rPr>
              <a:t>Final Report + Documentation</a:t>
            </a:r>
            <a:endParaRPr lang="en-US" sz="950" dirty="0"/>
          </a:p>
        </p:txBody>
      </p:sp>
      <p:sp>
        <p:nvSpPr>
          <p:cNvPr id="46" name="Shape 44"/>
          <p:cNvSpPr/>
          <p:nvPr/>
        </p:nvSpPr>
        <p:spPr>
          <a:xfrm>
            <a:off x="6864096" y="4187952"/>
            <a:ext cx="2133600" cy="210312"/>
          </a:xfrm>
          <a:prstGeom prst="rect">
            <a:avLst/>
          </a:prstGeom>
          <a:solidFill>
            <a:srgbClr val="9B59B6"/>
          </a:solidFill>
          <a:ln w="12700">
            <a:solidFill>
              <a:srgbClr val="9B59B6"/>
            </a:solidFill>
            <a:prstDash val="solid"/>
          </a:ln>
        </p:spPr>
      </p:sp>
      <p:sp>
        <p:nvSpPr>
          <p:cNvPr id="47" name="Shape 45"/>
          <p:cNvSpPr/>
          <p:nvPr/>
        </p:nvSpPr>
        <p:spPr>
          <a:xfrm>
            <a:off x="365760" y="4489704"/>
            <a:ext cx="8412480" cy="320040"/>
          </a:xfrm>
          <a:prstGeom prst="rect">
            <a:avLst/>
          </a:prstGeom>
          <a:solidFill>
            <a:srgbClr val="0F1020"/>
          </a:solidFill>
          <a:ln w="12700">
            <a:solidFill>
              <a:srgbClr val="000000"/>
            </a:solidFill>
            <a:prstDash val="solid"/>
          </a:ln>
        </p:spPr>
      </p:sp>
      <p:sp>
        <p:nvSpPr>
          <p:cNvPr id="48" name="Text 46"/>
          <p:cNvSpPr/>
          <p:nvPr/>
        </p:nvSpPr>
        <p:spPr>
          <a:xfrm>
            <a:off x="960120" y="4489704"/>
            <a:ext cx="1417320" cy="320040"/>
          </a:xfrm>
          <a:prstGeom prst="rect">
            <a:avLst/>
          </a:prstGeom>
          <a:noFill/>
          <a:ln/>
        </p:spPr>
        <p:txBody>
          <a:bodyPr wrap="square" rtlCol="0" anchor="ctr"/>
          <a:lstStyle/>
          <a:p>
            <a:pPr marL="0" indent="0">
              <a:buNone/>
            </a:pPr>
            <a:r>
              <a:rPr lang="en-US" sz="950" dirty="0">
                <a:solidFill>
                  <a:srgbClr val="E8E8F0"/>
                </a:solidFill>
                <a:latin typeface="Calibri" pitchFamily="34" charset="0"/>
                <a:ea typeface="Calibri" pitchFamily="34" charset="-122"/>
                <a:cs typeface="Calibri" pitchFamily="34" charset="-120"/>
              </a:rPr>
              <a:t>Presentation Prep</a:t>
            </a:r>
            <a:endParaRPr lang="en-US" sz="950" dirty="0"/>
          </a:p>
        </p:txBody>
      </p:sp>
      <p:sp>
        <p:nvSpPr>
          <p:cNvPr id="49" name="Shape 47"/>
          <p:cNvSpPr/>
          <p:nvPr/>
        </p:nvSpPr>
        <p:spPr>
          <a:xfrm>
            <a:off x="7976616" y="4544568"/>
            <a:ext cx="1021080" cy="210312"/>
          </a:xfrm>
          <a:prstGeom prst="rect">
            <a:avLst/>
          </a:prstGeom>
          <a:solidFill>
            <a:srgbClr val="E05555"/>
          </a:solidFill>
          <a:ln w="12700">
            <a:solidFill>
              <a:srgbClr val="E05555"/>
            </a:solidFill>
            <a:prstDash val="solid"/>
          </a:ln>
        </p:spPr>
      </p:sp>
      <p:sp>
        <p:nvSpPr>
          <p:cNvPr id="50" name="Shape 48"/>
          <p:cNvSpPr/>
          <p:nvPr/>
        </p:nvSpPr>
        <p:spPr>
          <a:xfrm>
            <a:off x="2933700" y="932688"/>
            <a:ext cx="36576" cy="3931920"/>
          </a:xfrm>
          <a:prstGeom prst="rect">
            <a:avLst/>
          </a:prstGeom>
          <a:solidFill>
            <a:srgbClr val="F5C518"/>
          </a:solidFill>
          <a:ln w="12700">
            <a:solidFill>
              <a:srgbClr val="F5C518"/>
            </a:solidFill>
            <a:prstDash val="solid"/>
          </a:ln>
        </p:spPr>
      </p:sp>
      <p:sp>
        <p:nvSpPr>
          <p:cNvPr id="51" name="Text 49"/>
          <p:cNvSpPr/>
          <p:nvPr/>
        </p:nvSpPr>
        <p:spPr>
          <a:xfrm>
            <a:off x="2800198" y="804672"/>
            <a:ext cx="457200" cy="182880"/>
          </a:xfrm>
          <a:prstGeom prst="rect">
            <a:avLst/>
          </a:prstGeom>
          <a:noFill/>
          <a:ln/>
        </p:spPr>
        <p:txBody>
          <a:bodyPr wrap="square" rtlCol="0" anchor="ctr"/>
          <a:lstStyle/>
          <a:p>
            <a:pPr marL="0" indent="0">
              <a:buNone/>
            </a:pPr>
            <a:r>
              <a:rPr lang="en-US" sz="800" b="1" dirty="0">
                <a:solidFill>
                  <a:srgbClr val="F5C518"/>
                </a:solidFill>
                <a:latin typeface="Calibri" pitchFamily="34" charset="0"/>
                <a:ea typeface="Calibri" pitchFamily="34" charset="-122"/>
                <a:cs typeface="Calibri" pitchFamily="34" charset="-120"/>
              </a:rPr>
              <a:t>▼ NOW</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7548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Work Ownership</a:t>
            </a:r>
            <a:endParaRPr lang="en-US" sz="2800" dirty="0"/>
          </a:p>
        </p:txBody>
      </p:sp>
      <p:sp>
        <p:nvSpPr>
          <p:cNvPr id="3" name="Shape 1"/>
          <p:cNvSpPr/>
          <p:nvPr/>
        </p:nvSpPr>
        <p:spPr>
          <a:xfrm>
            <a:off x="457200" y="758952"/>
            <a:ext cx="822960" cy="45720"/>
          </a:xfrm>
          <a:prstGeom prst="rect">
            <a:avLst/>
          </a:prstGeom>
          <a:solidFill>
            <a:srgbClr val="F5C518"/>
          </a:solidFill>
          <a:ln w="12700">
            <a:solidFill>
              <a:srgbClr val="F5C518"/>
            </a:solidFill>
            <a:prstDash val="solid"/>
          </a:ln>
        </p:spPr>
      </p:sp>
      <p:sp>
        <p:nvSpPr>
          <p:cNvPr id="4" name="Text 2"/>
          <p:cNvSpPr/>
          <p:nvPr/>
        </p:nvSpPr>
        <p:spPr>
          <a:xfrm>
            <a:off x="457200" y="850392"/>
            <a:ext cx="8229600" cy="256032"/>
          </a:xfrm>
          <a:prstGeom prst="rect">
            <a:avLst/>
          </a:prstGeom>
          <a:noFill/>
          <a:ln/>
        </p:spPr>
        <p:txBody>
          <a:bodyPr wrap="square" rtlCol="0" anchor="ctr"/>
          <a:lstStyle/>
          <a:p>
            <a:pPr marL="0" indent="0">
              <a:buNone/>
            </a:pPr>
            <a:r>
              <a:rPr lang="en-US" sz="1100" i="1" dirty="0">
                <a:solidFill>
                  <a:srgbClr val="8888AA"/>
                </a:solidFill>
                <a:latin typeface="Calibri" pitchFamily="34" charset="0"/>
                <a:ea typeface="Calibri" pitchFamily="34" charset="-122"/>
                <a:cs typeface="Calibri" pitchFamily="34" charset="-120"/>
              </a:rPr>
              <a:t>Who owns what across the project lifecycle</a:t>
            </a:r>
            <a:endParaRPr lang="en-US" sz="1100" dirty="0"/>
          </a:p>
        </p:txBody>
      </p:sp>
      <p:sp>
        <p:nvSpPr>
          <p:cNvPr id="5" name="Shape 3"/>
          <p:cNvSpPr/>
          <p:nvPr/>
        </p:nvSpPr>
        <p:spPr>
          <a:xfrm>
            <a:off x="365760" y="1170432"/>
            <a:ext cx="8412480" cy="329184"/>
          </a:xfrm>
          <a:prstGeom prst="rect">
            <a:avLst/>
          </a:prstGeom>
          <a:solidFill>
            <a:srgbClr val="1A1C35"/>
          </a:solidFill>
          <a:ln w="6350">
            <a:solidFill>
              <a:srgbClr val="2A2D50"/>
            </a:solidFill>
            <a:prstDash val="solid"/>
          </a:ln>
        </p:spPr>
      </p:sp>
      <p:sp>
        <p:nvSpPr>
          <p:cNvPr id="6" name="Text 4"/>
          <p:cNvSpPr/>
          <p:nvPr/>
        </p:nvSpPr>
        <p:spPr>
          <a:xfrm>
            <a:off x="457200" y="1170432"/>
            <a:ext cx="1828800" cy="329184"/>
          </a:xfrm>
          <a:prstGeom prst="rect">
            <a:avLst/>
          </a:prstGeom>
          <a:noFill/>
          <a:ln/>
        </p:spPr>
        <p:txBody>
          <a:bodyPr wrap="square" rtlCol="0" anchor="ctr"/>
          <a:lstStyle/>
          <a:p>
            <a:pPr marL="0" indent="0">
              <a:buNone/>
            </a:pPr>
            <a:r>
              <a:rPr lang="en-US" sz="1000" b="1" dirty="0">
                <a:solidFill>
                  <a:srgbClr val="00C2CB"/>
                </a:solidFill>
                <a:latin typeface="Calibri" pitchFamily="34" charset="0"/>
                <a:ea typeface="Calibri" pitchFamily="34" charset="-122"/>
                <a:cs typeface="Calibri" pitchFamily="34" charset="-120"/>
              </a:rPr>
              <a:t>Owner</a:t>
            </a:r>
            <a:endParaRPr lang="en-US" sz="1000" dirty="0"/>
          </a:p>
        </p:txBody>
      </p:sp>
      <p:sp>
        <p:nvSpPr>
          <p:cNvPr id="7" name="Text 5"/>
          <p:cNvSpPr/>
          <p:nvPr/>
        </p:nvSpPr>
        <p:spPr>
          <a:xfrm>
            <a:off x="2423160" y="1170432"/>
            <a:ext cx="2514600" cy="329184"/>
          </a:xfrm>
          <a:prstGeom prst="rect">
            <a:avLst/>
          </a:prstGeom>
          <a:noFill/>
          <a:ln/>
        </p:spPr>
        <p:txBody>
          <a:bodyPr wrap="square" rtlCol="0" anchor="ctr"/>
          <a:lstStyle/>
          <a:p>
            <a:pPr marL="0" indent="0">
              <a:buNone/>
            </a:pPr>
            <a:r>
              <a:rPr lang="en-US" sz="1000" b="1" dirty="0">
                <a:solidFill>
                  <a:srgbClr val="00C2CB"/>
                </a:solidFill>
                <a:latin typeface="Calibri" pitchFamily="34" charset="0"/>
                <a:ea typeface="Calibri" pitchFamily="34" charset="-122"/>
                <a:cs typeface="Calibri" pitchFamily="34" charset="-120"/>
              </a:rPr>
              <a:t>Deliverable</a:t>
            </a:r>
            <a:endParaRPr lang="en-US" sz="1000" dirty="0"/>
          </a:p>
        </p:txBody>
      </p:sp>
      <p:sp>
        <p:nvSpPr>
          <p:cNvPr id="8" name="Text 6"/>
          <p:cNvSpPr/>
          <p:nvPr/>
        </p:nvSpPr>
        <p:spPr>
          <a:xfrm>
            <a:off x="5074920" y="1170432"/>
            <a:ext cx="2103120" cy="329184"/>
          </a:xfrm>
          <a:prstGeom prst="rect">
            <a:avLst/>
          </a:prstGeom>
          <a:noFill/>
          <a:ln/>
        </p:spPr>
        <p:txBody>
          <a:bodyPr wrap="square" rtlCol="0" anchor="ctr"/>
          <a:lstStyle/>
          <a:p>
            <a:pPr marL="0" indent="0">
              <a:buNone/>
            </a:pPr>
            <a:r>
              <a:rPr lang="en-US" sz="1000" b="1" dirty="0">
                <a:solidFill>
                  <a:srgbClr val="00C2CB"/>
                </a:solidFill>
                <a:latin typeface="Calibri" pitchFamily="34" charset="0"/>
                <a:ea typeface="Calibri" pitchFamily="34" charset="-122"/>
                <a:cs typeface="Calibri" pitchFamily="34" charset="-120"/>
              </a:rPr>
              <a:t>Phase</a:t>
            </a:r>
            <a:endParaRPr lang="en-US" sz="1000" dirty="0"/>
          </a:p>
        </p:txBody>
      </p:sp>
      <p:sp>
        <p:nvSpPr>
          <p:cNvPr id="9" name="Text 7"/>
          <p:cNvSpPr/>
          <p:nvPr/>
        </p:nvSpPr>
        <p:spPr>
          <a:xfrm>
            <a:off x="7315200" y="1170432"/>
            <a:ext cx="1554480" cy="329184"/>
          </a:xfrm>
          <a:prstGeom prst="rect">
            <a:avLst/>
          </a:prstGeom>
          <a:noFill/>
          <a:ln/>
        </p:spPr>
        <p:txBody>
          <a:bodyPr wrap="square" rtlCol="0" anchor="ctr"/>
          <a:lstStyle/>
          <a:p>
            <a:pPr marL="0" indent="0">
              <a:buNone/>
            </a:pPr>
            <a:r>
              <a:rPr lang="en-US" sz="1000" b="1" dirty="0">
                <a:solidFill>
                  <a:srgbClr val="00C2CB"/>
                </a:solidFill>
                <a:latin typeface="Calibri" pitchFamily="34" charset="0"/>
                <a:ea typeface="Calibri" pitchFamily="34" charset="-122"/>
                <a:cs typeface="Calibri" pitchFamily="34" charset="-120"/>
              </a:rPr>
              <a:t>Status</a:t>
            </a:r>
            <a:endParaRPr lang="en-US" sz="1000" dirty="0"/>
          </a:p>
        </p:txBody>
      </p:sp>
      <p:sp>
        <p:nvSpPr>
          <p:cNvPr id="10" name="Shape 8"/>
          <p:cNvSpPr/>
          <p:nvPr/>
        </p:nvSpPr>
        <p:spPr>
          <a:xfrm>
            <a:off x="365760" y="1536192"/>
            <a:ext cx="8412480" cy="320040"/>
          </a:xfrm>
          <a:prstGeom prst="rect">
            <a:avLst/>
          </a:prstGeom>
          <a:solidFill>
            <a:srgbClr val="1A1C35"/>
          </a:solidFill>
          <a:ln w="3810">
            <a:solidFill>
              <a:srgbClr val="2A2D50"/>
            </a:solidFill>
            <a:prstDash val="solid"/>
          </a:ln>
        </p:spPr>
      </p:sp>
      <p:sp>
        <p:nvSpPr>
          <p:cNvPr id="11" name="Shape 9"/>
          <p:cNvSpPr/>
          <p:nvPr/>
        </p:nvSpPr>
        <p:spPr>
          <a:xfrm>
            <a:off x="438912" y="1591056"/>
            <a:ext cx="658368" cy="201168"/>
          </a:xfrm>
          <a:prstGeom prst="rect">
            <a:avLst/>
          </a:prstGeom>
          <a:solidFill>
            <a:srgbClr val="4A90D9">
              <a:alpha val="25000"/>
            </a:srgbClr>
          </a:solidFill>
          <a:ln w="10160">
            <a:solidFill>
              <a:srgbClr val="4A90D9"/>
            </a:solidFill>
            <a:prstDash val="solid"/>
          </a:ln>
        </p:spPr>
      </p:sp>
      <p:sp>
        <p:nvSpPr>
          <p:cNvPr id="12" name="Text 10"/>
          <p:cNvSpPr/>
          <p:nvPr/>
        </p:nvSpPr>
        <p:spPr>
          <a:xfrm>
            <a:off x="438912" y="1591056"/>
            <a:ext cx="658368" cy="201168"/>
          </a:xfrm>
          <a:prstGeom prst="rect">
            <a:avLst/>
          </a:prstGeom>
          <a:noFill/>
          <a:ln/>
        </p:spPr>
        <p:txBody>
          <a:bodyPr wrap="square" rtlCol="0" anchor="ctr"/>
          <a:lstStyle/>
          <a:p>
            <a:pPr marL="0" indent="0" algn="ctr">
              <a:buNone/>
            </a:pPr>
            <a:r>
              <a:rPr lang="en-US" sz="850" b="1" dirty="0">
                <a:solidFill>
                  <a:srgbClr val="4A90D9"/>
                </a:solidFill>
                <a:latin typeface="Calibri" pitchFamily="34" charset="0"/>
                <a:ea typeface="Calibri" pitchFamily="34" charset="-122"/>
                <a:cs typeface="Calibri" pitchFamily="34" charset="-120"/>
              </a:rPr>
              <a:t>Hadi</a:t>
            </a:r>
            <a:endParaRPr lang="en-US" sz="850" dirty="0"/>
          </a:p>
        </p:txBody>
      </p:sp>
      <p:sp>
        <p:nvSpPr>
          <p:cNvPr id="13" name="Text 11"/>
          <p:cNvSpPr/>
          <p:nvPr/>
        </p:nvSpPr>
        <p:spPr>
          <a:xfrm>
            <a:off x="2423160" y="1536192"/>
            <a:ext cx="2423160" cy="320040"/>
          </a:xfrm>
          <a:prstGeom prst="rect">
            <a:avLst/>
          </a:prstGeom>
          <a:noFill/>
          <a:ln/>
        </p:spPr>
        <p:txBody>
          <a:bodyPr wrap="square" rtlCol="0" anchor="ctr"/>
          <a:lstStyle/>
          <a:p>
            <a:pPr marL="0" indent="0">
              <a:buNone/>
            </a:pPr>
            <a:r>
              <a:rPr lang="en-US" sz="950" dirty="0">
                <a:solidFill>
                  <a:srgbClr val="E8E8F0"/>
                </a:solidFill>
                <a:latin typeface="Calibri" pitchFamily="34" charset="0"/>
                <a:ea typeface="Calibri" pitchFamily="34" charset="-122"/>
                <a:cs typeface="Calibri" pitchFamily="34" charset="-120"/>
              </a:rPr>
              <a:t>Data ingestion pipeline</a:t>
            </a:r>
            <a:endParaRPr lang="en-US" sz="950" dirty="0"/>
          </a:p>
        </p:txBody>
      </p:sp>
      <p:sp>
        <p:nvSpPr>
          <p:cNvPr id="14" name="Text 12"/>
          <p:cNvSpPr/>
          <p:nvPr/>
        </p:nvSpPr>
        <p:spPr>
          <a:xfrm>
            <a:off x="5074920" y="1536192"/>
            <a:ext cx="2011680" cy="320040"/>
          </a:xfrm>
          <a:prstGeom prst="rect">
            <a:avLst/>
          </a:prstGeom>
          <a:noFill/>
          <a:ln/>
        </p:spPr>
        <p:txBody>
          <a:bodyPr wrap="square" rtlCol="0" anchor="ctr"/>
          <a:lstStyle/>
          <a:p>
            <a:pPr marL="0" indent="0">
              <a:buNone/>
            </a:pPr>
            <a:r>
              <a:rPr lang="en-US" sz="900" dirty="0">
                <a:solidFill>
                  <a:srgbClr val="8888AA"/>
                </a:solidFill>
                <a:latin typeface="Calibri" pitchFamily="34" charset="0"/>
                <a:ea typeface="Calibri" pitchFamily="34" charset="-122"/>
                <a:cs typeface="Calibri" pitchFamily="34" charset="-120"/>
              </a:rPr>
              <a:t>Data</a:t>
            </a:r>
            <a:endParaRPr lang="en-US" sz="900" dirty="0"/>
          </a:p>
        </p:txBody>
      </p:sp>
      <p:sp>
        <p:nvSpPr>
          <p:cNvPr id="15" name="Shape 13"/>
          <p:cNvSpPr/>
          <p:nvPr/>
        </p:nvSpPr>
        <p:spPr>
          <a:xfrm>
            <a:off x="7315200" y="1591056"/>
            <a:ext cx="1280160" cy="201168"/>
          </a:xfrm>
          <a:prstGeom prst="rect">
            <a:avLst/>
          </a:prstGeom>
          <a:solidFill>
            <a:srgbClr val="E67E22">
              <a:alpha val="80000"/>
            </a:srgbClr>
          </a:solidFill>
          <a:ln w="12700">
            <a:solidFill>
              <a:srgbClr val="E67E22"/>
            </a:solidFill>
            <a:prstDash val="solid"/>
          </a:ln>
        </p:spPr>
      </p:sp>
      <p:sp>
        <p:nvSpPr>
          <p:cNvPr id="16" name="Text 14"/>
          <p:cNvSpPr/>
          <p:nvPr/>
        </p:nvSpPr>
        <p:spPr>
          <a:xfrm>
            <a:off x="7315200" y="1591056"/>
            <a:ext cx="1280160" cy="201168"/>
          </a:xfrm>
          <a:prstGeom prst="rect">
            <a:avLst/>
          </a:prstGeom>
          <a:noFill/>
          <a:ln/>
        </p:spPr>
        <p:txBody>
          <a:bodyPr wrap="square" rtlCol="0" anchor="ctr"/>
          <a:lstStyle/>
          <a:p>
            <a:pPr marL="0" indent="0" algn="ctr">
              <a:buNone/>
            </a:pPr>
            <a:r>
              <a:rPr lang="en-US" sz="850" b="1" dirty="0">
                <a:solidFill>
                  <a:srgbClr val="E67E22"/>
                </a:solidFill>
                <a:latin typeface="Calibri" pitchFamily="34" charset="0"/>
                <a:ea typeface="Calibri" pitchFamily="34" charset="-122"/>
                <a:cs typeface="Calibri" pitchFamily="34" charset="-120"/>
              </a:rPr>
              <a:t>In Progress</a:t>
            </a:r>
            <a:endParaRPr lang="en-US" sz="850" dirty="0"/>
          </a:p>
        </p:txBody>
      </p:sp>
      <p:sp>
        <p:nvSpPr>
          <p:cNvPr id="17" name="Shape 15"/>
          <p:cNvSpPr/>
          <p:nvPr/>
        </p:nvSpPr>
        <p:spPr>
          <a:xfrm>
            <a:off x="365760" y="1883664"/>
            <a:ext cx="8412480" cy="320040"/>
          </a:xfrm>
          <a:prstGeom prst="rect">
            <a:avLst/>
          </a:prstGeom>
          <a:solidFill>
            <a:srgbClr val="0F1020"/>
          </a:solidFill>
          <a:ln w="3810">
            <a:solidFill>
              <a:srgbClr val="2A2D50"/>
            </a:solidFill>
            <a:prstDash val="solid"/>
          </a:ln>
        </p:spPr>
      </p:sp>
      <p:sp>
        <p:nvSpPr>
          <p:cNvPr id="18" name="Shape 16"/>
          <p:cNvSpPr/>
          <p:nvPr/>
        </p:nvSpPr>
        <p:spPr>
          <a:xfrm>
            <a:off x="438912" y="1938528"/>
            <a:ext cx="658368" cy="201168"/>
          </a:xfrm>
          <a:prstGeom prst="rect">
            <a:avLst/>
          </a:prstGeom>
          <a:solidFill>
            <a:srgbClr val="4A90D9">
              <a:alpha val="25000"/>
            </a:srgbClr>
          </a:solidFill>
          <a:ln w="10160">
            <a:solidFill>
              <a:srgbClr val="4A90D9"/>
            </a:solidFill>
            <a:prstDash val="solid"/>
          </a:ln>
        </p:spPr>
      </p:sp>
      <p:sp>
        <p:nvSpPr>
          <p:cNvPr id="19" name="Text 17"/>
          <p:cNvSpPr/>
          <p:nvPr/>
        </p:nvSpPr>
        <p:spPr>
          <a:xfrm>
            <a:off x="438912" y="1938528"/>
            <a:ext cx="658368" cy="201168"/>
          </a:xfrm>
          <a:prstGeom prst="rect">
            <a:avLst/>
          </a:prstGeom>
          <a:noFill/>
          <a:ln/>
        </p:spPr>
        <p:txBody>
          <a:bodyPr wrap="square" rtlCol="0" anchor="ctr"/>
          <a:lstStyle/>
          <a:p>
            <a:pPr marL="0" indent="0" algn="ctr">
              <a:buNone/>
            </a:pPr>
            <a:r>
              <a:rPr lang="en-US" sz="850" b="1" dirty="0">
                <a:solidFill>
                  <a:srgbClr val="4A90D9"/>
                </a:solidFill>
                <a:latin typeface="Calibri" pitchFamily="34" charset="0"/>
                <a:ea typeface="Calibri" pitchFamily="34" charset="-122"/>
                <a:cs typeface="Calibri" pitchFamily="34" charset="-120"/>
              </a:rPr>
              <a:t>Hadi</a:t>
            </a:r>
            <a:endParaRPr lang="en-US" sz="850" dirty="0"/>
          </a:p>
        </p:txBody>
      </p:sp>
      <p:sp>
        <p:nvSpPr>
          <p:cNvPr id="20" name="Text 18"/>
          <p:cNvSpPr/>
          <p:nvPr/>
        </p:nvSpPr>
        <p:spPr>
          <a:xfrm>
            <a:off x="2423160" y="1883664"/>
            <a:ext cx="2423160" cy="320040"/>
          </a:xfrm>
          <a:prstGeom prst="rect">
            <a:avLst/>
          </a:prstGeom>
          <a:noFill/>
          <a:ln/>
        </p:spPr>
        <p:txBody>
          <a:bodyPr wrap="square" rtlCol="0" anchor="ctr"/>
          <a:lstStyle/>
          <a:p>
            <a:pPr marL="0" indent="0">
              <a:buNone/>
            </a:pPr>
            <a:r>
              <a:rPr lang="en-US" sz="950" dirty="0">
                <a:solidFill>
                  <a:srgbClr val="E8E8F0"/>
                </a:solidFill>
                <a:latin typeface="Calibri" pitchFamily="34" charset="0"/>
                <a:ea typeface="Calibri" pitchFamily="34" charset="-122"/>
                <a:cs typeface="Calibri" pitchFamily="34" charset="-120"/>
              </a:rPr>
              <a:t>Dataset cleaning + joining (4 sources)</a:t>
            </a:r>
            <a:endParaRPr lang="en-US" sz="950" dirty="0"/>
          </a:p>
        </p:txBody>
      </p:sp>
      <p:sp>
        <p:nvSpPr>
          <p:cNvPr id="21" name="Text 19"/>
          <p:cNvSpPr/>
          <p:nvPr/>
        </p:nvSpPr>
        <p:spPr>
          <a:xfrm>
            <a:off x="5074920" y="1883664"/>
            <a:ext cx="2011680" cy="320040"/>
          </a:xfrm>
          <a:prstGeom prst="rect">
            <a:avLst/>
          </a:prstGeom>
          <a:noFill/>
          <a:ln/>
        </p:spPr>
        <p:txBody>
          <a:bodyPr wrap="square" rtlCol="0" anchor="ctr"/>
          <a:lstStyle/>
          <a:p>
            <a:pPr marL="0" indent="0">
              <a:buNone/>
            </a:pPr>
            <a:r>
              <a:rPr lang="en-US" sz="900" dirty="0">
                <a:solidFill>
                  <a:srgbClr val="8888AA"/>
                </a:solidFill>
                <a:latin typeface="Calibri" pitchFamily="34" charset="0"/>
                <a:ea typeface="Calibri" pitchFamily="34" charset="-122"/>
                <a:cs typeface="Calibri" pitchFamily="34" charset="-120"/>
              </a:rPr>
              <a:t>Data</a:t>
            </a:r>
            <a:endParaRPr lang="en-US" sz="900" dirty="0"/>
          </a:p>
        </p:txBody>
      </p:sp>
      <p:sp>
        <p:nvSpPr>
          <p:cNvPr id="22" name="Shape 20"/>
          <p:cNvSpPr/>
          <p:nvPr/>
        </p:nvSpPr>
        <p:spPr>
          <a:xfrm>
            <a:off x="7315200" y="1938528"/>
            <a:ext cx="1280160" cy="201168"/>
          </a:xfrm>
          <a:prstGeom prst="rect">
            <a:avLst/>
          </a:prstGeom>
          <a:solidFill>
            <a:srgbClr val="2A2D50">
              <a:alpha val="60000"/>
            </a:srgbClr>
          </a:solidFill>
          <a:ln w="12700">
            <a:solidFill>
              <a:srgbClr val="2A2D50"/>
            </a:solidFill>
            <a:prstDash val="solid"/>
          </a:ln>
        </p:spPr>
      </p:sp>
      <p:sp>
        <p:nvSpPr>
          <p:cNvPr id="23" name="Text 21"/>
          <p:cNvSpPr/>
          <p:nvPr/>
        </p:nvSpPr>
        <p:spPr>
          <a:xfrm>
            <a:off x="7315200" y="1938528"/>
            <a:ext cx="1280160" cy="201168"/>
          </a:xfrm>
          <a:prstGeom prst="rect">
            <a:avLst/>
          </a:prstGeom>
          <a:noFill/>
          <a:ln/>
        </p:spPr>
        <p:txBody>
          <a:bodyPr wrap="square" rtlCol="0" anchor="ctr"/>
          <a:lstStyle/>
          <a:p>
            <a:pPr marL="0" indent="0" algn="ctr">
              <a:buNone/>
            </a:pPr>
            <a:r>
              <a:rPr lang="en-US" sz="850" b="1" dirty="0">
                <a:solidFill>
                  <a:srgbClr val="8888AA"/>
                </a:solidFill>
                <a:latin typeface="Calibri" pitchFamily="34" charset="0"/>
                <a:ea typeface="Calibri" pitchFamily="34" charset="-122"/>
                <a:cs typeface="Calibri" pitchFamily="34" charset="-120"/>
              </a:rPr>
              <a:t>Upcoming</a:t>
            </a:r>
            <a:endParaRPr lang="en-US" sz="850" dirty="0"/>
          </a:p>
        </p:txBody>
      </p:sp>
      <p:sp>
        <p:nvSpPr>
          <p:cNvPr id="24" name="Shape 22"/>
          <p:cNvSpPr/>
          <p:nvPr/>
        </p:nvSpPr>
        <p:spPr>
          <a:xfrm>
            <a:off x="365760" y="2231136"/>
            <a:ext cx="8412480" cy="320040"/>
          </a:xfrm>
          <a:prstGeom prst="rect">
            <a:avLst/>
          </a:prstGeom>
          <a:solidFill>
            <a:srgbClr val="1A1C35"/>
          </a:solidFill>
          <a:ln w="3810">
            <a:solidFill>
              <a:srgbClr val="2A2D50"/>
            </a:solidFill>
            <a:prstDash val="solid"/>
          </a:ln>
        </p:spPr>
      </p:sp>
      <p:sp>
        <p:nvSpPr>
          <p:cNvPr id="25" name="Shape 23"/>
          <p:cNvSpPr/>
          <p:nvPr/>
        </p:nvSpPr>
        <p:spPr>
          <a:xfrm>
            <a:off x="438912" y="2286000"/>
            <a:ext cx="658368" cy="201168"/>
          </a:xfrm>
          <a:prstGeom prst="rect">
            <a:avLst/>
          </a:prstGeom>
          <a:solidFill>
            <a:srgbClr val="4A90D9">
              <a:alpha val="25000"/>
            </a:srgbClr>
          </a:solidFill>
          <a:ln w="10160">
            <a:solidFill>
              <a:srgbClr val="4A90D9"/>
            </a:solidFill>
            <a:prstDash val="solid"/>
          </a:ln>
        </p:spPr>
      </p:sp>
      <p:sp>
        <p:nvSpPr>
          <p:cNvPr id="26" name="Text 24"/>
          <p:cNvSpPr/>
          <p:nvPr/>
        </p:nvSpPr>
        <p:spPr>
          <a:xfrm>
            <a:off x="438912" y="2286000"/>
            <a:ext cx="658368" cy="201168"/>
          </a:xfrm>
          <a:prstGeom prst="rect">
            <a:avLst/>
          </a:prstGeom>
          <a:noFill/>
          <a:ln/>
        </p:spPr>
        <p:txBody>
          <a:bodyPr wrap="square" rtlCol="0" anchor="ctr"/>
          <a:lstStyle/>
          <a:p>
            <a:pPr marL="0" indent="0" algn="ctr">
              <a:buNone/>
            </a:pPr>
            <a:r>
              <a:rPr lang="en-US" sz="850" b="1" dirty="0">
                <a:solidFill>
                  <a:srgbClr val="4A90D9"/>
                </a:solidFill>
                <a:latin typeface="Calibri" pitchFamily="34" charset="0"/>
                <a:ea typeface="Calibri" pitchFamily="34" charset="-122"/>
                <a:cs typeface="Calibri" pitchFamily="34" charset="-120"/>
              </a:rPr>
              <a:t>Hadi</a:t>
            </a:r>
            <a:endParaRPr lang="en-US" sz="850" dirty="0"/>
          </a:p>
        </p:txBody>
      </p:sp>
      <p:sp>
        <p:nvSpPr>
          <p:cNvPr id="27" name="Text 25"/>
          <p:cNvSpPr/>
          <p:nvPr/>
        </p:nvSpPr>
        <p:spPr>
          <a:xfrm>
            <a:off x="2423160" y="2231136"/>
            <a:ext cx="2423160" cy="320040"/>
          </a:xfrm>
          <a:prstGeom prst="rect">
            <a:avLst/>
          </a:prstGeom>
          <a:noFill/>
          <a:ln/>
        </p:spPr>
        <p:txBody>
          <a:bodyPr wrap="square" rtlCol="0" anchor="ctr"/>
          <a:lstStyle/>
          <a:p>
            <a:pPr marL="0" indent="0">
              <a:buNone/>
            </a:pPr>
            <a:r>
              <a:rPr lang="en-US" sz="950" dirty="0">
                <a:solidFill>
                  <a:srgbClr val="E8E8F0"/>
                </a:solidFill>
                <a:latin typeface="Calibri" pitchFamily="34" charset="0"/>
                <a:ea typeface="Calibri" pitchFamily="34" charset="-122"/>
                <a:cs typeface="Calibri" pitchFamily="34" charset="-120"/>
              </a:rPr>
              <a:t>GitHub repo + logs maintenance</a:t>
            </a:r>
            <a:endParaRPr lang="en-US" sz="950" dirty="0"/>
          </a:p>
        </p:txBody>
      </p:sp>
      <p:sp>
        <p:nvSpPr>
          <p:cNvPr id="28" name="Text 26"/>
          <p:cNvSpPr/>
          <p:nvPr/>
        </p:nvSpPr>
        <p:spPr>
          <a:xfrm>
            <a:off x="5074920" y="2231136"/>
            <a:ext cx="2011680" cy="320040"/>
          </a:xfrm>
          <a:prstGeom prst="rect">
            <a:avLst/>
          </a:prstGeom>
          <a:noFill/>
          <a:ln/>
        </p:spPr>
        <p:txBody>
          <a:bodyPr wrap="square" rtlCol="0" anchor="ctr"/>
          <a:lstStyle/>
          <a:p>
            <a:pPr marL="0" indent="0">
              <a:buNone/>
            </a:pPr>
            <a:r>
              <a:rPr lang="en-US" sz="900" dirty="0">
                <a:solidFill>
                  <a:srgbClr val="8888AA"/>
                </a:solidFill>
                <a:latin typeface="Calibri" pitchFamily="34" charset="0"/>
                <a:ea typeface="Calibri" pitchFamily="34" charset="-122"/>
                <a:cs typeface="Calibri" pitchFamily="34" charset="-120"/>
              </a:rPr>
              <a:t>Ongoing</a:t>
            </a:r>
            <a:endParaRPr lang="en-US" sz="900" dirty="0"/>
          </a:p>
        </p:txBody>
      </p:sp>
      <p:sp>
        <p:nvSpPr>
          <p:cNvPr id="29" name="Shape 27"/>
          <p:cNvSpPr/>
          <p:nvPr/>
        </p:nvSpPr>
        <p:spPr>
          <a:xfrm>
            <a:off x="7315200" y="2286000"/>
            <a:ext cx="1280160" cy="201168"/>
          </a:xfrm>
          <a:prstGeom prst="rect">
            <a:avLst/>
          </a:prstGeom>
          <a:solidFill>
            <a:srgbClr val="27AE60">
              <a:alpha val="80000"/>
            </a:srgbClr>
          </a:solidFill>
          <a:ln w="12700">
            <a:solidFill>
              <a:srgbClr val="27AE60"/>
            </a:solidFill>
            <a:prstDash val="solid"/>
          </a:ln>
        </p:spPr>
      </p:sp>
      <p:sp>
        <p:nvSpPr>
          <p:cNvPr id="30" name="Text 28"/>
          <p:cNvSpPr/>
          <p:nvPr/>
        </p:nvSpPr>
        <p:spPr>
          <a:xfrm>
            <a:off x="7315200" y="2286000"/>
            <a:ext cx="1280160" cy="201168"/>
          </a:xfrm>
          <a:prstGeom prst="rect">
            <a:avLst/>
          </a:prstGeom>
          <a:noFill/>
          <a:ln/>
        </p:spPr>
        <p:txBody>
          <a:bodyPr wrap="square" rtlCol="0" anchor="ctr"/>
          <a:lstStyle/>
          <a:p>
            <a:pPr marL="0" indent="0" algn="ctr">
              <a:buNone/>
            </a:pPr>
            <a:r>
              <a:rPr lang="en-US" sz="850" b="1" dirty="0">
                <a:solidFill>
                  <a:srgbClr val="27AE60"/>
                </a:solidFill>
                <a:latin typeface="Calibri" pitchFamily="34" charset="0"/>
                <a:ea typeface="Calibri" pitchFamily="34" charset="-122"/>
                <a:cs typeface="Calibri" pitchFamily="34" charset="-120"/>
              </a:rPr>
              <a:t>Done</a:t>
            </a:r>
            <a:endParaRPr lang="en-US" sz="850" dirty="0"/>
          </a:p>
        </p:txBody>
      </p:sp>
      <p:sp>
        <p:nvSpPr>
          <p:cNvPr id="31" name="Shape 29"/>
          <p:cNvSpPr/>
          <p:nvPr/>
        </p:nvSpPr>
        <p:spPr>
          <a:xfrm>
            <a:off x="365760" y="2578608"/>
            <a:ext cx="8412480" cy="320040"/>
          </a:xfrm>
          <a:prstGeom prst="rect">
            <a:avLst/>
          </a:prstGeom>
          <a:solidFill>
            <a:srgbClr val="0F1020"/>
          </a:solidFill>
          <a:ln w="3810">
            <a:solidFill>
              <a:srgbClr val="2A2D50"/>
            </a:solidFill>
            <a:prstDash val="solid"/>
          </a:ln>
        </p:spPr>
      </p:sp>
      <p:sp>
        <p:nvSpPr>
          <p:cNvPr id="32" name="Shape 30"/>
          <p:cNvSpPr/>
          <p:nvPr/>
        </p:nvSpPr>
        <p:spPr>
          <a:xfrm>
            <a:off x="438912" y="2633472"/>
            <a:ext cx="658368" cy="201168"/>
          </a:xfrm>
          <a:prstGeom prst="rect">
            <a:avLst/>
          </a:prstGeom>
          <a:solidFill>
            <a:srgbClr val="00C2CB">
              <a:alpha val="25000"/>
            </a:srgbClr>
          </a:solidFill>
          <a:ln w="10160">
            <a:solidFill>
              <a:srgbClr val="00C2CB"/>
            </a:solidFill>
            <a:prstDash val="solid"/>
          </a:ln>
        </p:spPr>
      </p:sp>
      <p:sp>
        <p:nvSpPr>
          <p:cNvPr id="33" name="Text 31"/>
          <p:cNvSpPr/>
          <p:nvPr/>
        </p:nvSpPr>
        <p:spPr>
          <a:xfrm>
            <a:off x="438912" y="2633472"/>
            <a:ext cx="658368" cy="201168"/>
          </a:xfrm>
          <a:prstGeom prst="rect">
            <a:avLst/>
          </a:prstGeom>
          <a:noFill/>
          <a:ln/>
        </p:spPr>
        <p:txBody>
          <a:bodyPr wrap="square" rtlCol="0" anchor="ctr"/>
          <a:lstStyle/>
          <a:p>
            <a:pPr marL="0" indent="0" algn="ctr">
              <a:buNone/>
            </a:pPr>
            <a:r>
              <a:rPr lang="en-US" sz="850" b="1" dirty="0">
                <a:solidFill>
                  <a:srgbClr val="00C2CB"/>
                </a:solidFill>
                <a:latin typeface="Calibri" pitchFamily="34" charset="0"/>
                <a:ea typeface="Calibri" pitchFamily="34" charset="-122"/>
                <a:cs typeface="Calibri" pitchFamily="34" charset="-120"/>
              </a:rPr>
              <a:t>Fatih</a:t>
            </a:r>
            <a:endParaRPr lang="en-US" sz="850" dirty="0"/>
          </a:p>
        </p:txBody>
      </p:sp>
      <p:sp>
        <p:nvSpPr>
          <p:cNvPr id="34" name="Text 32"/>
          <p:cNvSpPr/>
          <p:nvPr/>
        </p:nvSpPr>
        <p:spPr>
          <a:xfrm>
            <a:off x="2423160" y="2578608"/>
            <a:ext cx="2423160" cy="320040"/>
          </a:xfrm>
          <a:prstGeom prst="rect">
            <a:avLst/>
          </a:prstGeom>
          <a:noFill/>
          <a:ln/>
        </p:spPr>
        <p:txBody>
          <a:bodyPr wrap="square" rtlCol="0" anchor="ctr"/>
          <a:lstStyle/>
          <a:p>
            <a:pPr marL="0" indent="0">
              <a:buNone/>
            </a:pPr>
            <a:r>
              <a:rPr lang="en-US" sz="950" dirty="0">
                <a:solidFill>
                  <a:srgbClr val="E8E8F0"/>
                </a:solidFill>
                <a:latin typeface="Calibri" pitchFamily="34" charset="0"/>
                <a:ea typeface="Calibri" pitchFamily="34" charset="-122"/>
                <a:cs typeface="Calibri" pitchFamily="34" charset="-120"/>
              </a:rPr>
              <a:t>Exploratory data analysis (EDA)</a:t>
            </a:r>
            <a:endParaRPr lang="en-US" sz="950" dirty="0"/>
          </a:p>
        </p:txBody>
      </p:sp>
      <p:sp>
        <p:nvSpPr>
          <p:cNvPr id="35" name="Text 33"/>
          <p:cNvSpPr/>
          <p:nvPr/>
        </p:nvSpPr>
        <p:spPr>
          <a:xfrm>
            <a:off x="5074920" y="2578608"/>
            <a:ext cx="2011680" cy="320040"/>
          </a:xfrm>
          <a:prstGeom prst="rect">
            <a:avLst/>
          </a:prstGeom>
          <a:noFill/>
          <a:ln/>
        </p:spPr>
        <p:txBody>
          <a:bodyPr wrap="square" rtlCol="0" anchor="ctr"/>
          <a:lstStyle/>
          <a:p>
            <a:pPr marL="0" indent="0">
              <a:buNone/>
            </a:pPr>
            <a:r>
              <a:rPr lang="en-US" sz="900" dirty="0">
                <a:solidFill>
                  <a:srgbClr val="8888AA"/>
                </a:solidFill>
                <a:latin typeface="Calibri" pitchFamily="34" charset="0"/>
                <a:ea typeface="Calibri" pitchFamily="34" charset="-122"/>
                <a:cs typeface="Calibri" pitchFamily="34" charset="-120"/>
              </a:rPr>
              <a:t>Analysis</a:t>
            </a:r>
            <a:endParaRPr lang="en-US" sz="900" dirty="0"/>
          </a:p>
        </p:txBody>
      </p:sp>
      <p:sp>
        <p:nvSpPr>
          <p:cNvPr id="36" name="Shape 34"/>
          <p:cNvSpPr/>
          <p:nvPr/>
        </p:nvSpPr>
        <p:spPr>
          <a:xfrm>
            <a:off x="7315200" y="2633472"/>
            <a:ext cx="1280160" cy="201168"/>
          </a:xfrm>
          <a:prstGeom prst="rect">
            <a:avLst/>
          </a:prstGeom>
          <a:solidFill>
            <a:srgbClr val="2A2D50">
              <a:alpha val="60000"/>
            </a:srgbClr>
          </a:solidFill>
          <a:ln w="12700">
            <a:solidFill>
              <a:srgbClr val="2A2D50"/>
            </a:solidFill>
            <a:prstDash val="solid"/>
          </a:ln>
        </p:spPr>
      </p:sp>
      <p:sp>
        <p:nvSpPr>
          <p:cNvPr id="37" name="Text 35"/>
          <p:cNvSpPr/>
          <p:nvPr/>
        </p:nvSpPr>
        <p:spPr>
          <a:xfrm>
            <a:off x="7315200" y="2633472"/>
            <a:ext cx="1280160" cy="201168"/>
          </a:xfrm>
          <a:prstGeom prst="rect">
            <a:avLst/>
          </a:prstGeom>
          <a:noFill/>
          <a:ln/>
        </p:spPr>
        <p:txBody>
          <a:bodyPr wrap="square" rtlCol="0" anchor="ctr"/>
          <a:lstStyle/>
          <a:p>
            <a:pPr marL="0" indent="0" algn="ctr">
              <a:buNone/>
            </a:pPr>
            <a:r>
              <a:rPr lang="en-US" sz="850" b="1" dirty="0">
                <a:solidFill>
                  <a:srgbClr val="8888AA"/>
                </a:solidFill>
                <a:latin typeface="Calibri" pitchFamily="34" charset="0"/>
                <a:ea typeface="Calibri" pitchFamily="34" charset="-122"/>
                <a:cs typeface="Calibri" pitchFamily="34" charset="-120"/>
              </a:rPr>
              <a:t>Upcoming</a:t>
            </a:r>
            <a:endParaRPr lang="en-US" sz="850" dirty="0"/>
          </a:p>
        </p:txBody>
      </p:sp>
      <p:sp>
        <p:nvSpPr>
          <p:cNvPr id="38" name="Shape 36"/>
          <p:cNvSpPr/>
          <p:nvPr/>
        </p:nvSpPr>
        <p:spPr>
          <a:xfrm>
            <a:off x="365760" y="2926080"/>
            <a:ext cx="8412480" cy="320040"/>
          </a:xfrm>
          <a:prstGeom prst="rect">
            <a:avLst/>
          </a:prstGeom>
          <a:solidFill>
            <a:srgbClr val="1A1C35"/>
          </a:solidFill>
          <a:ln w="3810">
            <a:solidFill>
              <a:srgbClr val="2A2D50"/>
            </a:solidFill>
            <a:prstDash val="solid"/>
          </a:ln>
        </p:spPr>
      </p:sp>
      <p:sp>
        <p:nvSpPr>
          <p:cNvPr id="39" name="Shape 37"/>
          <p:cNvSpPr/>
          <p:nvPr/>
        </p:nvSpPr>
        <p:spPr>
          <a:xfrm>
            <a:off x="438912" y="2980944"/>
            <a:ext cx="658368" cy="201168"/>
          </a:xfrm>
          <a:prstGeom prst="rect">
            <a:avLst/>
          </a:prstGeom>
          <a:solidFill>
            <a:srgbClr val="00C2CB">
              <a:alpha val="25000"/>
            </a:srgbClr>
          </a:solidFill>
          <a:ln w="10160">
            <a:solidFill>
              <a:srgbClr val="00C2CB"/>
            </a:solidFill>
            <a:prstDash val="solid"/>
          </a:ln>
        </p:spPr>
      </p:sp>
      <p:sp>
        <p:nvSpPr>
          <p:cNvPr id="40" name="Text 38"/>
          <p:cNvSpPr/>
          <p:nvPr/>
        </p:nvSpPr>
        <p:spPr>
          <a:xfrm>
            <a:off x="438912" y="2980944"/>
            <a:ext cx="658368" cy="201168"/>
          </a:xfrm>
          <a:prstGeom prst="rect">
            <a:avLst/>
          </a:prstGeom>
          <a:noFill/>
          <a:ln/>
        </p:spPr>
        <p:txBody>
          <a:bodyPr wrap="square" rtlCol="0" anchor="ctr"/>
          <a:lstStyle/>
          <a:p>
            <a:pPr marL="0" indent="0" algn="ctr">
              <a:buNone/>
            </a:pPr>
            <a:r>
              <a:rPr lang="en-US" sz="850" b="1" dirty="0">
                <a:solidFill>
                  <a:srgbClr val="00C2CB"/>
                </a:solidFill>
                <a:latin typeface="Calibri" pitchFamily="34" charset="0"/>
                <a:ea typeface="Calibri" pitchFamily="34" charset="-122"/>
                <a:cs typeface="Calibri" pitchFamily="34" charset="-120"/>
              </a:rPr>
              <a:t>Fatih</a:t>
            </a:r>
            <a:endParaRPr lang="en-US" sz="850" dirty="0"/>
          </a:p>
        </p:txBody>
      </p:sp>
      <p:sp>
        <p:nvSpPr>
          <p:cNvPr id="41" name="Text 39"/>
          <p:cNvSpPr/>
          <p:nvPr/>
        </p:nvSpPr>
        <p:spPr>
          <a:xfrm>
            <a:off x="2423160" y="2926080"/>
            <a:ext cx="2423160" cy="320040"/>
          </a:xfrm>
          <a:prstGeom prst="rect">
            <a:avLst/>
          </a:prstGeom>
          <a:noFill/>
          <a:ln/>
        </p:spPr>
        <p:txBody>
          <a:bodyPr wrap="square" rtlCol="0" anchor="ctr"/>
          <a:lstStyle/>
          <a:p>
            <a:pPr marL="0" indent="0">
              <a:buNone/>
            </a:pPr>
            <a:r>
              <a:rPr lang="en-US" sz="950" dirty="0">
                <a:solidFill>
                  <a:srgbClr val="E8E8F0"/>
                </a:solidFill>
                <a:latin typeface="Calibri" pitchFamily="34" charset="0"/>
                <a:ea typeface="Calibri" pitchFamily="34" charset="-122"/>
                <a:cs typeface="Calibri" pitchFamily="34" charset="-120"/>
              </a:rPr>
              <a:t>Correlation + regression modeling</a:t>
            </a:r>
            <a:endParaRPr lang="en-US" sz="950" dirty="0"/>
          </a:p>
        </p:txBody>
      </p:sp>
      <p:sp>
        <p:nvSpPr>
          <p:cNvPr id="42" name="Text 40"/>
          <p:cNvSpPr/>
          <p:nvPr/>
        </p:nvSpPr>
        <p:spPr>
          <a:xfrm>
            <a:off x="5074920" y="2926080"/>
            <a:ext cx="2011680" cy="320040"/>
          </a:xfrm>
          <a:prstGeom prst="rect">
            <a:avLst/>
          </a:prstGeom>
          <a:noFill/>
          <a:ln/>
        </p:spPr>
        <p:txBody>
          <a:bodyPr wrap="square" rtlCol="0" anchor="ctr"/>
          <a:lstStyle/>
          <a:p>
            <a:pPr marL="0" indent="0">
              <a:buNone/>
            </a:pPr>
            <a:r>
              <a:rPr lang="en-US" sz="900" dirty="0">
                <a:solidFill>
                  <a:srgbClr val="8888AA"/>
                </a:solidFill>
                <a:latin typeface="Calibri" pitchFamily="34" charset="0"/>
                <a:ea typeface="Calibri" pitchFamily="34" charset="-122"/>
                <a:cs typeface="Calibri" pitchFamily="34" charset="-120"/>
              </a:rPr>
              <a:t>Analysis</a:t>
            </a:r>
            <a:endParaRPr lang="en-US" sz="900" dirty="0"/>
          </a:p>
        </p:txBody>
      </p:sp>
      <p:sp>
        <p:nvSpPr>
          <p:cNvPr id="43" name="Shape 41"/>
          <p:cNvSpPr/>
          <p:nvPr/>
        </p:nvSpPr>
        <p:spPr>
          <a:xfrm>
            <a:off x="7315200" y="2980944"/>
            <a:ext cx="1280160" cy="201168"/>
          </a:xfrm>
          <a:prstGeom prst="rect">
            <a:avLst/>
          </a:prstGeom>
          <a:solidFill>
            <a:srgbClr val="2A2D50">
              <a:alpha val="60000"/>
            </a:srgbClr>
          </a:solidFill>
          <a:ln w="12700">
            <a:solidFill>
              <a:srgbClr val="2A2D50"/>
            </a:solidFill>
            <a:prstDash val="solid"/>
          </a:ln>
        </p:spPr>
      </p:sp>
      <p:sp>
        <p:nvSpPr>
          <p:cNvPr id="44" name="Text 42"/>
          <p:cNvSpPr/>
          <p:nvPr/>
        </p:nvSpPr>
        <p:spPr>
          <a:xfrm>
            <a:off x="7315200" y="2980944"/>
            <a:ext cx="1280160" cy="201168"/>
          </a:xfrm>
          <a:prstGeom prst="rect">
            <a:avLst/>
          </a:prstGeom>
          <a:noFill/>
          <a:ln/>
        </p:spPr>
        <p:txBody>
          <a:bodyPr wrap="square" rtlCol="0" anchor="ctr"/>
          <a:lstStyle/>
          <a:p>
            <a:pPr marL="0" indent="0" algn="ctr">
              <a:buNone/>
            </a:pPr>
            <a:r>
              <a:rPr lang="en-US" sz="850" b="1" dirty="0">
                <a:solidFill>
                  <a:srgbClr val="8888AA"/>
                </a:solidFill>
                <a:latin typeface="Calibri" pitchFamily="34" charset="0"/>
                <a:ea typeface="Calibri" pitchFamily="34" charset="-122"/>
                <a:cs typeface="Calibri" pitchFamily="34" charset="-120"/>
              </a:rPr>
              <a:t>Upcoming</a:t>
            </a:r>
            <a:endParaRPr lang="en-US" sz="850" dirty="0"/>
          </a:p>
        </p:txBody>
      </p:sp>
      <p:sp>
        <p:nvSpPr>
          <p:cNvPr id="45" name="Shape 43"/>
          <p:cNvSpPr/>
          <p:nvPr/>
        </p:nvSpPr>
        <p:spPr>
          <a:xfrm>
            <a:off x="365760" y="3273552"/>
            <a:ext cx="8412480" cy="320040"/>
          </a:xfrm>
          <a:prstGeom prst="rect">
            <a:avLst/>
          </a:prstGeom>
          <a:solidFill>
            <a:srgbClr val="0F1020"/>
          </a:solidFill>
          <a:ln w="3810">
            <a:solidFill>
              <a:srgbClr val="2A2D50"/>
            </a:solidFill>
            <a:prstDash val="solid"/>
          </a:ln>
        </p:spPr>
      </p:sp>
      <p:sp>
        <p:nvSpPr>
          <p:cNvPr id="46" name="Shape 44"/>
          <p:cNvSpPr/>
          <p:nvPr/>
        </p:nvSpPr>
        <p:spPr>
          <a:xfrm>
            <a:off x="438912" y="3328416"/>
            <a:ext cx="658368" cy="201168"/>
          </a:xfrm>
          <a:prstGeom prst="rect">
            <a:avLst/>
          </a:prstGeom>
          <a:solidFill>
            <a:srgbClr val="00C2CB">
              <a:alpha val="25000"/>
            </a:srgbClr>
          </a:solidFill>
          <a:ln w="10160">
            <a:solidFill>
              <a:srgbClr val="00C2CB"/>
            </a:solidFill>
            <a:prstDash val="solid"/>
          </a:ln>
        </p:spPr>
      </p:sp>
      <p:sp>
        <p:nvSpPr>
          <p:cNvPr id="47" name="Text 45"/>
          <p:cNvSpPr/>
          <p:nvPr/>
        </p:nvSpPr>
        <p:spPr>
          <a:xfrm>
            <a:off x="438912" y="3328416"/>
            <a:ext cx="658368" cy="201168"/>
          </a:xfrm>
          <a:prstGeom prst="rect">
            <a:avLst/>
          </a:prstGeom>
          <a:noFill/>
          <a:ln/>
        </p:spPr>
        <p:txBody>
          <a:bodyPr wrap="square" rtlCol="0" anchor="ctr"/>
          <a:lstStyle/>
          <a:p>
            <a:pPr marL="0" indent="0" algn="ctr">
              <a:buNone/>
            </a:pPr>
            <a:r>
              <a:rPr lang="en-US" sz="850" b="1" dirty="0">
                <a:solidFill>
                  <a:srgbClr val="00C2CB"/>
                </a:solidFill>
                <a:latin typeface="Calibri" pitchFamily="34" charset="0"/>
                <a:ea typeface="Calibri" pitchFamily="34" charset="-122"/>
                <a:cs typeface="Calibri" pitchFamily="34" charset="-120"/>
              </a:rPr>
              <a:t>Fatih</a:t>
            </a:r>
            <a:endParaRPr lang="en-US" sz="850" dirty="0"/>
          </a:p>
        </p:txBody>
      </p:sp>
      <p:sp>
        <p:nvSpPr>
          <p:cNvPr id="48" name="Text 46"/>
          <p:cNvSpPr/>
          <p:nvPr/>
        </p:nvSpPr>
        <p:spPr>
          <a:xfrm>
            <a:off x="2423160" y="3273552"/>
            <a:ext cx="2423160" cy="320040"/>
          </a:xfrm>
          <a:prstGeom prst="rect">
            <a:avLst/>
          </a:prstGeom>
          <a:noFill/>
          <a:ln/>
        </p:spPr>
        <p:txBody>
          <a:bodyPr wrap="square" rtlCol="0" anchor="ctr"/>
          <a:lstStyle/>
          <a:p>
            <a:pPr marL="0" indent="0">
              <a:buNone/>
            </a:pPr>
            <a:r>
              <a:rPr lang="en-US" sz="950" dirty="0">
                <a:solidFill>
                  <a:srgbClr val="E8E8F0"/>
                </a:solidFill>
                <a:latin typeface="Calibri" pitchFamily="34" charset="0"/>
                <a:ea typeface="Calibri" pitchFamily="34" charset="-122"/>
                <a:cs typeface="Calibri" pitchFamily="34" charset="-120"/>
              </a:rPr>
              <a:t>Genre-level breakdown findings</a:t>
            </a:r>
            <a:endParaRPr lang="en-US" sz="950" dirty="0"/>
          </a:p>
        </p:txBody>
      </p:sp>
      <p:sp>
        <p:nvSpPr>
          <p:cNvPr id="49" name="Text 47"/>
          <p:cNvSpPr/>
          <p:nvPr/>
        </p:nvSpPr>
        <p:spPr>
          <a:xfrm>
            <a:off x="5074920" y="3273552"/>
            <a:ext cx="2011680" cy="320040"/>
          </a:xfrm>
          <a:prstGeom prst="rect">
            <a:avLst/>
          </a:prstGeom>
          <a:noFill/>
          <a:ln/>
        </p:spPr>
        <p:txBody>
          <a:bodyPr wrap="square" rtlCol="0" anchor="ctr"/>
          <a:lstStyle/>
          <a:p>
            <a:pPr marL="0" indent="0">
              <a:buNone/>
            </a:pPr>
            <a:r>
              <a:rPr lang="en-US" sz="900" dirty="0">
                <a:solidFill>
                  <a:srgbClr val="8888AA"/>
                </a:solidFill>
                <a:latin typeface="Calibri" pitchFamily="34" charset="0"/>
                <a:ea typeface="Calibri" pitchFamily="34" charset="-122"/>
                <a:cs typeface="Calibri" pitchFamily="34" charset="-120"/>
              </a:rPr>
              <a:t>Analysis</a:t>
            </a:r>
            <a:endParaRPr lang="en-US" sz="900" dirty="0"/>
          </a:p>
        </p:txBody>
      </p:sp>
      <p:sp>
        <p:nvSpPr>
          <p:cNvPr id="50" name="Shape 48"/>
          <p:cNvSpPr/>
          <p:nvPr/>
        </p:nvSpPr>
        <p:spPr>
          <a:xfrm>
            <a:off x="7315200" y="3328416"/>
            <a:ext cx="1280160" cy="201168"/>
          </a:xfrm>
          <a:prstGeom prst="rect">
            <a:avLst/>
          </a:prstGeom>
          <a:solidFill>
            <a:srgbClr val="2A2D50">
              <a:alpha val="60000"/>
            </a:srgbClr>
          </a:solidFill>
          <a:ln w="12700">
            <a:solidFill>
              <a:srgbClr val="2A2D50"/>
            </a:solidFill>
            <a:prstDash val="solid"/>
          </a:ln>
        </p:spPr>
      </p:sp>
      <p:sp>
        <p:nvSpPr>
          <p:cNvPr id="51" name="Text 49"/>
          <p:cNvSpPr/>
          <p:nvPr/>
        </p:nvSpPr>
        <p:spPr>
          <a:xfrm>
            <a:off x="7315200" y="3328416"/>
            <a:ext cx="1280160" cy="201168"/>
          </a:xfrm>
          <a:prstGeom prst="rect">
            <a:avLst/>
          </a:prstGeom>
          <a:noFill/>
          <a:ln/>
        </p:spPr>
        <p:txBody>
          <a:bodyPr wrap="square" rtlCol="0" anchor="ctr"/>
          <a:lstStyle/>
          <a:p>
            <a:pPr marL="0" indent="0" algn="ctr">
              <a:buNone/>
            </a:pPr>
            <a:r>
              <a:rPr lang="en-US" sz="850" b="1" dirty="0">
                <a:solidFill>
                  <a:srgbClr val="8888AA"/>
                </a:solidFill>
                <a:latin typeface="Calibri" pitchFamily="34" charset="0"/>
                <a:ea typeface="Calibri" pitchFamily="34" charset="-122"/>
                <a:cs typeface="Calibri" pitchFamily="34" charset="-120"/>
              </a:rPr>
              <a:t>Upcoming</a:t>
            </a:r>
            <a:endParaRPr lang="en-US" sz="850" dirty="0"/>
          </a:p>
        </p:txBody>
      </p:sp>
      <p:sp>
        <p:nvSpPr>
          <p:cNvPr id="52" name="Shape 50"/>
          <p:cNvSpPr/>
          <p:nvPr/>
        </p:nvSpPr>
        <p:spPr>
          <a:xfrm>
            <a:off x="365760" y="3621024"/>
            <a:ext cx="8412480" cy="320040"/>
          </a:xfrm>
          <a:prstGeom prst="rect">
            <a:avLst/>
          </a:prstGeom>
          <a:solidFill>
            <a:srgbClr val="1A1C35"/>
          </a:solidFill>
          <a:ln w="3810">
            <a:solidFill>
              <a:srgbClr val="2A2D50"/>
            </a:solidFill>
            <a:prstDash val="solid"/>
          </a:ln>
        </p:spPr>
      </p:sp>
      <p:sp>
        <p:nvSpPr>
          <p:cNvPr id="53" name="Shape 51"/>
          <p:cNvSpPr/>
          <p:nvPr/>
        </p:nvSpPr>
        <p:spPr>
          <a:xfrm>
            <a:off x="438912" y="3675888"/>
            <a:ext cx="658368" cy="201168"/>
          </a:xfrm>
          <a:prstGeom prst="rect">
            <a:avLst/>
          </a:prstGeom>
          <a:solidFill>
            <a:srgbClr val="F5C518">
              <a:alpha val="25000"/>
            </a:srgbClr>
          </a:solidFill>
          <a:ln w="10160">
            <a:solidFill>
              <a:srgbClr val="F5C518"/>
            </a:solidFill>
            <a:prstDash val="solid"/>
          </a:ln>
        </p:spPr>
      </p:sp>
      <p:sp>
        <p:nvSpPr>
          <p:cNvPr id="54" name="Text 52"/>
          <p:cNvSpPr/>
          <p:nvPr/>
        </p:nvSpPr>
        <p:spPr>
          <a:xfrm>
            <a:off x="438912" y="3675888"/>
            <a:ext cx="658368" cy="201168"/>
          </a:xfrm>
          <a:prstGeom prst="rect">
            <a:avLst/>
          </a:prstGeom>
          <a:noFill/>
          <a:ln/>
        </p:spPr>
        <p:txBody>
          <a:bodyPr wrap="square" rtlCol="0" anchor="ctr"/>
          <a:lstStyle/>
          <a:p>
            <a:pPr marL="0" indent="0" algn="ctr">
              <a:buNone/>
            </a:pPr>
            <a:r>
              <a:rPr lang="en-US" sz="850" b="1" dirty="0">
                <a:solidFill>
                  <a:srgbClr val="F5C518"/>
                </a:solidFill>
                <a:latin typeface="Calibri" pitchFamily="34" charset="0"/>
                <a:ea typeface="Calibri" pitchFamily="34" charset="-122"/>
                <a:cs typeface="Calibri" pitchFamily="34" charset="-120"/>
              </a:rPr>
              <a:t>Yash</a:t>
            </a:r>
            <a:endParaRPr lang="en-US" sz="850" dirty="0"/>
          </a:p>
        </p:txBody>
      </p:sp>
      <p:sp>
        <p:nvSpPr>
          <p:cNvPr id="55" name="Text 53"/>
          <p:cNvSpPr/>
          <p:nvPr/>
        </p:nvSpPr>
        <p:spPr>
          <a:xfrm>
            <a:off x="2423160" y="3621024"/>
            <a:ext cx="2423160" cy="320040"/>
          </a:xfrm>
          <a:prstGeom prst="rect">
            <a:avLst/>
          </a:prstGeom>
          <a:noFill/>
          <a:ln/>
        </p:spPr>
        <p:txBody>
          <a:bodyPr wrap="square" rtlCol="0" anchor="ctr"/>
          <a:lstStyle/>
          <a:p>
            <a:pPr marL="0" indent="0">
              <a:buNone/>
            </a:pPr>
            <a:r>
              <a:rPr lang="en-US" sz="950" dirty="0">
                <a:solidFill>
                  <a:srgbClr val="E8E8F0"/>
                </a:solidFill>
                <a:latin typeface="Calibri" pitchFamily="34" charset="0"/>
                <a:ea typeface="Calibri" pitchFamily="34" charset="-122"/>
                <a:cs typeface="Calibri" pitchFamily="34" charset="-120"/>
              </a:rPr>
              <a:t>Data sourcing + validation</a:t>
            </a:r>
            <a:endParaRPr lang="en-US" sz="950" dirty="0"/>
          </a:p>
        </p:txBody>
      </p:sp>
      <p:sp>
        <p:nvSpPr>
          <p:cNvPr id="56" name="Text 54"/>
          <p:cNvSpPr/>
          <p:nvPr/>
        </p:nvSpPr>
        <p:spPr>
          <a:xfrm>
            <a:off x="5074920" y="3621024"/>
            <a:ext cx="2011680" cy="320040"/>
          </a:xfrm>
          <a:prstGeom prst="rect">
            <a:avLst/>
          </a:prstGeom>
          <a:noFill/>
          <a:ln/>
        </p:spPr>
        <p:txBody>
          <a:bodyPr wrap="square" rtlCol="0" anchor="ctr"/>
          <a:lstStyle/>
          <a:p>
            <a:pPr marL="0" indent="0">
              <a:buNone/>
            </a:pPr>
            <a:r>
              <a:rPr lang="en-US" sz="900" dirty="0">
                <a:solidFill>
                  <a:srgbClr val="8888AA"/>
                </a:solidFill>
                <a:latin typeface="Calibri" pitchFamily="34" charset="0"/>
                <a:ea typeface="Calibri" pitchFamily="34" charset="-122"/>
                <a:cs typeface="Calibri" pitchFamily="34" charset="-120"/>
              </a:rPr>
              <a:t>Data</a:t>
            </a:r>
            <a:endParaRPr lang="en-US" sz="900" dirty="0"/>
          </a:p>
        </p:txBody>
      </p:sp>
      <p:sp>
        <p:nvSpPr>
          <p:cNvPr id="57" name="Shape 55"/>
          <p:cNvSpPr/>
          <p:nvPr/>
        </p:nvSpPr>
        <p:spPr>
          <a:xfrm>
            <a:off x="7315200" y="3675888"/>
            <a:ext cx="1280160" cy="201168"/>
          </a:xfrm>
          <a:prstGeom prst="rect">
            <a:avLst/>
          </a:prstGeom>
          <a:solidFill>
            <a:srgbClr val="27AE60">
              <a:alpha val="80000"/>
            </a:srgbClr>
          </a:solidFill>
          <a:ln w="12700">
            <a:solidFill>
              <a:srgbClr val="27AE60"/>
            </a:solidFill>
            <a:prstDash val="solid"/>
          </a:ln>
        </p:spPr>
      </p:sp>
      <p:sp>
        <p:nvSpPr>
          <p:cNvPr id="58" name="Text 56"/>
          <p:cNvSpPr/>
          <p:nvPr/>
        </p:nvSpPr>
        <p:spPr>
          <a:xfrm>
            <a:off x="7315200" y="3675888"/>
            <a:ext cx="1280160" cy="201168"/>
          </a:xfrm>
          <a:prstGeom prst="rect">
            <a:avLst/>
          </a:prstGeom>
          <a:noFill/>
          <a:ln/>
        </p:spPr>
        <p:txBody>
          <a:bodyPr wrap="square" rtlCol="0" anchor="ctr"/>
          <a:lstStyle/>
          <a:p>
            <a:pPr marL="0" indent="0" algn="ctr">
              <a:buNone/>
            </a:pPr>
            <a:r>
              <a:rPr lang="en-US" sz="850" b="1" dirty="0">
                <a:solidFill>
                  <a:srgbClr val="27AE60"/>
                </a:solidFill>
                <a:latin typeface="Calibri" pitchFamily="34" charset="0"/>
                <a:ea typeface="Calibri" pitchFamily="34" charset="-122"/>
                <a:cs typeface="Calibri" pitchFamily="34" charset="-120"/>
              </a:rPr>
              <a:t>Done</a:t>
            </a:r>
            <a:endParaRPr lang="en-US" sz="850" dirty="0"/>
          </a:p>
        </p:txBody>
      </p:sp>
      <p:sp>
        <p:nvSpPr>
          <p:cNvPr id="59" name="Shape 57"/>
          <p:cNvSpPr/>
          <p:nvPr/>
        </p:nvSpPr>
        <p:spPr>
          <a:xfrm>
            <a:off x="365760" y="3968496"/>
            <a:ext cx="8412480" cy="320040"/>
          </a:xfrm>
          <a:prstGeom prst="rect">
            <a:avLst/>
          </a:prstGeom>
          <a:solidFill>
            <a:srgbClr val="0F1020"/>
          </a:solidFill>
          <a:ln w="3810">
            <a:solidFill>
              <a:srgbClr val="2A2D50"/>
            </a:solidFill>
            <a:prstDash val="solid"/>
          </a:ln>
        </p:spPr>
      </p:sp>
      <p:sp>
        <p:nvSpPr>
          <p:cNvPr id="60" name="Shape 58"/>
          <p:cNvSpPr/>
          <p:nvPr/>
        </p:nvSpPr>
        <p:spPr>
          <a:xfrm>
            <a:off x="438912" y="4023360"/>
            <a:ext cx="658368" cy="201168"/>
          </a:xfrm>
          <a:prstGeom prst="rect">
            <a:avLst/>
          </a:prstGeom>
          <a:solidFill>
            <a:srgbClr val="F5C518">
              <a:alpha val="25000"/>
            </a:srgbClr>
          </a:solidFill>
          <a:ln w="10160">
            <a:solidFill>
              <a:srgbClr val="F5C518"/>
            </a:solidFill>
            <a:prstDash val="solid"/>
          </a:ln>
        </p:spPr>
      </p:sp>
      <p:sp>
        <p:nvSpPr>
          <p:cNvPr id="61" name="Text 59"/>
          <p:cNvSpPr/>
          <p:nvPr/>
        </p:nvSpPr>
        <p:spPr>
          <a:xfrm>
            <a:off x="438912" y="4023360"/>
            <a:ext cx="658368" cy="201168"/>
          </a:xfrm>
          <a:prstGeom prst="rect">
            <a:avLst/>
          </a:prstGeom>
          <a:noFill/>
          <a:ln/>
        </p:spPr>
        <p:txBody>
          <a:bodyPr wrap="square" rtlCol="0" anchor="ctr"/>
          <a:lstStyle/>
          <a:p>
            <a:pPr marL="0" indent="0" algn="ctr">
              <a:buNone/>
            </a:pPr>
            <a:r>
              <a:rPr lang="en-US" sz="850" b="1" dirty="0">
                <a:solidFill>
                  <a:srgbClr val="F5C518"/>
                </a:solidFill>
                <a:latin typeface="Calibri" pitchFamily="34" charset="0"/>
                <a:ea typeface="Calibri" pitchFamily="34" charset="-122"/>
                <a:cs typeface="Calibri" pitchFamily="34" charset="-120"/>
              </a:rPr>
              <a:t>Yash</a:t>
            </a:r>
            <a:endParaRPr lang="en-US" sz="850" dirty="0"/>
          </a:p>
        </p:txBody>
      </p:sp>
      <p:sp>
        <p:nvSpPr>
          <p:cNvPr id="62" name="Text 60"/>
          <p:cNvSpPr/>
          <p:nvPr/>
        </p:nvSpPr>
        <p:spPr>
          <a:xfrm>
            <a:off x="2423160" y="3968496"/>
            <a:ext cx="2423160" cy="320040"/>
          </a:xfrm>
          <a:prstGeom prst="rect">
            <a:avLst/>
          </a:prstGeom>
          <a:noFill/>
          <a:ln/>
        </p:spPr>
        <p:txBody>
          <a:bodyPr wrap="square" rtlCol="0" anchor="ctr"/>
          <a:lstStyle/>
          <a:p>
            <a:pPr marL="0" indent="0">
              <a:buNone/>
            </a:pPr>
            <a:r>
              <a:rPr lang="en-US" sz="950" dirty="0">
                <a:solidFill>
                  <a:srgbClr val="E8E8F0"/>
                </a:solidFill>
                <a:latin typeface="Calibri" pitchFamily="34" charset="0"/>
                <a:ea typeface="Calibri" pitchFamily="34" charset="-122"/>
                <a:cs typeface="Calibri" pitchFamily="34" charset="-120"/>
              </a:rPr>
              <a:t>Tools and technologies write-up</a:t>
            </a:r>
            <a:endParaRPr lang="en-US" sz="950" dirty="0"/>
          </a:p>
        </p:txBody>
      </p:sp>
      <p:sp>
        <p:nvSpPr>
          <p:cNvPr id="63" name="Text 61"/>
          <p:cNvSpPr/>
          <p:nvPr/>
        </p:nvSpPr>
        <p:spPr>
          <a:xfrm>
            <a:off x="5074920" y="3968496"/>
            <a:ext cx="2011680" cy="320040"/>
          </a:xfrm>
          <a:prstGeom prst="rect">
            <a:avLst/>
          </a:prstGeom>
          <a:noFill/>
          <a:ln/>
        </p:spPr>
        <p:txBody>
          <a:bodyPr wrap="square" rtlCol="0" anchor="ctr"/>
          <a:lstStyle/>
          <a:p>
            <a:pPr marL="0" indent="0">
              <a:buNone/>
            </a:pPr>
            <a:r>
              <a:rPr lang="en-US" sz="900" dirty="0">
                <a:solidFill>
                  <a:srgbClr val="8888AA"/>
                </a:solidFill>
                <a:latin typeface="Calibri" pitchFamily="34" charset="0"/>
                <a:ea typeface="Calibri" pitchFamily="34" charset="-122"/>
                <a:cs typeface="Calibri" pitchFamily="34" charset="-120"/>
              </a:rPr>
              <a:t>Planning</a:t>
            </a:r>
            <a:endParaRPr lang="en-US" sz="900" dirty="0"/>
          </a:p>
        </p:txBody>
      </p:sp>
      <p:sp>
        <p:nvSpPr>
          <p:cNvPr id="64" name="Shape 62"/>
          <p:cNvSpPr/>
          <p:nvPr/>
        </p:nvSpPr>
        <p:spPr>
          <a:xfrm>
            <a:off x="7315200" y="4023360"/>
            <a:ext cx="1280160" cy="201168"/>
          </a:xfrm>
          <a:prstGeom prst="rect">
            <a:avLst/>
          </a:prstGeom>
          <a:solidFill>
            <a:srgbClr val="E67E22">
              <a:alpha val="80000"/>
            </a:srgbClr>
          </a:solidFill>
          <a:ln w="12700">
            <a:solidFill>
              <a:srgbClr val="E67E22"/>
            </a:solidFill>
            <a:prstDash val="solid"/>
          </a:ln>
        </p:spPr>
      </p:sp>
      <p:sp>
        <p:nvSpPr>
          <p:cNvPr id="65" name="Text 63"/>
          <p:cNvSpPr/>
          <p:nvPr/>
        </p:nvSpPr>
        <p:spPr>
          <a:xfrm>
            <a:off x="7315200" y="4023360"/>
            <a:ext cx="1280160" cy="201168"/>
          </a:xfrm>
          <a:prstGeom prst="rect">
            <a:avLst/>
          </a:prstGeom>
          <a:noFill/>
          <a:ln/>
        </p:spPr>
        <p:txBody>
          <a:bodyPr wrap="square" rtlCol="0" anchor="ctr"/>
          <a:lstStyle/>
          <a:p>
            <a:pPr marL="0" indent="0" algn="ctr">
              <a:buNone/>
            </a:pPr>
            <a:r>
              <a:rPr lang="en-US" sz="850" b="1" dirty="0">
                <a:solidFill>
                  <a:srgbClr val="E67E22"/>
                </a:solidFill>
                <a:latin typeface="Calibri" pitchFamily="34" charset="0"/>
                <a:ea typeface="Calibri" pitchFamily="34" charset="-122"/>
                <a:cs typeface="Calibri" pitchFamily="34" charset="-120"/>
              </a:rPr>
              <a:t>In Progress</a:t>
            </a:r>
            <a:endParaRPr lang="en-US" sz="850" dirty="0"/>
          </a:p>
        </p:txBody>
      </p:sp>
      <p:sp>
        <p:nvSpPr>
          <p:cNvPr id="66" name="Shape 64"/>
          <p:cNvSpPr/>
          <p:nvPr/>
        </p:nvSpPr>
        <p:spPr>
          <a:xfrm>
            <a:off x="365760" y="4315968"/>
            <a:ext cx="8412480" cy="320040"/>
          </a:xfrm>
          <a:prstGeom prst="rect">
            <a:avLst/>
          </a:prstGeom>
          <a:solidFill>
            <a:srgbClr val="1A1C35"/>
          </a:solidFill>
          <a:ln w="3810">
            <a:solidFill>
              <a:srgbClr val="2A2D50"/>
            </a:solidFill>
            <a:prstDash val="solid"/>
          </a:ln>
        </p:spPr>
      </p:sp>
      <p:sp>
        <p:nvSpPr>
          <p:cNvPr id="67" name="Shape 65"/>
          <p:cNvSpPr/>
          <p:nvPr/>
        </p:nvSpPr>
        <p:spPr>
          <a:xfrm>
            <a:off x="438912" y="4370832"/>
            <a:ext cx="658368" cy="201168"/>
          </a:xfrm>
          <a:prstGeom prst="rect">
            <a:avLst/>
          </a:prstGeom>
          <a:solidFill>
            <a:srgbClr val="F5C518">
              <a:alpha val="25000"/>
            </a:srgbClr>
          </a:solidFill>
          <a:ln w="10160">
            <a:solidFill>
              <a:srgbClr val="F5C518"/>
            </a:solidFill>
            <a:prstDash val="solid"/>
          </a:ln>
        </p:spPr>
      </p:sp>
      <p:sp>
        <p:nvSpPr>
          <p:cNvPr id="68" name="Text 66"/>
          <p:cNvSpPr/>
          <p:nvPr/>
        </p:nvSpPr>
        <p:spPr>
          <a:xfrm>
            <a:off x="438912" y="4370832"/>
            <a:ext cx="658368" cy="201168"/>
          </a:xfrm>
          <a:prstGeom prst="rect">
            <a:avLst/>
          </a:prstGeom>
          <a:noFill/>
          <a:ln/>
        </p:spPr>
        <p:txBody>
          <a:bodyPr wrap="square" rtlCol="0" anchor="ctr"/>
          <a:lstStyle/>
          <a:p>
            <a:pPr marL="0" indent="0" algn="ctr">
              <a:buNone/>
            </a:pPr>
            <a:r>
              <a:rPr lang="en-US" sz="850" b="1" dirty="0">
                <a:solidFill>
                  <a:srgbClr val="F5C518"/>
                </a:solidFill>
                <a:latin typeface="Calibri" pitchFamily="34" charset="0"/>
                <a:ea typeface="Calibri" pitchFamily="34" charset="-122"/>
                <a:cs typeface="Calibri" pitchFamily="34" charset="-120"/>
              </a:rPr>
              <a:t>Yash</a:t>
            </a:r>
            <a:endParaRPr lang="en-US" sz="850" dirty="0"/>
          </a:p>
        </p:txBody>
      </p:sp>
      <p:sp>
        <p:nvSpPr>
          <p:cNvPr id="69" name="Text 67"/>
          <p:cNvSpPr/>
          <p:nvPr/>
        </p:nvSpPr>
        <p:spPr>
          <a:xfrm>
            <a:off x="2423160" y="4315968"/>
            <a:ext cx="2423160" cy="320040"/>
          </a:xfrm>
          <a:prstGeom prst="rect">
            <a:avLst/>
          </a:prstGeom>
          <a:noFill/>
          <a:ln/>
        </p:spPr>
        <p:txBody>
          <a:bodyPr wrap="square" rtlCol="0" anchor="ctr"/>
          <a:lstStyle/>
          <a:p>
            <a:pPr marL="0" indent="0">
              <a:buNone/>
            </a:pPr>
            <a:r>
              <a:rPr lang="en-US" sz="950" dirty="0">
                <a:solidFill>
                  <a:srgbClr val="E8E8F0"/>
                </a:solidFill>
                <a:latin typeface="Calibri" pitchFamily="34" charset="0"/>
                <a:ea typeface="Calibri" pitchFamily="34" charset="-122"/>
                <a:cs typeface="Calibri" pitchFamily="34" charset="-120"/>
              </a:rPr>
              <a:t>Final report + presentation</a:t>
            </a:r>
            <a:endParaRPr lang="en-US" sz="950" dirty="0"/>
          </a:p>
        </p:txBody>
      </p:sp>
      <p:sp>
        <p:nvSpPr>
          <p:cNvPr id="70" name="Text 68"/>
          <p:cNvSpPr/>
          <p:nvPr/>
        </p:nvSpPr>
        <p:spPr>
          <a:xfrm>
            <a:off x="5074920" y="4315968"/>
            <a:ext cx="2011680" cy="320040"/>
          </a:xfrm>
          <a:prstGeom prst="rect">
            <a:avLst/>
          </a:prstGeom>
          <a:noFill/>
          <a:ln/>
        </p:spPr>
        <p:txBody>
          <a:bodyPr wrap="square" rtlCol="0" anchor="ctr"/>
          <a:lstStyle/>
          <a:p>
            <a:pPr marL="0" indent="0">
              <a:buNone/>
            </a:pPr>
            <a:r>
              <a:rPr lang="en-US" sz="900" dirty="0">
                <a:solidFill>
                  <a:srgbClr val="8888AA"/>
                </a:solidFill>
                <a:latin typeface="Calibri" pitchFamily="34" charset="0"/>
                <a:ea typeface="Calibri" pitchFamily="34" charset="-122"/>
                <a:cs typeface="Calibri" pitchFamily="34" charset="-120"/>
              </a:rPr>
              <a:t>Output</a:t>
            </a:r>
            <a:endParaRPr lang="en-US" sz="900" dirty="0"/>
          </a:p>
        </p:txBody>
      </p:sp>
      <p:sp>
        <p:nvSpPr>
          <p:cNvPr id="71" name="Shape 69"/>
          <p:cNvSpPr/>
          <p:nvPr/>
        </p:nvSpPr>
        <p:spPr>
          <a:xfrm>
            <a:off x="7315200" y="4370832"/>
            <a:ext cx="1280160" cy="201168"/>
          </a:xfrm>
          <a:prstGeom prst="rect">
            <a:avLst/>
          </a:prstGeom>
          <a:solidFill>
            <a:srgbClr val="2A2D50">
              <a:alpha val="60000"/>
            </a:srgbClr>
          </a:solidFill>
          <a:ln w="12700">
            <a:solidFill>
              <a:srgbClr val="2A2D50"/>
            </a:solidFill>
            <a:prstDash val="solid"/>
          </a:ln>
        </p:spPr>
      </p:sp>
      <p:sp>
        <p:nvSpPr>
          <p:cNvPr id="72" name="Text 70"/>
          <p:cNvSpPr/>
          <p:nvPr/>
        </p:nvSpPr>
        <p:spPr>
          <a:xfrm>
            <a:off x="7315200" y="4370832"/>
            <a:ext cx="1280160" cy="201168"/>
          </a:xfrm>
          <a:prstGeom prst="rect">
            <a:avLst/>
          </a:prstGeom>
          <a:noFill/>
          <a:ln/>
        </p:spPr>
        <p:txBody>
          <a:bodyPr wrap="square" rtlCol="0" anchor="ctr"/>
          <a:lstStyle/>
          <a:p>
            <a:pPr marL="0" indent="0" algn="ctr">
              <a:buNone/>
            </a:pPr>
            <a:r>
              <a:rPr lang="en-US" sz="850" b="1" dirty="0">
                <a:solidFill>
                  <a:srgbClr val="8888AA"/>
                </a:solidFill>
                <a:latin typeface="Calibri" pitchFamily="34" charset="0"/>
                <a:ea typeface="Calibri" pitchFamily="34" charset="-122"/>
                <a:cs typeface="Calibri" pitchFamily="34" charset="-120"/>
              </a:rPr>
              <a:t>Upcoming</a:t>
            </a:r>
            <a:endParaRPr lang="en-US" sz="850" dirty="0"/>
          </a:p>
        </p:txBody>
      </p:sp>
      <p:sp>
        <p:nvSpPr>
          <p:cNvPr id="73" name="Shape 71"/>
          <p:cNvSpPr/>
          <p:nvPr/>
        </p:nvSpPr>
        <p:spPr>
          <a:xfrm>
            <a:off x="365760" y="4681728"/>
            <a:ext cx="8412480" cy="292608"/>
          </a:xfrm>
          <a:prstGeom prst="rect">
            <a:avLst/>
          </a:prstGeom>
          <a:solidFill>
            <a:srgbClr val="1A1C35"/>
          </a:solidFill>
          <a:ln w="6350">
            <a:solidFill>
              <a:srgbClr val="2A2D50"/>
            </a:solidFill>
            <a:prstDash val="solid"/>
          </a:ln>
        </p:spPr>
      </p:sp>
      <p:sp>
        <p:nvSpPr>
          <p:cNvPr id="74" name="Text 72"/>
          <p:cNvSpPr/>
          <p:nvPr/>
        </p:nvSpPr>
        <p:spPr>
          <a:xfrm>
            <a:off x="457200" y="4681728"/>
            <a:ext cx="8229600" cy="292608"/>
          </a:xfrm>
          <a:prstGeom prst="rect">
            <a:avLst/>
          </a:prstGeom>
          <a:noFill/>
          <a:ln/>
        </p:spPr>
        <p:txBody>
          <a:bodyPr wrap="square" rtlCol="0" anchor="ctr"/>
          <a:lstStyle/>
          <a:p>
            <a:pPr marL="0" indent="0" algn="ctr">
              <a:buNone/>
            </a:pPr>
            <a:r>
              <a:rPr lang="en-US" sz="1000" b="1" dirty="0">
                <a:solidFill>
                  <a:srgbClr val="F5C518"/>
                </a:solidFill>
                <a:latin typeface="Calibri" pitchFamily="34" charset="0"/>
                <a:ea typeface="Calibri" pitchFamily="34" charset="-122"/>
                <a:cs typeface="Calibri" pitchFamily="34" charset="-120"/>
              </a:rPr>
              <a:t>Presenting today:  Abdulhadi Kirkici  •  Fatih Ridvan Kizik  •  Yash Tiwari</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Progress &amp; Next Steps</a:t>
            </a:r>
            <a:endParaRPr lang="en-US" sz="2800" dirty="0"/>
          </a:p>
        </p:txBody>
      </p:sp>
      <p:sp>
        <p:nvSpPr>
          <p:cNvPr id="3" name="Shape 1"/>
          <p:cNvSpPr/>
          <p:nvPr/>
        </p:nvSpPr>
        <p:spPr>
          <a:xfrm>
            <a:off x="457200" y="804672"/>
            <a:ext cx="914400" cy="45720"/>
          </a:xfrm>
          <a:prstGeom prst="rect">
            <a:avLst/>
          </a:prstGeom>
          <a:solidFill>
            <a:srgbClr val="F5C518"/>
          </a:solidFill>
          <a:ln w="12700">
            <a:solidFill>
              <a:srgbClr val="F5C518"/>
            </a:solidFill>
            <a:prstDash val="solid"/>
          </a:ln>
        </p:spPr>
      </p:sp>
      <p:sp>
        <p:nvSpPr>
          <p:cNvPr id="4" name="Shape 2"/>
          <p:cNvSpPr/>
          <p:nvPr/>
        </p:nvSpPr>
        <p:spPr>
          <a:xfrm>
            <a:off x="365760" y="1005840"/>
            <a:ext cx="4023360" cy="384048"/>
          </a:xfrm>
          <a:prstGeom prst="rect">
            <a:avLst/>
          </a:prstGeom>
          <a:solidFill>
            <a:srgbClr val="143014"/>
          </a:solidFill>
          <a:ln w="12700">
            <a:solidFill>
              <a:srgbClr val="4CAF50"/>
            </a:solidFill>
            <a:prstDash val="solid"/>
          </a:ln>
        </p:spPr>
      </p:sp>
      <p:sp>
        <p:nvSpPr>
          <p:cNvPr id="5" name="Text 3"/>
          <p:cNvSpPr/>
          <p:nvPr/>
        </p:nvSpPr>
        <p:spPr>
          <a:xfrm>
            <a:off x="457200" y="1005840"/>
            <a:ext cx="3840480" cy="384048"/>
          </a:xfrm>
          <a:prstGeom prst="rect">
            <a:avLst/>
          </a:prstGeom>
          <a:noFill/>
          <a:ln/>
        </p:spPr>
        <p:txBody>
          <a:bodyPr wrap="square" rtlCol="0" anchor="ctr"/>
          <a:lstStyle/>
          <a:p>
            <a:pPr marL="0" indent="0">
              <a:buNone/>
            </a:pPr>
            <a:r>
              <a:rPr lang="en-US" sz="1400" b="1" dirty="0">
                <a:solidFill>
                  <a:srgbClr val="4CAF50"/>
                </a:solidFill>
                <a:latin typeface="Calibri" pitchFamily="34" charset="0"/>
                <a:ea typeface="Calibri" pitchFamily="34" charset="-122"/>
                <a:cs typeface="Calibri" pitchFamily="34" charset="-120"/>
              </a:rPr>
              <a:t>✅  Completed</a:t>
            </a:r>
            <a:endParaRPr lang="en-US" sz="1400" dirty="0"/>
          </a:p>
        </p:txBody>
      </p:sp>
      <p:sp>
        <p:nvSpPr>
          <p:cNvPr id="6" name="Shape 4"/>
          <p:cNvSpPr/>
          <p:nvPr/>
        </p:nvSpPr>
        <p:spPr>
          <a:xfrm>
            <a:off x="365760" y="1417320"/>
            <a:ext cx="4023360" cy="320040"/>
          </a:xfrm>
          <a:prstGeom prst="rect">
            <a:avLst/>
          </a:prstGeom>
          <a:solidFill>
            <a:srgbClr val="1A1C35"/>
          </a:solidFill>
          <a:ln w="12700">
            <a:solidFill>
              <a:srgbClr val="000000"/>
            </a:solidFill>
            <a:prstDash val="solid"/>
          </a:ln>
        </p:spPr>
      </p:sp>
      <p:sp>
        <p:nvSpPr>
          <p:cNvPr id="7" name="Text 5"/>
          <p:cNvSpPr/>
          <p:nvPr/>
        </p:nvSpPr>
        <p:spPr>
          <a:xfrm>
            <a:off x="457200" y="1417320"/>
            <a:ext cx="3840480" cy="3200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  Project topic agreed by team</a:t>
            </a:r>
            <a:endParaRPr lang="en-US" sz="1000" dirty="0"/>
          </a:p>
        </p:txBody>
      </p:sp>
      <p:sp>
        <p:nvSpPr>
          <p:cNvPr id="8" name="Shape 6"/>
          <p:cNvSpPr/>
          <p:nvPr/>
        </p:nvSpPr>
        <p:spPr>
          <a:xfrm>
            <a:off x="365760" y="1764792"/>
            <a:ext cx="4023360" cy="320040"/>
          </a:xfrm>
          <a:prstGeom prst="rect">
            <a:avLst/>
          </a:prstGeom>
          <a:solidFill>
            <a:srgbClr val="0F1020"/>
          </a:solidFill>
          <a:ln w="12700">
            <a:solidFill>
              <a:srgbClr val="000000"/>
            </a:solidFill>
            <a:prstDash val="solid"/>
          </a:ln>
        </p:spPr>
      </p:sp>
      <p:sp>
        <p:nvSpPr>
          <p:cNvPr id="9" name="Text 7"/>
          <p:cNvSpPr/>
          <p:nvPr/>
        </p:nvSpPr>
        <p:spPr>
          <a:xfrm>
            <a:off x="457200" y="1764792"/>
            <a:ext cx="3840480" cy="3200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  Problem statement written and refined</a:t>
            </a:r>
            <a:endParaRPr lang="en-US" sz="1000" dirty="0"/>
          </a:p>
        </p:txBody>
      </p:sp>
      <p:sp>
        <p:nvSpPr>
          <p:cNvPr id="10" name="Shape 8"/>
          <p:cNvSpPr/>
          <p:nvPr/>
        </p:nvSpPr>
        <p:spPr>
          <a:xfrm>
            <a:off x="365760" y="2112264"/>
            <a:ext cx="4023360" cy="320040"/>
          </a:xfrm>
          <a:prstGeom prst="rect">
            <a:avLst/>
          </a:prstGeom>
          <a:solidFill>
            <a:srgbClr val="1A1C35"/>
          </a:solidFill>
          <a:ln w="12700">
            <a:solidFill>
              <a:srgbClr val="000000"/>
            </a:solidFill>
            <a:prstDash val="solid"/>
          </a:ln>
        </p:spPr>
      </p:sp>
      <p:sp>
        <p:nvSpPr>
          <p:cNvPr id="11" name="Text 9"/>
          <p:cNvSpPr/>
          <p:nvPr/>
        </p:nvSpPr>
        <p:spPr>
          <a:xfrm>
            <a:off x="457200" y="2112264"/>
            <a:ext cx="3840480" cy="3200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  Problem analysis documented (7-step framework)</a:t>
            </a:r>
            <a:endParaRPr lang="en-US" sz="1000" dirty="0"/>
          </a:p>
        </p:txBody>
      </p:sp>
      <p:sp>
        <p:nvSpPr>
          <p:cNvPr id="12" name="Shape 10"/>
          <p:cNvSpPr/>
          <p:nvPr/>
        </p:nvSpPr>
        <p:spPr>
          <a:xfrm>
            <a:off x="365760" y="2459736"/>
            <a:ext cx="4023360" cy="320040"/>
          </a:xfrm>
          <a:prstGeom prst="rect">
            <a:avLst/>
          </a:prstGeom>
          <a:solidFill>
            <a:srgbClr val="0F1020"/>
          </a:solidFill>
          <a:ln w="12700">
            <a:solidFill>
              <a:srgbClr val="000000"/>
            </a:solidFill>
            <a:prstDash val="solid"/>
          </a:ln>
        </p:spPr>
      </p:sp>
      <p:sp>
        <p:nvSpPr>
          <p:cNvPr id="13" name="Text 11"/>
          <p:cNvSpPr/>
          <p:nvPr/>
        </p:nvSpPr>
        <p:spPr>
          <a:xfrm>
            <a:off x="457200" y="2459736"/>
            <a:ext cx="3840480" cy="3200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  Four datasets selected and sourced (Kaggle)</a:t>
            </a:r>
            <a:endParaRPr lang="en-US" sz="1000" dirty="0"/>
          </a:p>
        </p:txBody>
      </p:sp>
      <p:sp>
        <p:nvSpPr>
          <p:cNvPr id="14" name="Shape 12"/>
          <p:cNvSpPr/>
          <p:nvPr/>
        </p:nvSpPr>
        <p:spPr>
          <a:xfrm>
            <a:off x="365760" y="2807208"/>
            <a:ext cx="4023360" cy="320040"/>
          </a:xfrm>
          <a:prstGeom prst="rect">
            <a:avLst/>
          </a:prstGeom>
          <a:solidFill>
            <a:srgbClr val="1A1C35"/>
          </a:solidFill>
          <a:ln w="12700">
            <a:solidFill>
              <a:srgbClr val="000000"/>
            </a:solidFill>
            <a:prstDash val="solid"/>
          </a:ln>
        </p:spPr>
      </p:sp>
      <p:sp>
        <p:nvSpPr>
          <p:cNvPr id="15" name="Text 13"/>
          <p:cNvSpPr/>
          <p:nvPr/>
        </p:nvSpPr>
        <p:spPr>
          <a:xfrm>
            <a:off x="457200" y="2807208"/>
            <a:ext cx="3840480" cy="3200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  GitHub repository created and structured</a:t>
            </a:r>
            <a:endParaRPr lang="en-US" sz="1000" dirty="0"/>
          </a:p>
        </p:txBody>
      </p:sp>
      <p:sp>
        <p:nvSpPr>
          <p:cNvPr id="16" name="Shape 14"/>
          <p:cNvSpPr/>
          <p:nvPr/>
        </p:nvSpPr>
        <p:spPr>
          <a:xfrm>
            <a:off x="365760" y="3154680"/>
            <a:ext cx="4023360" cy="320040"/>
          </a:xfrm>
          <a:prstGeom prst="rect">
            <a:avLst/>
          </a:prstGeom>
          <a:solidFill>
            <a:srgbClr val="0F1020"/>
          </a:solidFill>
          <a:ln w="12700">
            <a:solidFill>
              <a:srgbClr val="000000"/>
            </a:solidFill>
            <a:prstDash val="solid"/>
          </a:ln>
        </p:spPr>
      </p:sp>
      <p:sp>
        <p:nvSpPr>
          <p:cNvPr id="17" name="Text 15"/>
          <p:cNvSpPr/>
          <p:nvPr/>
        </p:nvSpPr>
        <p:spPr>
          <a:xfrm>
            <a:off x="457200" y="3154680"/>
            <a:ext cx="3840480" cy="3200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  Microsoft Teams group set up</a:t>
            </a:r>
            <a:endParaRPr lang="en-US" sz="1000" dirty="0"/>
          </a:p>
        </p:txBody>
      </p:sp>
      <p:sp>
        <p:nvSpPr>
          <p:cNvPr id="18" name="Shape 16"/>
          <p:cNvSpPr/>
          <p:nvPr/>
        </p:nvSpPr>
        <p:spPr>
          <a:xfrm>
            <a:off x="365760" y="3502152"/>
            <a:ext cx="4023360" cy="320040"/>
          </a:xfrm>
          <a:prstGeom prst="rect">
            <a:avLst/>
          </a:prstGeom>
          <a:solidFill>
            <a:srgbClr val="1A1C35"/>
          </a:solidFill>
          <a:ln w="12700">
            <a:solidFill>
              <a:srgbClr val="000000"/>
            </a:solidFill>
            <a:prstDash val="solid"/>
          </a:ln>
        </p:spPr>
      </p:sp>
      <p:sp>
        <p:nvSpPr>
          <p:cNvPr id="19" name="Text 17"/>
          <p:cNvSpPr/>
          <p:nvPr/>
        </p:nvSpPr>
        <p:spPr>
          <a:xfrm>
            <a:off x="457200" y="3502152"/>
            <a:ext cx="3840480" cy="3200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  Gantt chart milestones defined (JIRA)</a:t>
            </a:r>
            <a:endParaRPr lang="en-US" sz="1000" dirty="0"/>
          </a:p>
        </p:txBody>
      </p:sp>
      <p:sp>
        <p:nvSpPr>
          <p:cNvPr id="20" name="Shape 18"/>
          <p:cNvSpPr/>
          <p:nvPr/>
        </p:nvSpPr>
        <p:spPr>
          <a:xfrm>
            <a:off x="365760" y="3849624"/>
            <a:ext cx="4023360" cy="320040"/>
          </a:xfrm>
          <a:prstGeom prst="rect">
            <a:avLst/>
          </a:prstGeom>
          <a:solidFill>
            <a:srgbClr val="0F1020"/>
          </a:solidFill>
          <a:ln w="12700">
            <a:solidFill>
              <a:srgbClr val="000000"/>
            </a:solidFill>
            <a:prstDash val="solid"/>
          </a:ln>
        </p:spPr>
      </p:sp>
      <p:sp>
        <p:nvSpPr>
          <p:cNvPr id="21" name="Text 19"/>
          <p:cNvSpPr/>
          <p:nvPr/>
        </p:nvSpPr>
        <p:spPr>
          <a:xfrm>
            <a:off x="457200" y="3849624"/>
            <a:ext cx="3840480" cy="3200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  Data pipeline architecture designed</a:t>
            </a:r>
            <a:endParaRPr lang="en-US" sz="1000" dirty="0"/>
          </a:p>
        </p:txBody>
      </p:sp>
      <p:sp>
        <p:nvSpPr>
          <p:cNvPr id="22" name="Shape 20"/>
          <p:cNvSpPr/>
          <p:nvPr/>
        </p:nvSpPr>
        <p:spPr>
          <a:xfrm>
            <a:off x="365760" y="4197096"/>
            <a:ext cx="4023360" cy="320040"/>
          </a:xfrm>
          <a:prstGeom prst="rect">
            <a:avLst/>
          </a:prstGeom>
          <a:solidFill>
            <a:srgbClr val="1A1C35"/>
          </a:solidFill>
          <a:ln w="12700">
            <a:solidFill>
              <a:srgbClr val="000000"/>
            </a:solidFill>
            <a:prstDash val="solid"/>
          </a:ln>
        </p:spPr>
      </p:sp>
      <p:sp>
        <p:nvSpPr>
          <p:cNvPr id="23" name="Text 21"/>
          <p:cNvSpPr/>
          <p:nvPr/>
        </p:nvSpPr>
        <p:spPr>
          <a:xfrm>
            <a:off x="457200" y="4197096"/>
            <a:ext cx="3840480" cy="3200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  README.md written and committed</a:t>
            </a:r>
            <a:endParaRPr lang="en-US" sz="1000" dirty="0"/>
          </a:p>
        </p:txBody>
      </p:sp>
      <p:sp>
        <p:nvSpPr>
          <p:cNvPr id="24" name="Shape 22"/>
          <p:cNvSpPr/>
          <p:nvPr/>
        </p:nvSpPr>
        <p:spPr>
          <a:xfrm>
            <a:off x="4663440" y="1005840"/>
            <a:ext cx="4114800" cy="384048"/>
          </a:xfrm>
          <a:prstGeom prst="rect">
            <a:avLst/>
          </a:prstGeom>
          <a:solidFill>
            <a:srgbClr val="302010"/>
          </a:solidFill>
          <a:ln w="12700">
            <a:solidFill>
              <a:srgbClr val="F5C518"/>
            </a:solidFill>
            <a:prstDash val="solid"/>
          </a:ln>
        </p:spPr>
      </p:sp>
      <p:sp>
        <p:nvSpPr>
          <p:cNvPr id="25" name="Text 23"/>
          <p:cNvSpPr/>
          <p:nvPr/>
        </p:nvSpPr>
        <p:spPr>
          <a:xfrm>
            <a:off x="4754880" y="1005840"/>
            <a:ext cx="3840480" cy="384048"/>
          </a:xfrm>
          <a:prstGeom prst="rect">
            <a:avLst/>
          </a:prstGeom>
          <a:noFill/>
          <a:ln/>
        </p:spPr>
        <p:txBody>
          <a:bodyPr wrap="square" rtlCol="0" anchor="ctr"/>
          <a:lstStyle/>
          <a:p>
            <a:pPr marL="0" indent="0">
              <a:buNone/>
            </a:pPr>
            <a:r>
              <a:rPr lang="en-US" sz="1400" b="1" dirty="0">
                <a:solidFill>
                  <a:srgbClr val="F5C518"/>
                </a:solidFill>
                <a:latin typeface="Calibri" pitchFamily="34" charset="0"/>
                <a:ea typeface="Calibri" pitchFamily="34" charset="-122"/>
                <a:cs typeface="Calibri" pitchFamily="34" charset="-120"/>
              </a:rPr>
              <a:t>🔜  Remaining</a:t>
            </a:r>
            <a:endParaRPr lang="en-US" sz="1400" dirty="0"/>
          </a:p>
        </p:txBody>
      </p:sp>
      <p:sp>
        <p:nvSpPr>
          <p:cNvPr id="26" name="Shape 24"/>
          <p:cNvSpPr/>
          <p:nvPr/>
        </p:nvSpPr>
        <p:spPr>
          <a:xfrm>
            <a:off x="4663440" y="1417320"/>
            <a:ext cx="4114800" cy="320040"/>
          </a:xfrm>
          <a:prstGeom prst="rect">
            <a:avLst/>
          </a:prstGeom>
          <a:solidFill>
            <a:srgbClr val="1A1C35"/>
          </a:solidFill>
          <a:ln w="12700">
            <a:solidFill>
              <a:srgbClr val="000000"/>
            </a:solidFill>
            <a:prstDash val="solid"/>
          </a:ln>
        </p:spPr>
      </p:sp>
      <p:sp>
        <p:nvSpPr>
          <p:cNvPr id="27" name="Text 25"/>
          <p:cNvSpPr/>
          <p:nvPr/>
        </p:nvSpPr>
        <p:spPr>
          <a:xfrm>
            <a:off x="4754880" y="1417320"/>
            <a:ext cx="3017520" cy="3200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  System design write-up (formal doc)</a:t>
            </a:r>
            <a:endParaRPr lang="en-US" sz="1000" dirty="0"/>
          </a:p>
        </p:txBody>
      </p:sp>
      <p:sp>
        <p:nvSpPr>
          <p:cNvPr id="28" name="Text 26"/>
          <p:cNvSpPr/>
          <p:nvPr/>
        </p:nvSpPr>
        <p:spPr>
          <a:xfrm>
            <a:off x="7772400" y="1417320"/>
            <a:ext cx="914400" cy="320040"/>
          </a:xfrm>
          <a:prstGeom prst="rect">
            <a:avLst/>
          </a:prstGeom>
          <a:noFill/>
          <a:ln/>
        </p:spPr>
        <p:txBody>
          <a:bodyPr wrap="square" rtlCol="0" anchor="ctr"/>
          <a:lstStyle/>
          <a:p>
            <a:pPr marL="0" indent="0">
              <a:buNone/>
            </a:pPr>
            <a:r>
              <a:rPr lang="en-US" sz="900" i="1" dirty="0">
                <a:solidFill>
                  <a:srgbClr val="F5C518"/>
                </a:solidFill>
                <a:latin typeface="Calibri" pitchFamily="34" charset="0"/>
                <a:ea typeface="Calibri" pitchFamily="34" charset="-122"/>
                <a:cs typeface="Calibri" pitchFamily="34" charset="-120"/>
              </a:rPr>
              <a:t>Numrah</a:t>
            </a:r>
            <a:endParaRPr lang="en-US" sz="900" dirty="0"/>
          </a:p>
        </p:txBody>
      </p:sp>
      <p:sp>
        <p:nvSpPr>
          <p:cNvPr id="29" name="Shape 27"/>
          <p:cNvSpPr/>
          <p:nvPr/>
        </p:nvSpPr>
        <p:spPr>
          <a:xfrm>
            <a:off x="4663440" y="1764792"/>
            <a:ext cx="4114800" cy="320040"/>
          </a:xfrm>
          <a:prstGeom prst="rect">
            <a:avLst/>
          </a:prstGeom>
          <a:solidFill>
            <a:srgbClr val="0F1020"/>
          </a:solidFill>
          <a:ln w="12700">
            <a:solidFill>
              <a:srgbClr val="000000"/>
            </a:solidFill>
            <a:prstDash val="solid"/>
          </a:ln>
        </p:spPr>
      </p:sp>
      <p:sp>
        <p:nvSpPr>
          <p:cNvPr id="30" name="Text 28"/>
          <p:cNvSpPr/>
          <p:nvPr/>
        </p:nvSpPr>
        <p:spPr>
          <a:xfrm>
            <a:off x="4754880" y="1764792"/>
            <a:ext cx="3017520" cy="3200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  Activity flow diagram</a:t>
            </a:r>
            <a:endParaRPr lang="en-US" sz="1000" dirty="0"/>
          </a:p>
        </p:txBody>
      </p:sp>
      <p:sp>
        <p:nvSpPr>
          <p:cNvPr id="31" name="Text 29"/>
          <p:cNvSpPr/>
          <p:nvPr/>
        </p:nvSpPr>
        <p:spPr>
          <a:xfrm>
            <a:off x="7772400" y="1764792"/>
            <a:ext cx="914400" cy="320040"/>
          </a:xfrm>
          <a:prstGeom prst="rect">
            <a:avLst/>
          </a:prstGeom>
          <a:noFill/>
          <a:ln/>
        </p:spPr>
        <p:txBody>
          <a:bodyPr wrap="square" rtlCol="0" anchor="ctr"/>
          <a:lstStyle/>
          <a:p>
            <a:pPr marL="0" indent="0">
              <a:buNone/>
            </a:pPr>
            <a:r>
              <a:rPr lang="en-US" sz="900" i="1" dirty="0">
                <a:solidFill>
                  <a:srgbClr val="F5C518"/>
                </a:solidFill>
                <a:latin typeface="Calibri" pitchFamily="34" charset="0"/>
                <a:ea typeface="Calibri" pitchFamily="34" charset="-122"/>
                <a:cs typeface="Calibri" pitchFamily="34" charset="-120"/>
              </a:rPr>
              <a:t>Numrah</a:t>
            </a:r>
            <a:endParaRPr lang="en-US" sz="900" dirty="0"/>
          </a:p>
        </p:txBody>
      </p:sp>
      <p:sp>
        <p:nvSpPr>
          <p:cNvPr id="32" name="Shape 30"/>
          <p:cNvSpPr/>
          <p:nvPr/>
        </p:nvSpPr>
        <p:spPr>
          <a:xfrm>
            <a:off x="4663440" y="2112264"/>
            <a:ext cx="4114800" cy="320040"/>
          </a:xfrm>
          <a:prstGeom prst="rect">
            <a:avLst/>
          </a:prstGeom>
          <a:solidFill>
            <a:srgbClr val="1A1C35"/>
          </a:solidFill>
          <a:ln w="12700">
            <a:solidFill>
              <a:srgbClr val="000000"/>
            </a:solidFill>
            <a:prstDash val="solid"/>
          </a:ln>
        </p:spPr>
      </p:sp>
      <p:sp>
        <p:nvSpPr>
          <p:cNvPr id="33" name="Text 31"/>
          <p:cNvSpPr/>
          <p:nvPr/>
        </p:nvSpPr>
        <p:spPr>
          <a:xfrm>
            <a:off x="4754880" y="2112264"/>
            <a:ext cx="3017520" cy="3200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  Tools &amp; Technologies document</a:t>
            </a:r>
            <a:endParaRPr lang="en-US" sz="1000" dirty="0"/>
          </a:p>
        </p:txBody>
      </p:sp>
      <p:sp>
        <p:nvSpPr>
          <p:cNvPr id="34" name="Text 32"/>
          <p:cNvSpPr/>
          <p:nvPr/>
        </p:nvSpPr>
        <p:spPr>
          <a:xfrm>
            <a:off x="7772400" y="2112264"/>
            <a:ext cx="914400" cy="320040"/>
          </a:xfrm>
          <a:prstGeom prst="rect">
            <a:avLst/>
          </a:prstGeom>
          <a:noFill/>
          <a:ln/>
        </p:spPr>
        <p:txBody>
          <a:bodyPr wrap="square" rtlCol="0" anchor="ctr"/>
          <a:lstStyle/>
          <a:p>
            <a:pPr marL="0" indent="0">
              <a:buNone/>
            </a:pPr>
            <a:r>
              <a:rPr lang="en-US" sz="900" i="1" dirty="0">
                <a:solidFill>
                  <a:srgbClr val="F5C518"/>
                </a:solidFill>
                <a:latin typeface="Calibri" pitchFamily="34" charset="0"/>
                <a:ea typeface="Calibri" pitchFamily="34" charset="-122"/>
                <a:cs typeface="Calibri" pitchFamily="34" charset="-120"/>
              </a:rPr>
              <a:t>Yash</a:t>
            </a:r>
            <a:endParaRPr lang="en-US" sz="900" dirty="0"/>
          </a:p>
        </p:txBody>
      </p:sp>
      <p:sp>
        <p:nvSpPr>
          <p:cNvPr id="35" name="Shape 33"/>
          <p:cNvSpPr/>
          <p:nvPr/>
        </p:nvSpPr>
        <p:spPr>
          <a:xfrm>
            <a:off x="4663440" y="2459736"/>
            <a:ext cx="4114800" cy="320040"/>
          </a:xfrm>
          <a:prstGeom prst="rect">
            <a:avLst/>
          </a:prstGeom>
          <a:solidFill>
            <a:srgbClr val="0F1020"/>
          </a:solidFill>
          <a:ln w="12700">
            <a:solidFill>
              <a:srgbClr val="000000"/>
            </a:solidFill>
            <a:prstDash val="solid"/>
          </a:ln>
        </p:spPr>
      </p:sp>
      <p:sp>
        <p:nvSpPr>
          <p:cNvPr id="36" name="Text 34"/>
          <p:cNvSpPr/>
          <p:nvPr/>
        </p:nvSpPr>
        <p:spPr>
          <a:xfrm>
            <a:off x="4754880" y="2459736"/>
            <a:ext cx="3017520" cy="3200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  Cost management estimates</a:t>
            </a:r>
            <a:endParaRPr lang="en-US" sz="1000" dirty="0"/>
          </a:p>
        </p:txBody>
      </p:sp>
      <p:sp>
        <p:nvSpPr>
          <p:cNvPr id="37" name="Text 35"/>
          <p:cNvSpPr/>
          <p:nvPr/>
        </p:nvSpPr>
        <p:spPr>
          <a:xfrm>
            <a:off x="7772400" y="2459736"/>
            <a:ext cx="914400" cy="320040"/>
          </a:xfrm>
          <a:prstGeom prst="rect">
            <a:avLst/>
          </a:prstGeom>
          <a:noFill/>
          <a:ln/>
        </p:spPr>
        <p:txBody>
          <a:bodyPr wrap="square" rtlCol="0" anchor="ctr"/>
          <a:lstStyle/>
          <a:p>
            <a:pPr marL="0" indent="0">
              <a:buNone/>
            </a:pPr>
            <a:r>
              <a:rPr lang="en-US" sz="900" i="1" dirty="0">
                <a:solidFill>
                  <a:srgbClr val="F5C518"/>
                </a:solidFill>
                <a:latin typeface="Calibri" pitchFamily="34" charset="0"/>
                <a:ea typeface="Calibri" pitchFamily="34" charset="-122"/>
                <a:cs typeface="Calibri" pitchFamily="34" charset="-120"/>
              </a:rPr>
              <a:t>Team</a:t>
            </a:r>
            <a:endParaRPr lang="en-US" sz="900" dirty="0"/>
          </a:p>
        </p:txBody>
      </p:sp>
      <p:sp>
        <p:nvSpPr>
          <p:cNvPr id="38" name="Shape 36"/>
          <p:cNvSpPr/>
          <p:nvPr/>
        </p:nvSpPr>
        <p:spPr>
          <a:xfrm>
            <a:off x="4663440" y="2807208"/>
            <a:ext cx="4114800" cy="320040"/>
          </a:xfrm>
          <a:prstGeom prst="rect">
            <a:avLst/>
          </a:prstGeom>
          <a:solidFill>
            <a:srgbClr val="1A1C35"/>
          </a:solidFill>
          <a:ln w="12700">
            <a:solidFill>
              <a:srgbClr val="000000"/>
            </a:solidFill>
            <a:prstDash val="solid"/>
          </a:ln>
        </p:spPr>
      </p:sp>
      <p:sp>
        <p:nvSpPr>
          <p:cNvPr id="39" name="Text 37"/>
          <p:cNvSpPr/>
          <p:nvPr/>
        </p:nvSpPr>
        <p:spPr>
          <a:xfrm>
            <a:off x="4754880" y="2807208"/>
            <a:ext cx="3017520" cy="3200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  Data cleaning + standardization</a:t>
            </a:r>
            <a:endParaRPr lang="en-US" sz="1000" dirty="0"/>
          </a:p>
        </p:txBody>
      </p:sp>
      <p:sp>
        <p:nvSpPr>
          <p:cNvPr id="40" name="Text 38"/>
          <p:cNvSpPr/>
          <p:nvPr/>
        </p:nvSpPr>
        <p:spPr>
          <a:xfrm>
            <a:off x="7772400" y="2807208"/>
            <a:ext cx="914400" cy="320040"/>
          </a:xfrm>
          <a:prstGeom prst="rect">
            <a:avLst/>
          </a:prstGeom>
          <a:noFill/>
          <a:ln/>
        </p:spPr>
        <p:txBody>
          <a:bodyPr wrap="square" rtlCol="0" anchor="ctr"/>
          <a:lstStyle/>
          <a:p>
            <a:pPr marL="0" indent="0">
              <a:buNone/>
            </a:pPr>
            <a:r>
              <a:rPr lang="en-US" sz="900" i="1" dirty="0">
                <a:solidFill>
                  <a:srgbClr val="F5C518"/>
                </a:solidFill>
                <a:latin typeface="Calibri" pitchFamily="34" charset="0"/>
                <a:ea typeface="Calibri" pitchFamily="34" charset="-122"/>
                <a:cs typeface="Calibri" pitchFamily="34" charset="-120"/>
              </a:rPr>
              <a:t>Hadi</a:t>
            </a:r>
            <a:endParaRPr lang="en-US" sz="900" dirty="0"/>
          </a:p>
        </p:txBody>
      </p:sp>
      <p:sp>
        <p:nvSpPr>
          <p:cNvPr id="41" name="Shape 39"/>
          <p:cNvSpPr/>
          <p:nvPr/>
        </p:nvSpPr>
        <p:spPr>
          <a:xfrm>
            <a:off x="4663440" y="3154680"/>
            <a:ext cx="4114800" cy="320040"/>
          </a:xfrm>
          <a:prstGeom prst="rect">
            <a:avLst/>
          </a:prstGeom>
          <a:solidFill>
            <a:srgbClr val="0F1020"/>
          </a:solidFill>
          <a:ln w="12700">
            <a:solidFill>
              <a:srgbClr val="000000"/>
            </a:solidFill>
            <a:prstDash val="solid"/>
          </a:ln>
        </p:spPr>
      </p:sp>
      <p:sp>
        <p:nvSpPr>
          <p:cNvPr id="42" name="Text 40"/>
          <p:cNvSpPr/>
          <p:nvPr/>
        </p:nvSpPr>
        <p:spPr>
          <a:xfrm>
            <a:off x="4754880" y="3154680"/>
            <a:ext cx="3017520" cy="3200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  Dataset joining across 4 sources</a:t>
            </a:r>
            <a:endParaRPr lang="en-US" sz="1000" dirty="0"/>
          </a:p>
        </p:txBody>
      </p:sp>
      <p:sp>
        <p:nvSpPr>
          <p:cNvPr id="43" name="Text 41"/>
          <p:cNvSpPr/>
          <p:nvPr/>
        </p:nvSpPr>
        <p:spPr>
          <a:xfrm>
            <a:off x="7772400" y="3154680"/>
            <a:ext cx="914400" cy="320040"/>
          </a:xfrm>
          <a:prstGeom prst="rect">
            <a:avLst/>
          </a:prstGeom>
          <a:noFill/>
          <a:ln/>
        </p:spPr>
        <p:txBody>
          <a:bodyPr wrap="square" rtlCol="0" anchor="ctr"/>
          <a:lstStyle/>
          <a:p>
            <a:pPr marL="0" indent="0">
              <a:buNone/>
            </a:pPr>
            <a:r>
              <a:rPr lang="en-US" sz="900" i="1" dirty="0">
                <a:solidFill>
                  <a:srgbClr val="F5C518"/>
                </a:solidFill>
                <a:latin typeface="Calibri" pitchFamily="34" charset="0"/>
                <a:ea typeface="Calibri" pitchFamily="34" charset="-122"/>
                <a:cs typeface="Calibri" pitchFamily="34" charset="-120"/>
              </a:rPr>
              <a:t>Hadi</a:t>
            </a:r>
            <a:endParaRPr lang="en-US" sz="900" dirty="0"/>
          </a:p>
        </p:txBody>
      </p:sp>
      <p:sp>
        <p:nvSpPr>
          <p:cNvPr id="44" name="Shape 42"/>
          <p:cNvSpPr/>
          <p:nvPr/>
        </p:nvSpPr>
        <p:spPr>
          <a:xfrm>
            <a:off x="4663440" y="3502152"/>
            <a:ext cx="4114800" cy="320040"/>
          </a:xfrm>
          <a:prstGeom prst="rect">
            <a:avLst/>
          </a:prstGeom>
          <a:solidFill>
            <a:srgbClr val="1A1C35"/>
          </a:solidFill>
          <a:ln w="12700">
            <a:solidFill>
              <a:srgbClr val="000000"/>
            </a:solidFill>
            <a:prstDash val="solid"/>
          </a:ln>
        </p:spPr>
      </p:sp>
      <p:sp>
        <p:nvSpPr>
          <p:cNvPr id="45" name="Text 43"/>
          <p:cNvSpPr/>
          <p:nvPr/>
        </p:nvSpPr>
        <p:spPr>
          <a:xfrm>
            <a:off x="4754880" y="3502152"/>
            <a:ext cx="3017520" cy="3200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  Exploratory data analysis (EDA)</a:t>
            </a:r>
            <a:endParaRPr lang="en-US" sz="1000" dirty="0"/>
          </a:p>
        </p:txBody>
      </p:sp>
      <p:sp>
        <p:nvSpPr>
          <p:cNvPr id="46" name="Text 44"/>
          <p:cNvSpPr/>
          <p:nvPr/>
        </p:nvSpPr>
        <p:spPr>
          <a:xfrm>
            <a:off x="7772400" y="3502152"/>
            <a:ext cx="914400" cy="320040"/>
          </a:xfrm>
          <a:prstGeom prst="rect">
            <a:avLst/>
          </a:prstGeom>
          <a:noFill/>
          <a:ln/>
        </p:spPr>
        <p:txBody>
          <a:bodyPr wrap="square" rtlCol="0" anchor="ctr"/>
          <a:lstStyle/>
          <a:p>
            <a:pPr marL="0" indent="0">
              <a:buNone/>
            </a:pPr>
            <a:r>
              <a:rPr lang="en-US" sz="900" i="1" dirty="0">
                <a:solidFill>
                  <a:srgbClr val="F5C518"/>
                </a:solidFill>
                <a:latin typeface="Calibri" pitchFamily="34" charset="0"/>
                <a:ea typeface="Calibri" pitchFamily="34" charset="-122"/>
                <a:cs typeface="Calibri" pitchFamily="34" charset="-120"/>
              </a:rPr>
              <a:t>Fatih</a:t>
            </a:r>
            <a:endParaRPr lang="en-US" sz="900" dirty="0"/>
          </a:p>
        </p:txBody>
      </p:sp>
      <p:sp>
        <p:nvSpPr>
          <p:cNvPr id="47" name="Shape 45"/>
          <p:cNvSpPr/>
          <p:nvPr/>
        </p:nvSpPr>
        <p:spPr>
          <a:xfrm>
            <a:off x="4663440" y="3849624"/>
            <a:ext cx="4114800" cy="320040"/>
          </a:xfrm>
          <a:prstGeom prst="rect">
            <a:avLst/>
          </a:prstGeom>
          <a:solidFill>
            <a:srgbClr val="0F1020"/>
          </a:solidFill>
          <a:ln w="12700">
            <a:solidFill>
              <a:srgbClr val="000000"/>
            </a:solidFill>
            <a:prstDash val="solid"/>
          </a:ln>
        </p:spPr>
      </p:sp>
      <p:sp>
        <p:nvSpPr>
          <p:cNvPr id="48" name="Text 46"/>
          <p:cNvSpPr/>
          <p:nvPr/>
        </p:nvSpPr>
        <p:spPr>
          <a:xfrm>
            <a:off x="4754880" y="3849624"/>
            <a:ext cx="3017520" cy="3200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  Modeling + correlation analysis</a:t>
            </a:r>
            <a:endParaRPr lang="en-US" sz="1000" dirty="0"/>
          </a:p>
        </p:txBody>
      </p:sp>
      <p:sp>
        <p:nvSpPr>
          <p:cNvPr id="49" name="Text 47"/>
          <p:cNvSpPr/>
          <p:nvPr/>
        </p:nvSpPr>
        <p:spPr>
          <a:xfrm>
            <a:off x="7772400" y="3849624"/>
            <a:ext cx="914400" cy="320040"/>
          </a:xfrm>
          <a:prstGeom prst="rect">
            <a:avLst/>
          </a:prstGeom>
          <a:noFill/>
          <a:ln/>
        </p:spPr>
        <p:txBody>
          <a:bodyPr wrap="square" rtlCol="0" anchor="ctr"/>
          <a:lstStyle/>
          <a:p>
            <a:pPr marL="0" indent="0">
              <a:buNone/>
            </a:pPr>
            <a:r>
              <a:rPr lang="en-US" sz="900" i="1" dirty="0">
                <a:solidFill>
                  <a:srgbClr val="F5C518"/>
                </a:solidFill>
                <a:latin typeface="Calibri" pitchFamily="34" charset="0"/>
                <a:ea typeface="Calibri" pitchFamily="34" charset="-122"/>
                <a:cs typeface="Calibri" pitchFamily="34" charset="-120"/>
              </a:rPr>
              <a:t>Fatih</a:t>
            </a:r>
            <a:endParaRPr lang="en-US" sz="900" dirty="0"/>
          </a:p>
        </p:txBody>
      </p:sp>
      <p:sp>
        <p:nvSpPr>
          <p:cNvPr id="50" name="Shape 48"/>
          <p:cNvSpPr/>
          <p:nvPr/>
        </p:nvSpPr>
        <p:spPr>
          <a:xfrm>
            <a:off x="4663440" y="4197096"/>
            <a:ext cx="4114800" cy="320040"/>
          </a:xfrm>
          <a:prstGeom prst="rect">
            <a:avLst/>
          </a:prstGeom>
          <a:solidFill>
            <a:srgbClr val="1A1C35"/>
          </a:solidFill>
          <a:ln w="12700">
            <a:solidFill>
              <a:srgbClr val="000000"/>
            </a:solidFill>
            <a:prstDash val="solid"/>
          </a:ln>
        </p:spPr>
      </p:sp>
      <p:sp>
        <p:nvSpPr>
          <p:cNvPr id="51" name="Text 49"/>
          <p:cNvSpPr/>
          <p:nvPr/>
        </p:nvSpPr>
        <p:spPr>
          <a:xfrm>
            <a:off x="4754880" y="4197096"/>
            <a:ext cx="3017520" cy="320040"/>
          </a:xfrm>
          <a:prstGeom prst="rect">
            <a:avLst/>
          </a:prstGeom>
          <a:noFill/>
          <a:ln/>
        </p:spPr>
        <p:txBody>
          <a:bodyPr wrap="square" rtlCol="0" anchor="ctr"/>
          <a:lstStyle/>
          <a:p>
            <a:pPr marL="0" indent="0">
              <a:buNone/>
            </a:pPr>
            <a:r>
              <a:rPr lang="en-US" sz="1000" dirty="0">
                <a:solidFill>
                  <a:srgbClr val="E8E8F0"/>
                </a:solidFill>
                <a:latin typeface="Calibri" pitchFamily="34" charset="0"/>
                <a:ea typeface="Calibri" pitchFamily="34" charset="-122"/>
                <a:cs typeface="Calibri" pitchFamily="34" charset="-120"/>
              </a:rPr>
              <a:t>→  Dashboard + visualization</a:t>
            </a:r>
            <a:endParaRPr lang="en-US" sz="1000" dirty="0"/>
          </a:p>
        </p:txBody>
      </p:sp>
      <p:sp>
        <p:nvSpPr>
          <p:cNvPr id="52" name="Text 50"/>
          <p:cNvSpPr/>
          <p:nvPr/>
        </p:nvSpPr>
        <p:spPr>
          <a:xfrm>
            <a:off x="7772400" y="4197096"/>
            <a:ext cx="914400" cy="320040"/>
          </a:xfrm>
          <a:prstGeom prst="rect">
            <a:avLst/>
          </a:prstGeom>
          <a:noFill/>
          <a:ln/>
        </p:spPr>
        <p:txBody>
          <a:bodyPr wrap="square" rtlCol="0" anchor="ctr"/>
          <a:lstStyle/>
          <a:p>
            <a:pPr marL="0" indent="0">
              <a:buNone/>
            </a:pPr>
            <a:r>
              <a:rPr lang="en-US" sz="900" i="1" dirty="0">
                <a:solidFill>
                  <a:srgbClr val="F5C518"/>
                </a:solidFill>
                <a:latin typeface="Calibri" pitchFamily="34" charset="0"/>
                <a:ea typeface="Calibri" pitchFamily="34" charset="-122"/>
                <a:cs typeface="Calibri" pitchFamily="34" charset="-120"/>
              </a:rPr>
              <a:t>Team</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D1A"/>
        </a:solidFill>
        <a:effectLst/>
      </p:bgPr>
    </p:bg>
    <p:spTree>
      <p:nvGrpSpPr>
        <p:cNvPr id="1" name=""/>
        <p:cNvGrpSpPr/>
        <p:nvPr/>
      </p:nvGrpSpPr>
      <p:grpSpPr>
        <a:xfrm>
          <a:off x="0" y="0"/>
          <a:ext cx="0" cy="0"/>
          <a:chOff x="0" y="0"/>
          <a:chExt cx="0" cy="0"/>
        </a:xfrm>
      </p:grpSpPr>
      <p:sp>
        <p:nvSpPr>
          <p:cNvPr id="2" name="Shape 0"/>
          <p:cNvSpPr/>
          <p:nvPr/>
        </p:nvSpPr>
        <p:spPr>
          <a:xfrm>
            <a:off x="0" y="365760"/>
            <a:ext cx="502920" cy="411480"/>
          </a:xfrm>
          <a:prstGeom prst="rect">
            <a:avLst/>
          </a:prstGeom>
          <a:solidFill>
            <a:srgbClr val="1E2040"/>
          </a:solidFill>
          <a:ln w="6350">
            <a:solidFill>
              <a:srgbClr val="2A2D50"/>
            </a:solidFill>
            <a:prstDash val="solid"/>
          </a:ln>
        </p:spPr>
      </p:sp>
      <p:sp>
        <p:nvSpPr>
          <p:cNvPr id="3" name="Shape 1"/>
          <p:cNvSpPr/>
          <p:nvPr/>
        </p:nvSpPr>
        <p:spPr>
          <a:xfrm>
            <a:off x="8641080" y="365760"/>
            <a:ext cx="502920" cy="411480"/>
          </a:xfrm>
          <a:prstGeom prst="rect">
            <a:avLst/>
          </a:prstGeom>
          <a:solidFill>
            <a:srgbClr val="1E2040"/>
          </a:solidFill>
          <a:ln w="6350">
            <a:solidFill>
              <a:srgbClr val="2A2D50"/>
            </a:solidFill>
            <a:prstDash val="solid"/>
          </a:ln>
        </p:spPr>
      </p:sp>
      <p:sp>
        <p:nvSpPr>
          <p:cNvPr id="4" name="Shape 2"/>
          <p:cNvSpPr/>
          <p:nvPr/>
        </p:nvSpPr>
        <p:spPr>
          <a:xfrm>
            <a:off x="0" y="987552"/>
            <a:ext cx="502920" cy="411480"/>
          </a:xfrm>
          <a:prstGeom prst="rect">
            <a:avLst/>
          </a:prstGeom>
          <a:solidFill>
            <a:srgbClr val="0D0D1A"/>
          </a:solidFill>
          <a:ln w="6350">
            <a:solidFill>
              <a:srgbClr val="2A2D50"/>
            </a:solidFill>
            <a:prstDash val="solid"/>
          </a:ln>
        </p:spPr>
      </p:sp>
      <p:sp>
        <p:nvSpPr>
          <p:cNvPr id="5" name="Shape 3"/>
          <p:cNvSpPr/>
          <p:nvPr/>
        </p:nvSpPr>
        <p:spPr>
          <a:xfrm>
            <a:off x="8641080" y="987552"/>
            <a:ext cx="502920" cy="411480"/>
          </a:xfrm>
          <a:prstGeom prst="rect">
            <a:avLst/>
          </a:prstGeom>
          <a:solidFill>
            <a:srgbClr val="0D0D1A"/>
          </a:solidFill>
          <a:ln w="6350">
            <a:solidFill>
              <a:srgbClr val="2A2D50"/>
            </a:solidFill>
            <a:prstDash val="solid"/>
          </a:ln>
        </p:spPr>
      </p:sp>
      <p:sp>
        <p:nvSpPr>
          <p:cNvPr id="6" name="Shape 4"/>
          <p:cNvSpPr/>
          <p:nvPr/>
        </p:nvSpPr>
        <p:spPr>
          <a:xfrm>
            <a:off x="0" y="1609344"/>
            <a:ext cx="502920" cy="411480"/>
          </a:xfrm>
          <a:prstGeom prst="rect">
            <a:avLst/>
          </a:prstGeom>
          <a:solidFill>
            <a:srgbClr val="1E2040"/>
          </a:solidFill>
          <a:ln w="6350">
            <a:solidFill>
              <a:srgbClr val="2A2D50"/>
            </a:solidFill>
            <a:prstDash val="solid"/>
          </a:ln>
        </p:spPr>
      </p:sp>
      <p:sp>
        <p:nvSpPr>
          <p:cNvPr id="7" name="Shape 5"/>
          <p:cNvSpPr/>
          <p:nvPr/>
        </p:nvSpPr>
        <p:spPr>
          <a:xfrm>
            <a:off x="8641080" y="1609344"/>
            <a:ext cx="502920" cy="411480"/>
          </a:xfrm>
          <a:prstGeom prst="rect">
            <a:avLst/>
          </a:prstGeom>
          <a:solidFill>
            <a:srgbClr val="1E2040"/>
          </a:solidFill>
          <a:ln w="6350">
            <a:solidFill>
              <a:srgbClr val="2A2D50"/>
            </a:solidFill>
            <a:prstDash val="solid"/>
          </a:ln>
        </p:spPr>
      </p:sp>
      <p:sp>
        <p:nvSpPr>
          <p:cNvPr id="8" name="Shape 6"/>
          <p:cNvSpPr/>
          <p:nvPr/>
        </p:nvSpPr>
        <p:spPr>
          <a:xfrm>
            <a:off x="0" y="2231136"/>
            <a:ext cx="502920" cy="411480"/>
          </a:xfrm>
          <a:prstGeom prst="rect">
            <a:avLst/>
          </a:prstGeom>
          <a:solidFill>
            <a:srgbClr val="0D0D1A"/>
          </a:solidFill>
          <a:ln w="6350">
            <a:solidFill>
              <a:srgbClr val="2A2D50"/>
            </a:solidFill>
            <a:prstDash val="solid"/>
          </a:ln>
        </p:spPr>
      </p:sp>
      <p:sp>
        <p:nvSpPr>
          <p:cNvPr id="9" name="Shape 7"/>
          <p:cNvSpPr/>
          <p:nvPr/>
        </p:nvSpPr>
        <p:spPr>
          <a:xfrm>
            <a:off x="8641080" y="2231136"/>
            <a:ext cx="502920" cy="411480"/>
          </a:xfrm>
          <a:prstGeom prst="rect">
            <a:avLst/>
          </a:prstGeom>
          <a:solidFill>
            <a:srgbClr val="0D0D1A"/>
          </a:solidFill>
          <a:ln w="6350">
            <a:solidFill>
              <a:srgbClr val="2A2D50"/>
            </a:solidFill>
            <a:prstDash val="solid"/>
          </a:ln>
        </p:spPr>
      </p:sp>
      <p:sp>
        <p:nvSpPr>
          <p:cNvPr id="10" name="Shape 8"/>
          <p:cNvSpPr/>
          <p:nvPr/>
        </p:nvSpPr>
        <p:spPr>
          <a:xfrm>
            <a:off x="0" y="2852928"/>
            <a:ext cx="502920" cy="411480"/>
          </a:xfrm>
          <a:prstGeom prst="rect">
            <a:avLst/>
          </a:prstGeom>
          <a:solidFill>
            <a:srgbClr val="1E2040"/>
          </a:solidFill>
          <a:ln w="6350">
            <a:solidFill>
              <a:srgbClr val="2A2D50"/>
            </a:solidFill>
            <a:prstDash val="solid"/>
          </a:ln>
        </p:spPr>
      </p:sp>
      <p:sp>
        <p:nvSpPr>
          <p:cNvPr id="11" name="Shape 9"/>
          <p:cNvSpPr/>
          <p:nvPr/>
        </p:nvSpPr>
        <p:spPr>
          <a:xfrm>
            <a:off x="8641080" y="2852928"/>
            <a:ext cx="502920" cy="411480"/>
          </a:xfrm>
          <a:prstGeom prst="rect">
            <a:avLst/>
          </a:prstGeom>
          <a:solidFill>
            <a:srgbClr val="1E2040"/>
          </a:solidFill>
          <a:ln w="6350">
            <a:solidFill>
              <a:srgbClr val="2A2D50"/>
            </a:solidFill>
            <a:prstDash val="solid"/>
          </a:ln>
        </p:spPr>
      </p:sp>
      <p:sp>
        <p:nvSpPr>
          <p:cNvPr id="12" name="Shape 10"/>
          <p:cNvSpPr/>
          <p:nvPr/>
        </p:nvSpPr>
        <p:spPr>
          <a:xfrm>
            <a:off x="0" y="3474720"/>
            <a:ext cx="502920" cy="411480"/>
          </a:xfrm>
          <a:prstGeom prst="rect">
            <a:avLst/>
          </a:prstGeom>
          <a:solidFill>
            <a:srgbClr val="0D0D1A"/>
          </a:solidFill>
          <a:ln w="6350">
            <a:solidFill>
              <a:srgbClr val="2A2D50"/>
            </a:solidFill>
            <a:prstDash val="solid"/>
          </a:ln>
        </p:spPr>
      </p:sp>
      <p:sp>
        <p:nvSpPr>
          <p:cNvPr id="13" name="Shape 11"/>
          <p:cNvSpPr/>
          <p:nvPr/>
        </p:nvSpPr>
        <p:spPr>
          <a:xfrm>
            <a:off x="8641080" y="3474720"/>
            <a:ext cx="502920" cy="411480"/>
          </a:xfrm>
          <a:prstGeom prst="rect">
            <a:avLst/>
          </a:prstGeom>
          <a:solidFill>
            <a:srgbClr val="0D0D1A"/>
          </a:solidFill>
          <a:ln w="6350">
            <a:solidFill>
              <a:srgbClr val="2A2D50"/>
            </a:solidFill>
            <a:prstDash val="solid"/>
          </a:ln>
        </p:spPr>
      </p:sp>
      <p:sp>
        <p:nvSpPr>
          <p:cNvPr id="14" name="Shape 12"/>
          <p:cNvSpPr/>
          <p:nvPr/>
        </p:nvSpPr>
        <p:spPr>
          <a:xfrm>
            <a:off x="0" y="4096512"/>
            <a:ext cx="502920" cy="411480"/>
          </a:xfrm>
          <a:prstGeom prst="rect">
            <a:avLst/>
          </a:prstGeom>
          <a:solidFill>
            <a:srgbClr val="1E2040"/>
          </a:solidFill>
          <a:ln w="6350">
            <a:solidFill>
              <a:srgbClr val="2A2D50"/>
            </a:solidFill>
            <a:prstDash val="solid"/>
          </a:ln>
        </p:spPr>
      </p:sp>
      <p:sp>
        <p:nvSpPr>
          <p:cNvPr id="15" name="Shape 13"/>
          <p:cNvSpPr/>
          <p:nvPr/>
        </p:nvSpPr>
        <p:spPr>
          <a:xfrm>
            <a:off x="8641080" y="4096512"/>
            <a:ext cx="502920" cy="411480"/>
          </a:xfrm>
          <a:prstGeom prst="rect">
            <a:avLst/>
          </a:prstGeom>
          <a:solidFill>
            <a:srgbClr val="1E2040"/>
          </a:solidFill>
          <a:ln w="6350">
            <a:solidFill>
              <a:srgbClr val="2A2D50"/>
            </a:solidFill>
            <a:prstDash val="solid"/>
          </a:ln>
        </p:spPr>
      </p:sp>
      <p:sp>
        <p:nvSpPr>
          <p:cNvPr id="16" name="Shape 14"/>
          <p:cNvSpPr/>
          <p:nvPr/>
        </p:nvSpPr>
        <p:spPr>
          <a:xfrm>
            <a:off x="0" y="4718304"/>
            <a:ext cx="502920" cy="411480"/>
          </a:xfrm>
          <a:prstGeom prst="rect">
            <a:avLst/>
          </a:prstGeom>
          <a:solidFill>
            <a:srgbClr val="0D0D1A"/>
          </a:solidFill>
          <a:ln w="6350">
            <a:solidFill>
              <a:srgbClr val="2A2D50"/>
            </a:solidFill>
            <a:prstDash val="solid"/>
          </a:ln>
        </p:spPr>
      </p:sp>
      <p:sp>
        <p:nvSpPr>
          <p:cNvPr id="17" name="Shape 15"/>
          <p:cNvSpPr/>
          <p:nvPr/>
        </p:nvSpPr>
        <p:spPr>
          <a:xfrm>
            <a:off x="8641080" y="4718304"/>
            <a:ext cx="502920" cy="411480"/>
          </a:xfrm>
          <a:prstGeom prst="rect">
            <a:avLst/>
          </a:prstGeom>
          <a:solidFill>
            <a:srgbClr val="0D0D1A"/>
          </a:solidFill>
          <a:ln w="6350">
            <a:solidFill>
              <a:srgbClr val="2A2D50"/>
            </a:solidFill>
            <a:prstDash val="solid"/>
          </a:ln>
        </p:spPr>
      </p:sp>
      <p:sp>
        <p:nvSpPr>
          <p:cNvPr id="18" name="Shape 16"/>
          <p:cNvSpPr/>
          <p:nvPr/>
        </p:nvSpPr>
        <p:spPr>
          <a:xfrm>
            <a:off x="1371600" y="1645920"/>
            <a:ext cx="6400800" cy="54864"/>
          </a:xfrm>
          <a:prstGeom prst="rect">
            <a:avLst/>
          </a:prstGeom>
          <a:solidFill>
            <a:srgbClr val="F5C518"/>
          </a:solidFill>
          <a:ln w="12700">
            <a:solidFill>
              <a:srgbClr val="F5C518"/>
            </a:solidFill>
            <a:prstDash val="solid"/>
          </a:ln>
        </p:spPr>
      </p:sp>
      <p:sp>
        <p:nvSpPr>
          <p:cNvPr id="19" name="Text 17"/>
          <p:cNvSpPr/>
          <p:nvPr/>
        </p:nvSpPr>
        <p:spPr>
          <a:xfrm>
            <a:off x="1097280" y="1828800"/>
            <a:ext cx="6949440" cy="822960"/>
          </a:xfrm>
          <a:prstGeom prst="rect">
            <a:avLst/>
          </a:prstGeom>
          <a:noFill/>
          <a:ln/>
        </p:spPr>
        <p:txBody>
          <a:bodyPr wrap="square" rtlCol="0" anchor="ctr"/>
          <a:lstStyle/>
          <a:p>
            <a:pPr marL="0" indent="0" algn="ctr">
              <a:buNone/>
            </a:pPr>
            <a:r>
              <a:rPr lang="en-US" sz="4800" b="1" kern="0" spc="300" dirty="0">
                <a:solidFill>
                  <a:srgbClr val="FFFFFF"/>
                </a:solidFill>
                <a:latin typeface="Calibri" pitchFamily="34" charset="0"/>
                <a:ea typeface="Calibri" pitchFamily="34" charset="-122"/>
                <a:cs typeface="Calibri" pitchFamily="34" charset="-120"/>
              </a:rPr>
              <a:t>Thank You</a:t>
            </a:r>
            <a:endParaRPr lang="en-US" sz="4800" dirty="0"/>
          </a:p>
        </p:txBody>
      </p:sp>
      <p:sp>
        <p:nvSpPr>
          <p:cNvPr id="20" name="Text 18"/>
          <p:cNvSpPr/>
          <p:nvPr/>
        </p:nvSpPr>
        <p:spPr>
          <a:xfrm>
            <a:off x="1097280" y="2743200"/>
            <a:ext cx="6949440" cy="411480"/>
          </a:xfrm>
          <a:prstGeom prst="rect">
            <a:avLst/>
          </a:prstGeom>
          <a:noFill/>
          <a:ln/>
        </p:spPr>
        <p:txBody>
          <a:bodyPr wrap="square" rtlCol="0" anchor="ctr"/>
          <a:lstStyle/>
          <a:p>
            <a:pPr marL="0" indent="0" algn="ctr">
              <a:buNone/>
            </a:pPr>
            <a:r>
              <a:rPr lang="en-US" sz="1800" b="1" kern="0" spc="600" dirty="0">
                <a:solidFill>
                  <a:srgbClr val="00C2CB"/>
                </a:solidFill>
                <a:latin typeface="Calibri" pitchFamily="34" charset="0"/>
                <a:ea typeface="Calibri" pitchFamily="34" charset="-122"/>
                <a:cs typeface="Calibri" pitchFamily="34" charset="-120"/>
              </a:rPr>
              <a:t>DATA AVENGERS</a:t>
            </a:r>
            <a:endParaRPr lang="en-US" sz="1800" dirty="0"/>
          </a:p>
        </p:txBody>
      </p:sp>
      <p:sp>
        <p:nvSpPr>
          <p:cNvPr id="21" name="Shape 19"/>
          <p:cNvSpPr/>
          <p:nvPr/>
        </p:nvSpPr>
        <p:spPr>
          <a:xfrm>
            <a:off x="1371600" y="3246120"/>
            <a:ext cx="6400800" cy="36576"/>
          </a:xfrm>
          <a:prstGeom prst="rect">
            <a:avLst/>
          </a:prstGeom>
          <a:solidFill>
            <a:srgbClr val="F5C518"/>
          </a:solidFill>
          <a:ln w="12700">
            <a:solidFill>
              <a:srgbClr val="F5C518"/>
            </a:solidFill>
            <a:prstDash val="solid"/>
          </a:ln>
        </p:spPr>
      </p:sp>
      <p:sp>
        <p:nvSpPr>
          <p:cNvPr id="22" name="Text 20"/>
          <p:cNvSpPr/>
          <p:nvPr/>
        </p:nvSpPr>
        <p:spPr>
          <a:xfrm>
            <a:off x="1097280" y="3383280"/>
            <a:ext cx="6949440" cy="548640"/>
          </a:xfrm>
          <a:prstGeom prst="rect">
            <a:avLst/>
          </a:prstGeom>
          <a:noFill/>
          <a:ln/>
        </p:spPr>
        <p:txBody>
          <a:bodyPr wrap="square" rtlCol="0" anchor="ctr"/>
          <a:lstStyle/>
          <a:p>
            <a:pPr marL="0" indent="0" algn="ctr">
              <a:buNone/>
            </a:pPr>
            <a:r>
              <a:rPr lang="en-US" sz="1200" i="1" dirty="0">
                <a:solidFill>
                  <a:srgbClr val="8888AA"/>
                </a:solidFill>
                <a:latin typeface="Calibri" pitchFamily="34" charset="0"/>
                <a:ea typeface="Calibri" pitchFamily="34" charset="-122"/>
                <a:cs typeface="Calibri" pitchFamily="34" charset="-120"/>
              </a:rPr>
              <a:t>Budget vs Success: Does a Bigger Budget Lead to Better Ratings and Stronger Box Office Results?</a:t>
            </a:r>
            <a:endParaRPr lang="en-US" sz="1200" dirty="0"/>
          </a:p>
        </p:txBody>
      </p:sp>
      <p:sp>
        <p:nvSpPr>
          <p:cNvPr id="23" name="Text 21"/>
          <p:cNvSpPr/>
          <p:nvPr/>
        </p:nvSpPr>
        <p:spPr>
          <a:xfrm>
            <a:off x="1097280" y="4160520"/>
            <a:ext cx="6949440" cy="320040"/>
          </a:xfrm>
          <a:prstGeom prst="rect">
            <a:avLst/>
          </a:prstGeom>
          <a:noFill/>
          <a:ln/>
        </p:spPr>
        <p:txBody>
          <a:bodyPr wrap="square" rtlCol="0" anchor="ctr"/>
          <a:lstStyle/>
          <a:p>
            <a:pPr marL="0" indent="0" algn="ctr">
              <a:buNone/>
            </a:pPr>
            <a:r>
              <a:rPr lang="en-US" sz="1200" dirty="0">
                <a:solidFill>
                  <a:srgbClr val="00C2CB"/>
                </a:solidFill>
                <a:latin typeface="Calibri" pitchFamily="34" charset="0"/>
                <a:ea typeface="Calibri" pitchFamily="34" charset="-122"/>
                <a:cs typeface="Calibri" pitchFamily="34" charset="-120"/>
              </a:rPr>
              <a:t>github.com/hadikrkc/Data-Avengers-DA-60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1110</Words>
  <Application>Microsoft Office PowerPoint</Application>
  <PresentationFormat>On-screen Show (16:9)</PresentationFormat>
  <Paragraphs>243</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Budget vs Success - Data Avengers</dc:title>
  <dc:subject>PptxGenJS Presentation</dc:subject>
  <dc:creator>PptxGenJS</dc:creator>
  <cp:lastModifiedBy>Yash Tiwari</cp:lastModifiedBy>
  <cp:revision>2</cp:revision>
  <dcterms:created xsi:type="dcterms:W3CDTF">2026-05-30T07:18:11Z</dcterms:created>
  <dcterms:modified xsi:type="dcterms:W3CDTF">2026-05-30T07:20:45Z</dcterms:modified>
</cp:coreProperties>
</file>